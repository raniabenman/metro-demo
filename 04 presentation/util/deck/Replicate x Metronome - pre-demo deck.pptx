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cb682d-d919-392c-1789-0361db2afb87}">
          <p14:sldIdLst>
            <p14:sldId id="256"/>
            <p14:sldId id="257"/>
          </p14:sldIdLst>
        </p14:section>
        <p14:section name="Discovery" id="{923889ba-a84e-0880-f396-3d65376ac8c1}">
          <p14:sldIdLst>
            <p14:sldId id="258"/>
            <p14:sldId id="259"/>
            <p14:sldId id="260"/>
          </p14:sldIdLst>
        </p14:section>
        <p14:section name="Solution" id="{539c8a83-a474-bcb2-981b-314e4b41e7b8}">
          <p14:sldIdLst>
            <p14:sldId id="261"/>
            <p14:sldId id="262"/>
            <p14:sldId id="263"/>
          </p14:sldIdLst>
        </p14:section>
        <p14:section name="Demo" id="{2559c7e1-d5ea-808f-eb25-c7e8553aa9fe}">
          <p14:sldIdLst>
            <p14:sldId id="264"/>
          </p14:sldIdLst>
        </p14:section>
        <p14:section name="Next steps" id="{98051c07-ca17-c049-75e5-f1bcfeb47be0}">
          <p14:sldIdLst>
            <p14:sldId id="265"/>
          </p14:sldIdLst>
        </p14:section>
        <p14:section name="Appendix" id="{ad102b66-ea0d-db07-28d2-ddd7ed55155d}">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Open with the one-line thesis and set the frame: Replicate sells real-time inference, so its billing has to keep up in real time too.
EMPHASIZE: "Real time". Their product answers in milliseconds, but credit is checked once a day, a new GPU takes two teams and weeks, and commit balances need an engineer. The card on the right previews the four answers you will show.
TONE: Warm, confident, unhurried. A partner who has done the homework, not a vendor reading a script.
TIMING: 30 seconds.
TALK TRACK: Thank you for the time. Metronome is now a Stripe product, and Stripe is already in your stack. In the next ten minutes I will play back what we heard, show where Metronome sits in your stack, and then spend 30 minutes in the product with your own price list loaded. Interrupt me anytime.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Set the stage and the clock (meeting flow and time management are judged), and agree on what "good" looks like before showing anything.
EMPHASIZE: Thirty of the forty minutes are in the product. The four questions on the right are the scorecard for today, and they map one-to-one to the blockers they shared.
TONE: Crisp and organized, but inviting. Pause after the agenda and ask the room.
TIMING: 45 seconds.
ASK THEM: "Anything you need to see today that is not on this list?" and "Who owns pricing changes on your side today, product, finance or engineering?" (discovery: decision process and stakeholders).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we understand Replicate’s business before talking about our product: two growth engines (self-serve at massive scale, and enterprise commits) that both depend on billing.
EMPHASIZE: The roadmap tile: today’s price list has 7 machine types, and you are adding H100, H200, L40S and multi-GPU. Every one of those goes through billing. The competitor tile: Together AI and Fireworks went prepaid-only, so Replicate’s card-free trial is a differentiator worth protecting, not a liability to shut down.
TONE: Curious and respectful. It is their business, so invite correction rather than lecture.
TIMING: 1 minute 15 seconds.
ASK THEM: "Is this how you think about it?", "Roughly what share of revenue is enterprise vs self-serve?", "How many new machine types do you plan this year?", "What does the Cloudflare integration change for billing, if anything?"
IF ASKED: Numbers come from public sources only: Replicate’s Series B statement (2M developers, 30k paying, Dec 2023), Cloudflare’s acquisition post (50,000+ models), replicate.com/pricing (enterprise terms), Together AI docs and the Fireworks blog. They are directional and we would replace them with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Say in one line why we are in the room: Replicate turned model deployment into a single API call, but the layer that turns each run into revenue (SKUs, trials, commits, invoices) is still homegrown. It opens the "what we heard" part of the agenda and frames what follows: Replicate’s growth engines, then the four blockers.
EMPHASIZE: The headline. Every model run is a billing event: it has to be rated at the right price, drawn from the right credit or commit, and invoiced. At 30,000 paying customers and 50,000+ models, a homegrown layer becomes the bottleneck. Land the last line, "That gap is what we are here to close today", then pause.
TONE: Confident and concise, a little provocative but respectful. Slow down on the headline; let the numbers speak.
TIMING: 30 to 45 seconds.
TALK TRACK: You made deploying a model one API call. Underneath, every run is a billing event: rated, credited, invoiced. And that part is still built in-house. That gap is what we are here to close today.
IF ASKED: Sources: Cloudflare blog "Replicate joins Cloudflare" (Nov 2025) for 50,000+ open-source and fine-tuned models; Replicate’s Series B statement via Orrick (Dec 2023) for 30,000 paying customers, 2 million developers signed up and the $40M Series B led by a16z with NVentures (NVIDIA’s venture arm), Heavybit, Sequoia and Y Combinator. These are the latest public figures; invite them to share current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Play back their pains in their own words to earn the right to present, and attach a business cost to each one. This covers "what pain points the product will solve for us".
EMPHASIZE: The cost lines, especially the trial: with a once-a-day check, one trial user on an 8x A40 (Large) can burn up to about $500 of GPU time before anyone notices ($20.88/hour × 24; illustrative worst case). Also stress that Stripe, NetSuite and Salesforce stay.
TONE: Empathetic and precise. Slow down and let them correct or add.
TIMING: 1 minute 30 seconds.
ASK THEM: "Which of these hurts most this quarter?", "How long did the last machine type take end to end?", "How often do trial accounts run past their credit, and is that cost or abuse?", "How many customers are on commits today?"
IF ASKED: The $500 is arithmetic on your public price ($20.88/hour for 8x A40 Large, times 24 hours), not data we have about your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simple mental model (event, metric, price, contract, invoice) so the demo is easy to follow. This is the "explain complex things simply" moment.
EMPHASIZE: The separation. Your engineers send what they already log once (hardware + seconds); everything commercial becomes configuration that product or finance owns. Metronome’s docs put it as "your business team configures how to bill for it, all without additional code changes". Then the credibility strip: part of Stripe, trusted by OpenAI, Anthropic and NVIDIA, built for event volumes far above yours.
TONE: Teacherly and simple. Draw the line with your hand from left to right.
TIMING: 1 minute 15 seconds.
IF ASKED: Prices on the rate card are your public list, stored per hour ($/hour = $/second × 3,600, exactly), while usage is metered per second. That is the docs’ GPU-hour pattern. Sources: "How Metronome works", "Usage events at scale" (110,000 events/second, 5,000/second default, raised on request), Stripe newsroom (acquisition completed 14 Jan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Answer "where does it fit in my stack?" (the marketecture the brief asks for) and show there is no rip-and-replace.
EMPHASIZE: Three flows. IN: your platform sends usage events (seconds, hardware, model), and sign-up creates a customer and a contract from a package alias, asynchronously, so sign-up stays card-free and Metronome is never in the critical path. BACK: webhooks tell your entitlement service when a trial runs out or a commit runs low, and dashboards embed in your account pages. OUT: Stripe keeps collecting self-serve payments, NetSuite gets enterprise invoices (or revenue data), Salesforce gets contracts, commits and balances daily.
TONE: Technical but plain-spoken. Reassuring for the engineers in the room.
TIMING: 1 minute 30 seconds.
ASK THEM: "Where do usage records live today, in a queue or a warehouse?" and "Is NetSuite your system for enterprise invoicing, or only for revenue recognition?"
IF ASKED: Webhooks are signed, delivered at least once, and retried for up to 48 hours. Thresholds fire within about 5 minutes of the usage being ingested. The Salesforce sync is daily, and live numbers come from the API or dashboards. NetSuite is in Public Beta, with throughput up to 25,000 arrears invoices a month. Stripe invoices are created automatically when a Metronome invoice finalizes, and the billing provider can be set per contract (Stripe for paygo, NetSuite for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Bridge from problems to the demo: each blocker becomes a configuration they are about to see working, not a promise.
EMPHASIZE: The "In the demo" column is a commitment. The trial row carries the number: from up to a day of exposure (~$500 on an 8x A40) to ~5 minutes (~$2), because thresholds are evaluated at least every three minutes and fire within five minutes of ingest (Metronome docs). The commit row: we will show both prepaid and postpaid, because we do not know yet which one you use.
TONE: Energetic and confident. This is the turn from listening to showing.
TIMING: 1 minute.
TALK TRACK: Enough slides. Let me show you your own price list running in Metronome.
IF ASKED: Every capability here is documented: "Create and manage rate cards" (dimensional pricing, scheduled rate changes), "Free trials" and "Threshold notifications", "Create products" (subscription and composite), "Launch an enterprise commit model" and "Build API-powered customer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Anchor the demo flow and the timing so the audience knows where we are going, and so you can come back to this slide if questions run long.
EMPHASIZE: Each act answers one blocker. Four customers, one rate card, which is the "one rate card for every commercial model" story.
TONE: Energetic. Then switch to the Metronome tab.
TIMING: 15 seconds, then the demo (see the demo runbook in "Z Misc").
ASK THEM: Before act 4: "Do your enterprise customers prepay their commitment, or pay monthly against a minimum?" Show Northwind for prepaid and Kepler for postpaid.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with a concrete, mutual plan and secure the next meeting: drive toward the decision that Metronome is right for Replicate.
EMPHASIZE: The success criteria in Week 4 are their own blockers, made measurable: a GPU priced in under a day, trial overage caught in minutes, one commit dashboard live. Then ask for the Week 1 deep-dive date and attendees.
TONE: Decisive and collaborative. Summarize, then ask for the next step. Do not over-talk.
TIMING: 2 minutes, after the demo.
ASK THEM: "Does this plan work for you? Who should join the technical deep-dive from platform, finance and RevOps? Can we put Week 1 on the calendar now?"
IF ASKED: If they want cash up front or worry about fraud on high-cost models: see the appendix on prepaid credits with auto-recharge (the industry standard at Together AI, Fireworks and OpenAI).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 suggestion, only if fraud, collections or cash flow come up. Prepaid credits with auto-recharge is now the norm among Replicate’s direct competitors.
EMPHASIZE: You do not have to choose between a card-free trial and getting paid up front. The trial stays your differentiator, and conversion can land on prepaid credits that refill automatically through Stripe.
TONE: Advisory, not pushy: "here is what the market does and how you would do it here".
IF ASKED: Metronome docs: auto-recharge needs a threshold of at least $5 and a recharge-to amount at least $10 above it. Payment-gated commits are released only after the Stripe payment succeeds; failed payments disable the threshold config until you re-enable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Backup for objection handling. Use it only if a question comes up and you want the exact wording; never present it top to bottom.
EMPHASIZE: Acknowledge the limit first (daily Salesforce sync, NetSuite in beta, hard stop in your app), then the answer. Owning limits builds trust.
TONE: Calm, factual, non-defensive.
IF ASKED: Sources, all from docs.metronome.com: "Manage your customer lifecycle with Metronome notifications" (evaluation timing), "Sync into Salesforce" (daily), "Integrate with NetSuite" (Public Beta, 25,000 invoices/month), "Usage events at scale" (throughput), "Invoice with Stripe" (multi-entity), "Set currencies and custom pricing units", "Import existing invoices", "Track the remaining balance of a credit or commit" (manual ledger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Reference only: where each claim comes from, so any statement can be backed on the spot or in the follow-up email.
EMPHASIZE: Every technical choice in the demo comes from the official Metronome documentation.
TONE: Not presented. Use it if someone asks "where is that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BF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75488"/>
            <a:ext cx="8229600" cy="548640"/>
          </a:xfrm>
          <a:prstGeom prst="rect">
            <a:avLst/>
          </a:prstGeom>
          <a:noFill/>
          <a:ln/>
        </p:spPr>
        <p:txBody>
          <a:bodyPr wrap="square" rtlCol="0"/>
          <a:lstStyle>
            <a:lvl1pPr algn="l" indent="0" marL="0">
              <a:buNone/>
              <a:defRPr lang="en-US" sz="2400" dirty="0">
                <a:solidFill>
                  <a:srgbClr val="0D171A"/>
                </a:solidFill>
                <a:latin typeface="Inter" pitchFamily="34" charset="0"/>
                <a:ea typeface="Inter" pitchFamily="34" charset="-122"/>
                <a:cs typeface="Inter" pitchFamily="34" charset="-120"/>
              </a:defRPr>
            </a:lvl1pPr>
          </a:lstStyle>
          <a:p>
            <a:pPr algn="l" indent="0" marL="0">
              <a:buNone/>
            </a:pPr>
            <a:endParaRPr lang="en-US" sz="2400" dirty="0"/>
          </a:p>
        </p:txBody>
      </p:sp>
      <p:pic>
        <p:nvPicPr>
          <p:cNvPr id="3" name="Image 0" descr="preencoded.png">    </p:cNvPr>
          <p:cNvPicPr>
            <a:picLocks noChangeAspect="1"/>
          </p:cNvPicPr>
          <p:nvPr/>
        </p:nvPicPr>
        <p:blipFill>
          <a:blip r:embed="rId1"/>
          <a:stretch>
            <a:fillRect/>
          </a:stretch>
        </p:blipFill>
        <p:spPr>
          <a:xfrm>
            <a:off x="457200" y="4837176"/>
            <a:ext cx="1188720" cy="98481"/>
          </a:xfrm>
          <a:prstGeom prst="rect">
            <a:avLst/>
          </a:prstGeom>
        </p:spPr>
      </p:pic>
      <p:sp>
        <p:nvSpPr>
          <p:cNvPr id="4" name="Text 0"/>
          <p:cNvSpPr/>
          <p:nvPr/>
        </p:nvSpPr>
        <p:spPr>
          <a:xfrm>
            <a:off x="2743200" y="4791456"/>
            <a:ext cx="3657600" cy="182880"/>
          </a:xfrm>
          <a:prstGeom prst="rect">
            <a:avLst/>
          </a:prstGeom>
          <a:noFill/>
          <a:ln/>
        </p:spPr>
        <p:txBody>
          <a:bodyPr wrap="square" lIns="0" tIns="0" rIns="0" bIns="0" rtlCol="0" anchor="ctr"/>
          <a:lstStyle/>
          <a:p>
            <a:pPr algn="ctr" indent="0" marL="0">
              <a:buNone/>
            </a:pPr>
            <a:r>
              <a:rPr lang="en-US" sz="750" dirty="0">
                <a:solidFill>
                  <a:srgbClr val="6B726D"/>
                </a:solidFill>
                <a:latin typeface="Inter" pitchFamily="34" charset="0"/>
                <a:ea typeface="Inter" pitchFamily="34" charset="-122"/>
                <a:cs typeface="Inter" pitchFamily="34" charset="-120"/>
              </a:rPr>
              <a:t>Replicate × Metronome  ·  October 2026</a:t>
            </a:r>
            <a:endParaRPr lang="en-US" sz="7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2F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1645920"/>
            <a:ext cx="4480560" cy="1645920"/>
          </a:xfrm>
          <a:prstGeom prst="rect">
            <a:avLst/>
          </a:prstGeom>
          <a:noFill/>
          <a:ln/>
        </p:spPr>
        <p:txBody>
          <a:bodyPr wrap="square" rtlCol="0"/>
          <a:lstStyle>
            <a:lvl1pPr algn="l" indent="0" marL="0">
              <a:buNone/>
              <a:defRPr lang="en-US" sz="3200" dirty="0">
                <a:solidFill>
                  <a:srgbClr val="FFFFFF"/>
                </a:solidFill>
                <a:latin typeface="Inter" pitchFamily="34" charset="0"/>
                <a:ea typeface="Inter" pitchFamily="34" charset="-122"/>
                <a:cs typeface="Inter" pitchFamily="34" charset="-120"/>
              </a:defRPr>
            </a:lvl1pPr>
          </a:lstStyle>
          <a:p>
            <a:pPr algn="l"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AFBF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480560" y="914400"/>
            <a:ext cx="4206240" cy="1783080"/>
          </a:xfrm>
          <a:prstGeom prst="rect">
            <a:avLst/>
          </a:prstGeom>
          <a:noFill/>
          <a:ln/>
        </p:spPr>
        <p:txBody>
          <a:bodyPr wrap="square" rtlCol="0"/>
          <a:lstStyle>
            <a:lvl1pPr algn="l" indent="0" marL="0">
              <a:buNone/>
              <a:defRPr lang="en-US" sz="2800" dirty="0">
                <a:solidFill>
                  <a:srgbClr val="0D171A"/>
                </a:solidFill>
                <a:latin typeface="Inter" pitchFamily="34" charset="0"/>
                <a:ea typeface="Inter" pitchFamily="34" charset="-122"/>
                <a:cs typeface="Inter" pitchFamily="34" charset="-120"/>
              </a:defRPr>
            </a:lvl1pPr>
          </a:lstStyle>
          <a:p>
            <a:pPr algn="l" indent="0" marL="0">
              <a:buNone/>
            </a:pPr>
            <a:endParaRPr lang="en-US" sz="2800" dirty="0"/>
          </a:p>
        </p:txBody>
      </p:sp>
      <p:pic>
        <p:nvPicPr>
          <p:cNvPr id="3" name="Image 0" descr="preencoded.png">    </p:cNvPr>
          <p:cNvPicPr>
            <a:picLocks noChangeAspect="1"/>
          </p:cNvPicPr>
          <p:nvPr/>
        </p:nvPicPr>
        <p:blipFill>
          <a:blip r:embed="rId1"/>
          <a:stretch>
            <a:fillRect/>
          </a:stretch>
        </p:blipFill>
        <p:spPr>
          <a:xfrm>
            <a:off x="457200" y="4837176"/>
            <a:ext cx="1188720" cy="98481"/>
          </a:xfrm>
          <a:prstGeom prst="rect">
            <a:avLst/>
          </a:prstGeom>
        </p:spPr>
      </p:pic>
      <p:sp>
        <p:nvSpPr>
          <p:cNvPr id="4" name="Text 0"/>
          <p:cNvSpPr/>
          <p:nvPr/>
        </p:nvSpPr>
        <p:spPr>
          <a:xfrm>
            <a:off x="2743200" y="4791456"/>
            <a:ext cx="3657600" cy="182880"/>
          </a:xfrm>
          <a:prstGeom prst="rect">
            <a:avLst/>
          </a:prstGeom>
          <a:noFill/>
          <a:ln/>
        </p:spPr>
        <p:txBody>
          <a:bodyPr wrap="square" lIns="0" tIns="0" rIns="0" bIns="0" rtlCol="0" anchor="ctr"/>
          <a:lstStyle/>
          <a:p>
            <a:pPr algn="ctr" indent="0" marL="0">
              <a:buNone/>
            </a:pPr>
            <a:r>
              <a:rPr lang="en-US" sz="750" dirty="0">
                <a:solidFill>
                  <a:srgbClr val="6B726D"/>
                </a:solidFill>
                <a:latin typeface="Inter" pitchFamily="34" charset="0"/>
                <a:ea typeface="Inter" pitchFamily="34" charset="-122"/>
                <a:cs typeface="Inter" pitchFamily="34" charset="-120"/>
              </a:rPr>
              <a:t>Replicate × Metronome  ·  October 2026</a:t>
            </a:r>
            <a:endParaRPr lang="en-US" sz="7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2651760" cy="219456"/>
          </a:xfrm>
          <a:prstGeom prst="rect">
            <a:avLst/>
          </a:prstGeom>
        </p:spPr>
      </p:pic>
      <p:sp>
        <p:nvSpPr>
          <p:cNvPr id="3" name="Text 0"/>
          <p:cNvSpPr txBox="1"/>
          <p:nvPr/>
        </p:nvSpPr>
        <p:spPr>
          <a:xfrm>
            <a:off x="502920" y="1298448"/>
            <a:ext cx="4480560" cy="228600"/>
          </a:xfrm>
          <a:prstGeom prst="rect">
            <a:avLst/>
          </a:prstGeom>
          <a:noFill/>
          <a:ln/>
        </p:spPr>
        <p:txBody>
          <a:bodyPr wrap="square" lIns="0" tIns="0" rIns="0" bIns="0" rtlCol="0" anchor="t"/>
          <a:lstStyle/>
          <a:p>
            <a:pPr indent="0" marL="0">
              <a:buNone/>
            </a:pPr>
            <a:r>
              <a:rPr lang="en-US" sz="1000" b="1" spc="200" kern="0" dirty="0">
                <a:solidFill>
                  <a:srgbClr val="C3EE8F"/>
                </a:solidFill>
                <a:latin typeface="Inter" pitchFamily="34" charset="0"/>
                <a:ea typeface="Inter" pitchFamily="34" charset="-122"/>
                <a:cs typeface="Inter" pitchFamily="34" charset="-120"/>
              </a:rPr>
              <a:t>REPLICATE × METRONOME</a:t>
            </a:r>
            <a:endParaRPr lang="en-US" sz="1000" dirty="0"/>
          </a:p>
        </p:txBody>
      </p:sp>
      <p:sp>
        <p:nvSpPr>
          <p:cNvPr id="4" name="Text 0"/>
          <p:cNvSpPr/>
          <p:nvPr>
            <p:ph idx="100" type="title" hasCustomPrompt="1"/>
          </p:nvPr>
        </p:nvSpPr>
        <p:spPr>
          <a:xfrm>
            <a:off x="502920" y="1645920"/>
            <a:ext cx="4480560" cy="1645920"/>
          </a:xfrm>
          <a:prstGeom prst="rect">
            <a:avLst/>
          </a:prstGeom>
          <a:noFill/>
          <a:ln/>
        </p:spPr>
        <p:txBody>
          <a:bodyPr wrap="square" lIns="0" tIns="0" rIns="0" bIns="0" rtlCol="0" anchor="t"/>
          <a:lstStyle/>
          <a:p>
            <a:pPr algn="l" indent="0" marL="0">
              <a:buNone/>
            </a:pPr>
            <a:r>
              <a:rPr lang="en-US" sz="3200" dirty="0">
                <a:solidFill>
                  <a:srgbClr val="FFFFFF"/>
                </a:solidFill>
                <a:latin typeface="Inter" pitchFamily="34" charset="0"/>
                <a:ea typeface="Inter" pitchFamily="34" charset="-122"/>
                <a:cs typeface="Inter" pitchFamily="34" charset="-120"/>
              </a:rPr>
              <a:t>Your models run in real time. Your billing should too.</a:t>
            </a:r>
            <a:endParaRPr lang="en-US" sz="3200" dirty="0"/>
          </a:p>
        </p:txBody>
      </p:sp>
      <p:sp>
        <p:nvSpPr>
          <p:cNvPr id="5" name="Text 2"/>
          <p:cNvSpPr txBox="1"/>
          <p:nvPr/>
        </p:nvSpPr>
        <p:spPr>
          <a:xfrm>
            <a:off x="502920" y="3310128"/>
            <a:ext cx="4206240" cy="548640"/>
          </a:xfrm>
          <a:prstGeom prst="rect">
            <a:avLst/>
          </a:prstGeom>
          <a:noFill/>
          <a:ln/>
        </p:spPr>
        <p:txBody>
          <a:bodyPr wrap="square" lIns="0" tIns="0" rIns="0" bIns="0" rtlCol="0" anchor="t"/>
          <a:lstStyle/>
          <a:p>
            <a:pPr indent="0" marL="0">
              <a:buNone/>
            </a:pPr>
            <a:r>
              <a:rPr lang="en-US" sz="1300" dirty="0">
                <a:solidFill>
                  <a:srgbClr val="A9BDB6"/>
                </a:solidFill>
                <a:latin typeface="Inter" pitchFamily="34" charset="0"/>
                <a:ea typeface="Inter" pitchFamily="34" charset="-122"/>
                <a:cs typeface="Inter" pitchFamily="34" charset="-120"/>
              </a:rPr>
              <a:t>Discovery recap, architecture, and a live demo of Replicate’s pricing in Metronome</a:t>
            </a:r>
            <a:endParaRPr lang="en-US" sz="1300" dirty="0"/>
          </a:p>
        </p:txBody>
      </p:sp>
      <p:sp>
        <p:nvSpPr>
          <p:cNvPr id="6" name="Text 3"/>
          <p:cNvSpPr txBox="1"/>
          <p:nvPr/>
        </p:nvSpPr>
        <p:spPr>
          <a:xfrm>
            <a:off x="502920" y="4389120"/>
            <a:ext cx="4480560" cy="228600"/>
          </a:xfrm>
          <a:prstGeom prst="rect">
            <a:avLst/>
          </a:prstGeom>
          <a:noFill/>
          <a:ln/>
        </p:spPr>
        <p:txBody>
          <a:bodyPr wrap="square" lIns="0" tIns="0" rIns="0" bIns="0" rtlCol="0" anchor="t"/>
          <a:lstStyle/>
          <a:p>
            <a:pPr indent="0" marL="0">
              <a:buNone/>
            </a:pPr>
            <a:r>
              <a:rPr lang="en-US" sz="1000" dirty="0">
                <a:solidFill>
                  <a:srgbClr val="EEF3EF"/>
                </a:solidFill>
                <a:latin typeface="Inter" pitchFamily="34" charset="0"/>
                <a:ea typeface="Inter" pitchFamily="34" charset="-122"/>
                <a:cs typeface="Inter" pitchFamily="34" charset="-120"/>
              </a:rPr>
              <a:t>Rania Benman  ·  Strategist, Metronome  ·  October 2026</a:t>
            </a:r>
            <a:endParaRPr lang="en-US" sz="1000" dirty="0"/>
          </a:p>
        </p:txBody>
      </p:sp>
      <p:pic>
        <p:nvPicPr>
          <p:cNvPr id="7" name="Image 1" descr="preencoded.png">    </p:cNvPr>
          <p:cNvPicPr>
            <a:picLocks noChangeAspect="1"/>
          </p:cNvPicPr>
          <p:nvPr/>
        </p:nvPicPr>
        <p:blipFill>
          <a:blip r:embed="rId2"/>
          <a:stretch>
            <a:fillRect/>
          </a:stretch>
        </p:blipFill>
        <p:spPr>
          <a:xfrm>
            <a:off x="5349240" y="411480"/>
            <a:ext cx="3383280" cy="4288536"/>
          </a:xfrm>
          <a:prstGeom prst="rect">
            <a:avLst/>
          </a:prstGeom>
        </p:spPr>
      </p:pic>
      <p:sp>
        <p:nvSpPr>
          <p:cNvPr id="8" name="Shape 4"/>
          <p:cNvSpPr/>
          <p:nvPr/>
        </p:nvSpPr>
        <p:spPr>
          <a:xfrm>
            <a:off x="5623560" y="1097280"/>
            <a:ext cx="2834640" cy="2926080"/>
          </a:xfrm>
          <a:prstGeom prst="roundRect">
            <a:avLst>
              <a:gd name="adj" fmla="val 3226"/>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pic>
        <p:nvPicPr>
          <p:cNvPr id="9" name="Image 2" descr="preencoded.png">    </p:cNvPr>
          <p:cNvPicPr>
            <a:picLocks noChangeAspect="1"/>
          </p:cNvPicPr>
          <p:nvPr/>
        </p:nvPicPr>
        <p:blipFill>
          <a:blip r:embed="rId3"/>
          <a:stretch>
            <a:fillRect/>
          </a:stretch>
        </p:blipFill>
        <p:spPr>
          <a:xfrm>
            <a:off x="5833872" y="1307592"/>
            <a:ext cx="201168" cy="201168"/>
          </a:xfrm>
          <a:prstGeom prst="rect">
            <a:avLst/>
          </a:prstGeom>
        </p:spPr>
      </p:pic>
      <p:sp>
        <p:nvSpPr>
          <p:cNvPr id="10" name="Text 5"/>
          <p:cNvSpPr txBox="1"/>
          <p:nvPr/>
        </p:nvSpPr>
        <p:spPr>
          <a:xfrm>
            <a:off x="6126480" y="1298448"/>
            <a:ext cx="1737360" cy="228600"/>
          </a:xfrm>
          <a:prstGeom prst="rect">
            <a:avLst/>
          </a:prstGeom>
          <a:noFill/>
          <a:ln/>
        </p:spPr>
        <p:txBody>
          <a:bodyPr wrap="square" lIns="0" tIns="0" rIns="0" bIns="0" rtlCol="0" anchor="t"/>
          <a:lstStyle/>
          <a:p>
            <a:pPr indent="0" marL="0">
              <a:buNone/>
            </a:pPr>
            <a:r>
              <a:rPr lang="en-US" sz="1050" b="1" dirty="0">
                <a:solidFill>
                  <a:srgbClr val="0D171A"/>
                </a:solidFill>
                <a:latin typeface="Inter" pitchFamily="34" charset="0"/>
                <a:ea typeface="Inter" pitchFamily="34" charset="-122"/>
                <a:cs typeface="Inter" pitchFamily="34" charset="-120"/>
              </a:rPr>
              <a:t>Replicate · live billing</a:t>
            </a:r>
            <a:endParaRPr lang="en-US" sz="1050" dirty="0"/>
          </a:p>
        </p:txBody>
      </p:sp>
      <p:sp>
        <p:nvSpPr>
          <p:cNvPr id="11" name="Shape 6"/>
          <p:cNvSpPr/>
          <p:nvPr/>
        </p:nvSpPr>
        <p:spPr>
          <a:xfrm>
            <a:off x="7799832" y="1325880"/>
            <a:ext cx="457200" cy="182880"/>
          </a:xfrm>
          <a:prstGeom prst="roundRect">
            <a:avLst>
              <a:gd name="adj" fmla="val 50000"/>
            </a:avLst>
          </a:prstGeom>
          <a:solidFill>
            <a:srgbClr val="C3EE8F"/>
          </a:solidFill>
          <a:ln w="12700">
            <a:solidFill>
              <a:srgbClr val="C3EE8F"/>
            </a:solidFill>
            <a:prstDash val="solid"/>
          </a:ln>
        </p:spPr>
      </p:sp>
      <p:sp>
        <p:nvSpPr>
          <p:cNvPr id="12" name="Text 7"/>
          <p:cNvSpPr txBox="1"/>
          <p:nvPr/>
        </p:nvSpPr>
        <p:spPr>
          <a:xfrm>
            <a:off x="7799832" y="1325880"/>
            <a:ext cx="457200" cy="182880"/>
          </a:xfrm>
          <a:prstGeom prst="rect">
            <a:avLst/>
          </a:prstGeom>
          <a:noFill/>
          <a:ln/>
        </p:spPr>
        <p:txBody>
          <a:bodyPr wrap="square" lIns="0" tIns="0" rIns="0" bIns="0" rtlCol="0" anchor="ctr"/>
          <a:lstStyle/>
          <a:p>
            <a:pPr algn="ctr" indent="0" marL="0">
              <a:buNone/>
            </a:pPr>
            <a:r>
              <a:rPr lang="en-US" sz="700" b="1" spc="100" kern="0" dirty="0">
                <a:solidFill>
                  <a:srgbClr val="0D171A"/>
                </a:solidFill>
                <a:latin typeface="Inter" pitchFamily="34" charset="0"/>
                <a:ea typeface="Inter" pitchFamily="34" charset="-122"/>
                <a:cs typeface="Inter" pitchFamily="34" charset="-120"/>
              </a:rPr>
              <a:t>LIVE</a:t>
            </a:r>
            <a:endParaRPr lang="en-US" sz="700" dirty="0"/>
          </a:p>
        </p:txBody>
      </p:sp>
      <p:sp>
        <p:nvSpPr>
          <p:cNvPr id="13" name="Shape 8"/>
          <p:cNvSpPr/>
          <p:nvPr/>
        </p:nvSpPr>
        <p:spPr>
          <a:xfrm>
            <a:off x="5852160" y="1783080"/>
            <a:ext cx="82296" cy="82296"/>
          </a:xfrm>
          <a:prstGeom prst="ellipse">
            <a:avLst/>
          </a:prstGeom>
          <a:solidFill>
            <a:srgbClr val="2EAC67"/>
          </a:solidFill>
          <a:ln w="12700">
            <a:solidFill>
              <a:srgbClr val="2EAC67"/>
            </a:solidFill>
            <a:prstDash val="solid"/>
          </a:ln>
        </p:spPr>
      </p:sp>
      <p:sp>
        <p:nvSpPr>
          <p:cNvPr id="14" name="Text 9"/>
          <p:cNvSpPr txBox="1"/>
          <p:nvPr/>
        </p:nvSpPr>
        <p:spPr>
          <a:xfrm>
            <a:off x="6035040" y="1719072"/>
            <a:ext cx="2286000" cy="201168"/>
          </a:xfrm>
          <a:prstGeom prst="rect">
            <a:avLst/>
          </a:prstGeom>
          <a:noFill/>
          <a:ln/>
        </p:spPr>
        <p:txBody>
          <a:bodyPr wrap="square" lIns="0" tIns="0" rIns="0" bIns="0" rtlCol="0" anchor="t"/>
          <a:lstStyle/>
          <a:p>
            <a:pPr indent="0" marL="0">
              <a:buNone/>
            </a:pPr>
            <a:r>
              <a:rPr lang="en-US" sz="850" dirty="0">
                <a:solidFill>
                  <a:srgbClr val="6B726D"/>
                </a:solidFill>
                <a:latin typeface="Inter" pitchFamily="34" charset="0"/>
                <a:ea typeface="Inter" pitchFamily="34" charset="-122"/>
                <a:cs typeface="Inter" pitchFamily="34" charset="-120"/>
              </a:rPr>
              <a:t>Compute · Nvidia A100 (80GB)</a:t>
            </a:r>
            <a:endParaRPr lang="en-US" sz="850" dirty="0"/>
          </a:p>
        </p:txBody>
      </p:sp>
      <p:sp>
        <p:nvSpPr>
          <p:cNvPr id="15" name="Text 10"/>
          <p:cNvSpPr txBox="1"/>
          <p:nvPr/>
        </p:nvSpPr>
        <p:spPr>
          <a:xfrm>
            <a:off x="6035040" y="1920240"/>
            <a:ext cx="2331720" cy="237744"/>
          </a:xfrm>
          <a:prstGeom prst="rect">
            <a:avLst/>
          </a:prstGeom>
          <a:noFill/>
          <a:ln/>
        </p:spPr>
        <p:txBody>
          <a:bodyPr wrap="square" lIns="0" tIns="0" rIns="0" bIns="0" rtlCol="0" anchor="t"/>
          <a:lstStyle/>
          <a:p>
            <a:pPr indent="0" marL="0">
              <a:buNone/>
            </a:pPr>
            <a:r>
              <a:rPr lang="en-US" sz="1050" b="1" dirty="0">
                <a:solidFill>
                  <a:srgbClr val="0D171A"/>
                </a:solidFill>
                <a:latin typeface="Inter" pitchFamily="34" charset="0"/>
                <a:ea typeface="Inter" pitchFamily="34" charset="-122"/>
                <a:cs typeface="Inter" pitchFamily="34" charset="-120"/>
              </a:rPr>
              <a:t>$5.04 / hour, metered per second</a:t>
            </a:r>
            <a:endParaRPr lang="en-US" sz="1050" dirty="0"/>
          </a:p>
        </p:txBody>
      </p:sp>
      <p:sp>
        <p:nvSpPr>
          <p:cNvPr id="16" name="Shape 11"/>
          <p:cNvSpPr/>
          <p:nvPr/>
        </p:nvSpPr>
        <p:spPr>
          <a:xfrm>
            <a:off x="5852160" y="2331720"/>
            <a:ext cx="82296" cy="82296"/>
          </a:xfrm>
          <a:prstGeom prst="ellipse">
            <a:avLst/>
          </a:prstGeom>
          <a:solidFill>
            <a:srgbClr val="2EAC67"/>
          </a:solidFill>
          <a:ln w="12700">
            <a:solidFill>
              <a:srgbClr val="2EAC67"/>
            </a:solidFill>
            <a:prstDash val="solid"/>
          </a:ln>
        </p:spPr>
      </p:sp>
      <p:sp>
        <p:nvSpPr>
          <p:cNvPr id="17" name="Text 12"/>
          <p:cNvSpPr txBox="1"/>
          <p:nvPr/>
        </p:nvSpPr>
        <p:spPr>
          <a:xfrm>
            <a:off x="6035040" y="2267712"/>
            <a:ext cx="2286000" cy="201168"/>
          </a:xfrm>
          <a:prstGeom prst="rect">
            <a:avLst/>
          </a:prstGeom>
          <a:noFill/>
          <a:ln/>
        </p:spPr>
        <p:txBody>
          <a:bodyPr wrap="square" lIns="0" tIns="0" rIns="0" bIns="0" rtlCol="0" anchor="t"/>
          <a:lstStyle/>
          <a:p>
            <a:pPr indent="0" marL="0">
              <a:buNone/>
            </a:pPr>
            <a:r>
              <a:rPr lang="en-US" sz="850" dirty="0">
                <a:solidFill>
                  <a:srgbClr val="6B726D"/>
                </a:solidFill>
                <a:latin typeface="Inter" pitchFamily="34" charset="0"/>
                <a:ea typeface="Inter" pitchFamily="34" charset="-122"/>
                <a:cs typeface="Inter" pitchFamily="34" charset="-120"/>
              </a:rPr>
              <a:t>New GPU · Nvidia L40S</a:t>
            </a:r>
            <a:endParaRPr lang="en-US" sz="850" dirty="0"/>
          </a:p>
        </p:txBody>
      </p:sp>
      <p:sp>
        <p:nvSpPr>
          <p:cNvPr id="18" name="Text 13"/>
          <p:cNvSpPr txBox="1"/>
          <p:nvPr/>
        </p:nvSpPr>
        <p:spPr>
          <a:xfrm>
            <a:off x="6035040" y="2468880"/>
            <a:ext cx="2331720" cy="237744"/>
          </a:xfrm>
          <a:prstGeom prst="rect">
            <a:avLst/>
          </a:prstGeom>
          <a:noFill/>
          <a:ln/>
        </p:spPr>
        <p:txBody>
          <a:bodyPr wrap="square" lIns="0" tIns="0" rIns="0" bIns="0" rtlCol="0" anchor="t"/>
          <a:lstStyle/>
          <a:p>
            <a:pPr indent="0" marL="0">
              <a:buNone/>
            </a:pPr>
            <a:r>
              <a:rPr lang="en-US" sz="1050" b="1" dirty="0">
                <a:solidFill>
                  <a:srgbClr val="0D171A"/>
                </a:solidFill>
                <a:latin typeface="Inter" pitchFamily="34" charset="0"/>
                <a:ea typeface="Inter" pitchFamily="34" charset="-122"/>
                <a:cs typeface="Inter" pitchFamily="34" charset="-120"/>
              </a:rPr>
              <a:t>Priced with one rate</a:t>
            </a:r>
            <a:endParaRPr lang="en-US" sz="1050" dirty="0"/>
          </a:p>
        </p:txBody>
      </p:sp>
      <p:sp>
        <p:nvSpPr>
          <p:cNvPr id="19" name="Shape 14"/>
          <p:cNvSpPr/>
          <p:nvPr/>
        </p:nvSpPr>
        <p:spPr>
          <a:xfrm>
            <a:off x="5852160" y="2880360"/>
            <a:ext cx="82296" cy="82296"/>
          </a:xfrm>
          <a:prstGeom prst="ellipse">
            <a:avLst/>
          </a:prstGeom>
          <a:solidFill>
            <a:srgbClr val="2EAC67"/>
          </a:solidFill>
          <a:ln w="12700">
            <a:solidFill>
              <a:srgbClr val="2EAC67"/>
            </a:solidFill>
            <a:prstDash val="solid"/>
          </a:ln>
        </p:spPr>
      </p:sp>
      <p:sp>
        <p:nvSpPr>
          <p:cNvPr id="20" name="Text 15"/>
          <p:cNvSpPr txBox="1"/>
          <p:nvPr/>
        </p:nvSpPr>
        <p:spPr>
          <a:xfrm>
            <a:off x="6035040" y="2816352"/>
            <a:ext cx="2286000" cy="201168"/>
          </a:xfrm>
          <a:prstGeom prst="rect">
            <a:avLst/>
          </a:prstGeom>
          <a:noFill/>
          <a:ln/>
        </p:spPr>
        <p:txBody>
          <a:bodyPr wrap="square" lIns="0" tIns="0" rIns="0" bIns="0" rtlCol="0" anchor="t"/>
          <a:lstStyle/>
          <a:p>
            <a:pPr indent="0" marL="0">
              <a:buNone/>
            </a:pPr>
            <a:r>
              <a:rPr lang="en-US" sz="850" dirty="0">
                <a:solidFill>
                  <a:srgbClr val="6B726D"/>
                </a:solidFill>
                <a:latin typeface="Inter" pitchFamily="34" charset="0"/>
                <a:ea typeface="Inter" pitchFamily="34" charset="-122"/>
                <a:cs typeface="Inter" pitchFamily="34" charset="-120"/>
              </a:rPr>
              <a:t>Trial credit · $10 for 30 days</a:t>
            </a:r>
            <a:endParaRPr lang="en-US" sz="850" dirty="0"/>
          </a:p>
        </p:txBody>
      </p:sp>
      <p:sp>
        <p:nvSpPr>
          <p:cNvPr id="21" name="Text 16"/>
          <p:cNvSpPr txBox="1"/>
          <p:nvPr/>
        </p:nvSpPr>
        <p:spPr>
          <a:xfrm>
            <a:off x="6035040" y="3017520"/>
            <a:ext cx="2331720" cy="237744"/>
          </a:xfrm>
          <a:prstGeom prst="rect">
            <a:avLst/>
          </a:prstGeom>
          <a:noFill/>
          <a:ln/>
        </p:spPr>
        <p:txBody>
          <a:bodyPr wrap="square" lIns="0" tIns="0" rIns="0" bIns="0" rtlCol="0" anchor="t"/>
          <a:lstStyle/>
          <a:p>
            <a:pPr indent="0" marL="0">
              <a:buNone/>
            </a:pPr>
            <a:r>
              <a:rPr lang="en-US" sz="1050" b="1" dirty="0">
                <a:solidFill>
                  <a:srgbClr val="0D171A"/>
                </a:solidFill>
                <a:latin typeface="Inter" pitchFamily="34" charset="0"/>
                <a:ea typeface="Inter" pitchFamily="34" charset="-122"/>
                <a:cs typeface="Inter" pitchFamily="34" charset="-120"/>
              </a:rPr>
              <a:t>Alert within ~5 minutes</a:t>
            </a:r>
            <a:endParaRPr lang="en-US" sz="1050" dirty="0"/>
          </a:p>
        </p:txBody>
      </p:sp>
      <p:sp>
        <p:nvSpPr>
          <p:cNvPr id="22" name="Shape 17"/>
          <p:cNvSpPr/>
          <p:nvPr/>
        </p:nvSpPr>
        <p:spPr>
          <a:xfrm>
            <a:off x="5852160" y="3429000"/>
            <a:ext cx="82296" cy="82296"/>
          </a:xfrm>
          <a:prstGeom prst="ellipse">
            <a:avLst/>
          </a:prstGeom>
          <a:solidFill>
            <a:srgbClr val="2EAC67"/>
          </a:solidFill>
          <a:ln w="12700">
            <a:solidFill>
              <a:srgbClr val="2EAC67"/>
            </a:solidFill>
            <a:prstDash val="solid"/>
          </a:ln>
        </p:spPr>
      </p:sp>
      <p:sp>
        <p:nvSpPr>
          <p:cNvPr id="23" name="Text 18"/>
          <p:cNvSpPr txBox="1"/>
          <p:nvPr/>
        </p:nvSpPr>
        <p:spPr>
          <a:xfrm>
            <a:off x="6035040" y="3364992"/>
            <a:ext cx="2286000" cy="201168"/>
          </a:xfrm>
          <a:prstGeom prst="rect">
            <a:avLst/>
          </a:prstGeom>
          <a:noFill/>
          <a:ln/>
        </p:spPr>
        <p:txBody>
          <a:bodyPr wrap="square" lIns="0" tIns="0" rIns="0" bIns="0" rtlCol="0" anchor="t"/>
          <a:lstStyle/>
          <a:p>
            <a:pPr indent="0" marL="0">
              <a:buNone/>
            </a:pPr>
            <a:r>
              <a:rPr lang="en-US" sz="850" dirty="0">
                <a:solidFill>
                  <a:srgbClr val="6B726D"/>
                </a:solidFill>
                <a:latin typeface="Inter" pitchFamily="34" charset="0"/>
                <a:ea typeface="Inter" pitchFamily="34" charset="-122"/>
                <a:cs typeface="Inter" pitchFamily="34" charset="-120"/>
              </a:rPr>
              <a:t>Commit · $100k over 3 years</a:t>
            </a:r>
            <a:endParaRPr lang="en-US" sz="850" dirty="0"/>
          </a:p>
        </p:txBody>
      </p:sp>
      <p:sp>
        <p:nvSpPr>
          <p:cNvPr id="24" name="Text 19"/>
          <p:cNvSpPr txBox="1"/>
          <p:nvPr/>
        </p:nvSpPr>
        <p:spPr>
          <a:xfrm>
            <a:off x="6035040" y="3566160"/>
            <a:ext cx="2331720" cy="237744"/>
          </a:xfrm>
          <a:prstGeom prst="rect">
            <a:avLst/>
          </a:prstGeom>
          <a:noFill/>
          <a:ln/>
        </p:spPr>
        <p:txBody>
          <a:bodyPr wrap="square" lIns="0" tIns="0" rIns="0" bIns="0" rtlCol="0" anchor="t"/>
          <a:lstStyle/>
          <a:p>
            <a:pPr indent="0" marL="0">
              <a:buNone/>
            </a:pPr>
            <a:r>
              <a:rPr lang="en-US" sz="1050" b="1" dirty="0">
                <a:solidFill>
                  <a:srgbClr val="0D171A"/>
                </a:solidFill>
                <a:latin typeface="Inter" pitchFamily="34" charset="0"/>
                <a:ea typeface="Inter" pitchFamily="34" charset="-122"/>
                <a:cs typeface="Inter" pitchFamily="34" charset="-120"/>
              </a:rPr>
              <a:t>Balance in the customer’s own UI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WHY WE’RE HERE</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Our 40 minutes, and what success looks like</a:t>
            </a:r>
            <a:endParaRPr lang="en-US" sz="2400" dirty="0"/>
          </a:p>
        </p:txBody>
      </p:sp>
      <p:sp>
        <p:nvSpPr>
          <p:cNvPr id="4" name="Shape 2"/>
          <p:cNvSpPr/>
          <p:nvPr/>
        </p:nvSpPr>
        <p:spPr>
          <a:xfrm>
            <a:off x="658368" y="1691640"/>
            <a:ext cx="0" cy="2331720"/>
          </a:xfrm>
          <a:prstGeom prst="line">
            <a:avLst/>
          </a:prstGeom>
          <a:noFill/>
          <a:ln w="19050">
            <a:solidFill>
              <a:srgbClr val="E5E7DD"/>
            </a:solidFill>
            <a:prstDash val="solid"/>
          </a:ln>
        </p:spPr>
      </p:sp>
      <p:sp>
        <p:nvSpPr>
          <p:cNvPr id="5" name="Shape 3"/>
          <p:cNvSpPr/>
          <p:nvPr/>
        </p:nvSpPr>
        <p:spPr>
          <a:xfrm>
            <a:off x="457200" y="1298448"/>
            <a:ext cx="402336" cy="402336"/>
          </a:xfrm>
          <a:prstGeom prst="ellipse">
            <a:avLst/>
          </a:prstGeom>
          <a:solidFill>
            <a:srgbClr val="FFFFFF"/>
          </a:solidFill>
          <a:ln w="12700">
            <a:solidFill>
              <a:srgbClr val="E5E7DD"/>
            </a:solidFill>
            <a:prstDash val="solid"/>
          </a:ln>
        </p:spPr>
      </p:sp>
      <p:sp>
        <p:nvSpPr>
          <p:cNvPr id="6" name="Text 4"/>
          <p:cNvSpPr txBox="1"/>
          <p:nvPr/>
        </p:nvSpPr>
        <p:spPr>
          <a:xfrm>
            <a:off x="457200" y="1298448"/>
            <a:ext cx="402336" cy="402336"/>
          </a:xfrm>
          <a:prstGeom prst="rect">
            <a:avLst/>
          </a:prstGeom>
          <a:noFill/>
          <a:ln/>
        </p:spPr>
        <p:txBody>
          <a:bodyPr wrap="square" lIns="0" tIns="0" rIns="0" bIns="0" rtlCol="0" anchor="ctr"/>
          <a:lstStyle/>
          <a:p>
            <a:pPr algn="ctr" indent="0" marL="0">
              <a:buNone/>
            </a:pPr>
            <a:r>
              <a:rPr lang="en-US" sz="1300" b="1" dirty="0">
                <a:solidFill>
                  <a:srgbClr val="0D171A"/>
                </a:solidFill>
                <a:latin typeface="Inter" pitchFamily="34" charset="0"/>
                <a:ea typeface="Inter" pitchFamily="34" charset="-122"/>
                <a:cs typeface="Inter" pitchFamily="34" charset="-120"/>
              </a:rPr>
              <a:t>1</a:t>
            </a:r>
            <a:endParaRPr lang="en-US" sz="1300" dirty="0"/>
          </a:p>
        </p:txBody>
      </p:sp>
      <p:sp>
        <p:nvSpPr>
          <p:cNvPr id="7" name="Text 5"/>
          <p:cNvSpPr txBox="1"/>
          <p:nvPr/>
        </p:nvSpPr>
        <p:spPr>
          <a:xfrm>
            <a:off x="1051560" y="1280160"/>
            <a:ext cx="3566160" cy="256032"/>
          </a:xfrm>
          <a:prstGeom prst="rect">
            <a:avLst/>
          </a:prstGeom>
          <a:noFill/>
          <a:ln/>
        </p:spPr>
        <p:txBody>
          <a:bodyPr wrap="square" lIns="0" tIns="0" rIns="0" bIns="0" rtlCol="0" anchor="t"/>
          <a:lstStyle/>
          <a:p>
            <a:pPr indent="0" marL="0">
              <a:buNone/>
            </a:pPr>
            <a:r>
              <a:rPr lang="en-US" sz="1400" b="1" dirty="0">
                <a:solidFill>
                  <a:srgbClr val="0D171A"/>
                </a:solidFill>
                <a:latin typeface="Inter" pitchFamily="34" charset="0"/>
                <a:ea typeface="Inter" pitchFamily="34" charset="-122"/>
                <a:cs typeface="Inter" pitchFamily="34" charset="-120"/>
              </a:rPr>
              <a:t>What we heard</a:t>
            </a:r>
            <a:endParaRPr lang="en-US" sz="1400" dirty="0"/>
          </a:p>
        </p:txBody>
      </p:sp>
      <p:sp>
        <p:nvSpPr>
          <p:cNvPr id="8" name="Text 6"/>
          <p:cNvSpPr txBox="1"/>
          <p:nvPr/>
        </p:nvSpPr>
        <p:spPr>
          <a:xfrm>
            <a:off x="1051560" y="1545336"/>
            <a:ext cx="3566160" cy="228600"/>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3 min  ·  your priorities and blockers, in your words</a:t>
            </a:r>
            <a:endParaRPr lang="en-US" sz="1000" dirty="0"/>
          </a:p>
        </p:txBody>
      </p:sp>
      <p:sp>
        <p:nvSpPr>
          <p:cNvPr id="9" name="Shape 7"/>
          <p:cNvSpPr/>
          <p:nvPr/>
        </p:nvSpPr>
        <p:spPr>
          <a:xfrm>
            <a:off x="457200" y="2075688"/>
            <a:ext cx="402336" cy="402336"/>
          </a:xfrm>
          <a:prstGeom prst="ellipse">
            <a:avLst/>
          </a:prstGeom>
          <a:solidFill>
            <a:srgbClr val="FFFFFF"/>
          </a:solidFill>
          <a:ln w="12700">
            <a:solidFill>
              <a:srgbClr val="E5E7DD"/>
            </a:solidFill>
            <a:prstDash val="solid"/>
          </a:ln>
        </p:spPr>
      </p:sp>
      <p:sp>
        <p:nvSpPr>
          <p:cNvPr id="10" name="Text 8"/>
          <p:cNvSpPr txBox="1"/>
          <p:nvPr/>
        </p:nvSpPr>
        <p:spPr>
          <a:xfrm>
            <a:off x="457200" y="2075688"/>
            <a:ext cx="402336" cy="402336"/>
          </a:xfrm>
          <a:prstGeom prst="rect">
            <a:avLst/>
          </a:prstGeom>
          <a:noFill/>
          <a:ln/>
        </p:spPr>
        <p:txBody>
          <a:bodyPr wrap="square" lIns="0" tIns="0" rIns="0" bIns="0" rtlCol="0" anchor="ctr"/>
          <a:lstStyle/>
          <a:p>
            <a:pPr algn="ctr" indent="0" marL="0">
              <a:buNone/>
            </a:pPr>
            <a:r>
              <a:rPr lang="en-US" sz="1300" b="1" dirty="0">
                <a:solidFill>
                  <a:srgbClr val="0D171A"/>
                </a:solidFill>
                <a:latin typeface="Inter" pitchFamily="34" charset="0"/>
                <a:ea typeface="Inter" pitchFamily="34" charset="-122"/>
                <a:cs typeface="Inter" pitchFamily="34" charset="-120"/>
              </a:rPr>
              <a:t>2</a:t>
            </a:r>
            <a:endParaRPr lang="en-US" sz="1300" dirty="0"/>
          </a:p>
        </p:txBody>
      </p:sp>
      <p:sp>
        <p:nvSpPr>
          <p:cNvPr id="11" name="Text 9"/>
          <p:cNvSpPr txBox="1"/>
          <p:nvPr/>
        </p:nvSpPr>
        <p:spPr>
          <a:xfrm>
            <a:off x="1051560" y="2057400"/>
            <a:ext cx="3566160" cy="256032"/>
          </a:xfrm>
          <a:prstGeom prst="rect">
            <a:avLst/>
          </a:prstGeom>
          <a:noFill/>
          <a:ln/>
        </p:spPr>
        <p:txBody>
          <a:bodyPr wrap="square" lIns="0" tIns="0" rIns="0" bIns="0" rtlCol="0" anchor="t"/>
          <a:lstStyle/>
          <a:p>
            <a:pPr indent="0" marL="0">
              <a:buNone/>
            </a:pPr>
            <a:r>
              <a:rPr lang="en-US" sz="1400" b="1" dirty="0">
                <a:solidFill>
                  <a:srgbClr val="0D171A"/>
                </a:solidFill>
                <a:latin typeface="Inter" pitchFamily="34" charset="0"/>
                <a:ea typeface="Inter" pitchFamily="34" charset="-122"/>
                <a:cs typeface="Inter" pitchFamily="34" charset="-120"/>
              </a:rPr>
              <a:t>How Metronome fits your stack</a:t>
            </a:r>
            <a:endParaRPr lang="en-US" sz="1400" dirty="0"/>
          </a:p>
        </p:txBody>
      </p:sp>
      <p:sp>
        <p:nvSpPr>
          <p:cNvPr id="12" name="Text 10"/>
          <p:cNvSpPr txBox="1"/>
          <p:nvPr/>
        </p:nvSpPr>
        <p:spPr>
          <a:xfrm>
            <a:off x="1051560" y="2322576"/>
            <a:ext cx="3566160" cy="228600"/>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5 min  ·  the model, the architecture, what changes</a:t>
            </a:r>
            <a:endParaRPr lang="en-US" sz="1000" dirty="0"/>
          </a:p>
        </p:txBody>
      </p:sp>
      <p:sp>
        <p:nvSpPr>
          <p:cNvPr id="13" name="Shape 11"/>
          <p:cNvSpPr/>
          <p:nvPr/>
        </p:nvSpPr>
        <p:spPr>
          <a:xfrm>
            <a:off x="457200" y="2852928"/>
            <a:ext cx="402336" cy="402336"/>
          </a:xfrm>
          <a:prstGeom prst="ellipse">
            <a:avLst/>
          </a:prstGeom>
          <a:solidFill>
            <a:srgbClr val="C3EE8F"/>
          </a:solidFill>
          <a:ln w="12700">
            <a:solidFill>
              <a:srgbClr val="C3EE8F"/>
            </a:solidFill>
            <a:prstDash val="solid"/>
          </a:ln>
        </p:spPr>
      </p:sp>
      <p:sp>
        <p:nvSpPr>
          <p:cNvPr id="14" name="Text 12"/>
          <p:cNvSpPr txBox="1"/>
          <p:nvPr/>
        </p:nvSpPr>
        <p:spPr>
          <a:xfrm>
            <a:off x="457200" y="2852928"/>
            <a:ext cx="402336" cy="402336"/>
          </a:xfrm>
          <a:prstGeom prst="rect">
            <a:avLst/>
          </a:prstGeom>
          <a:noFill/>
          <a:ln/>
        </p:spPr>
        <p:txBody>
          <a:bodyPr wrap="square" lIns="0" tIns="0" rIns="0" bIns="0" rtlCol="0" anchor="ctr"/>
          <a:lstStyle/>
          <a:p>
            <a:pPr algn="ctr" indent="0" marL="0">
              <a:buNone/>
            </a:pPr>
            <a:r>
              <a:rPr lang="en-US" sz="1300" b="1" dirty="0">
                <a:solidFill>
                  <a:srgbClr val="0D171A"/>
                </a:solidFill>
                <a:latin typeface="Inter" pitchFamily="34" charset="0"/>
                <a:ea typeface="Inter" pitchFamily="34" charset="-122"/>
                <a:cs typeface="Inter" pitchFamily="34" charset="-120"/>
              </a:rPr>
              <a:t>3</a:t>
            </a:r>
            <a:endParaRPr lang="en-US" sz="1300" dirty="0"/>
          </a:p>
        </p:txBody>
      </p:sp>
      <p:sp>
        <p:nvSpPr>
          <p:cNvPr id="15" name="Text 13"/>
          <p:cNvSpPr txBox="1"/>
          <p:nvPr/>
        </p:nvSpPr>
        <p:spPr>
          <a:xfrm>
            <a:off x="1051560" y="2834640"/>
            <a:ext cx="3566160" cy="256032"/>
          </a:xfrm>
          <a:prstGeom prst="rect">
            <a:avLst/>
          </a:prstGeom>
          <a:noFill/>
          <a:ln/>
        </p:spPr>
        <p:txBody>
          <a:bodyPr wrap="square" lIns="0" tIns="0" rIns="0" bIns="0" rtlCol="0" anchor="t"/>
          <a:lstStyle/>
          <a:p>
            <a:pPr indent="0" marL="0">
              <a:buNone/>
            </a:pPr>
            <a:r>
              <a:rPr lang="en-US" sz="1400" b="1" dirty="0">
                <a:solidFill>
                  <a:srgbClr val="0D171A"/>
                </a:solidFill>
                <a:latin typeface="Inter" pitchFamily="34" charset="0"/>
                <a:ea typeface="Inter" pitchFamily="34" charset="-122"/>
                <a:cs typeface="Inter" pitchFamily="34" charset="-120"/>
              </a:rPr>
              <a:t>Live demo: your pricing in Metronome</a:t>
            </a:r>
            <a:endParaRPr lang="en-US" sz="1400" dirty="0"/>
          </a:p>
        </p:txBody>
      </p:sp>
      <p:sp>
        <p:nvSpPr>
          <p:cNvPr id="16" name="Text 14"/>
          <p:cNvSpPr txBox="1"/>
          <p:nvPr/>
        </p:nvSpPr>
        <p:spPr>
          <a:xfrm>
            <a:off x="1051560" y="3099816"/>
            <a:ext cx="3566160" cy="228600"/>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30 min  ·  catalog, trial, support tiers, commits, quote-to-cash</a:t>
            </a:r>
            <a:endParaRPr lang="en-US" sz="1000" dirty="0"/>
          </a:p>
        </p:txBody>
      </p:sp>
      <p:sp>
        <p:nvSpPr>
          <p:cNvPr id="17" name="Shape 15"/>
          <p:cNvSpPr/>
          <p:nvPr/>
        </p:nvSpPr>
        <p:spPr>
          <a:xfrm>
            <a:off x="457200" y="3630168"/>
            <a:ext cx="402336" cy="402336"/>
          </a:xfrm>
          <a:prstGeom prst="ellipse">
            <a:avLst/>
          </a:prstGeom>
          <a:solidFill>
            <a:srgbClr val="FFFFFF"/>
          </a:solidFill>
          <a:ln w="12700">
            <a:solidFill>
              <a:srgbClr val="E5E7DD"/>
            </a:solidFill>
            <a:prstDash val="solid"/>
          </a:ln>
        </p:spPr>
      </p:sp>
      <p:sp>
        <p:nvSpPr>
          <p:cNvPr id="18" name="Text 16"/>
          <p:cNvSpPr txBox="1"/>
          <p:nvPr/>
        </p:nvSpPr>
        <p:spPr>
          <a:xfrm>
            <a:off x="457200" y="3630168"/>
            <a:ext cx="402336" cy="402336"/>
          </a:xfrm>
          <a:prstGeom prst="rect">
            <a:avLst/>
          </a:prstGeom>
          <a:noFill/>
          <a:ln/>
        </p:spPr>
        <p:txBody>
          <a:bodyPr wrap="square" lIns="0" tIns="0" rIns="0" bIns="0" rtlCol="0" anchor="ctr"/>
          <a:lstStyle/>
          <a:p>
            <a:pPr algn="ctr" indent="0" marL="0">
              <a:buNone/>
            </a:pPr>
            <a:r>
              <a:rPr lang="en-US" sz="1300" b="1" dirty="0">
                <a:solidFill>
                  <a:srgbClr val="0D171A"/>
                </a:solidFill>
                <a:latin typeface="Inter" pitchFamily="34" charset="0"/>
                <a:ea typeface="Inter" pitchFamily="34" charset="-122"/>
                <a:cs typeface="Inter" pitchFamily="34" charset="-120"/>
              </a:rPr>
              <a:t>4</a:t>
            </a:r>
            <a:endParaRPr lang="en-US" sz="1300" dirty="0"/>
          </a:p>
        </p:txBody>
      </p:sp>
      <p:sp>
        <p:nvSpPr>
          <p:cNvPr id="19" name="Text 17"/>
          <p:cNvSpPr txBox="1"/>
          <p:nvPr/>
        </p:nvSpPr>
        <p:spPr>
          <a:xfrm>
            <a:off x="1051560" y="3611880"/>
            <a:ext cx="3566160" cy="256032"/>
          </a:xfrm>
          <a:prstGeom prst="rect">
            <a:avLst/>
          </a:prstGeom>
          <a:noFill/>
          <a:ln/>
        </p:spPr>
        <p:txBody>
          <a:bodyPr wrap="square" lIns="0" tIns="0" rIns="0" bIns="0" rtlCol="0" anchor="t"/>
          <a:lstStyle/>
          <a:p>
            <a:pPr indent="0" marL="0">
              <a:buNone/>
            </a:pPr>
            <a:r>
              <a:rPr lang="en-US" sz="1400" b="1" dirty="0">
                <a:solidFill>
                  <a:srgbClr val="0D171A"/>
                </a:solidFill>
                <a:latin typeface="Inter" pitchFamily="34" charset="0"/>
                <a:ea typeface="Inter" pitchFamily="34" charset="-122"/>
                <a:cs typeface="Inter" pitchFamily="34" charset="-120"/>
              </a:rPr>
              <a:t>Next steps</a:t>
            </a:r>
            <a:endParaRPr lang="en-US" sz="1400" dirty="0"/>
          </a:p>
        </p:txBody>
      </p:sp>
      <p:sp>
        <p:nvSpPr>
          <p:cNvPr id="20" name="Text 18"/>
          <p:cNvSpPr txBox="1"/>
          <p:nvPr/>
        </p:nvSpPr>
        <p:spPr>
          <a:xfrm>
            <a:off x="1051560" y="3877056"/>
            <a:ext cx="3566160" cy="228600"/>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2 min  ·  a 4-week path to a decision</a:t>
            </a:r>
            <a:endParaRPr lang="en-US" sz="1000" dirty="0"/>
          </a:p>
        </p:txBody>
      </p:sp>
      <p:sp>
        <p:nvSpPr>
          <p:cNvPr id="21" name="Shape 19"/>
          <p:cNvSpPr/>
          <p:nvPr/>
        </p:nvSpPr>
        <p:spPr>
          <a:xfrm>
            <a:off x="4983480" y="1261872"/>
            <a:ext cx="3703320" cy="3291840"/>
          </a:xfrm>
          <a:prstGeom prst="roundRect">
            <a:avLst>
              <a:gd name="adj" fmla="val 2222"/>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22" name="Text 20"/>
          <p:cNvSpPr txBox="1"/>
          <p:nvPr/>
        </p:nvSpPr>
        <p:spPr>
          <a:xfrm>
            <a:off x="5257800" y="1463040"/>
            <a:ext cx="3291840" cy="274320"/>
          </a:xfrm>
          <a:prstGeom prst="rect">
            <a:avLst/>
          </a:prstGeom>
          <a:noFill/>
          <a:ln/>
        </p:spPr>
        <p:txBody>
          <a:bodyPr wrap="square" lIns="0" tIns="0" rIns="0" bIns="0" rtlCol="0" anchor="t"/>
          <a:lstStyle/>
          <a:p>
            <a:pPr indent="0" marL="0">
              <a:buNone/>
            </a:pPr>
            <a:r>
              <a:rPr lang="en-US" sz="1300" b="1" dirty="0">
                <a:solidFill>
                  <a:srgbClr val="0D171A"/>
                </a:solidFill>
                <a:latin typeface="Inter" pitchFamily="34" charset="0"/>
                <a:ea typeface="Inter" pitchFamily="34" charset="-122"/>
                <a:cs typeface="Inter" pitchFamily="34" charset="-120"/>
              </a:rPr>
              <a:t>You should leave able to answer</a:t>
            </a:r>
            <a:endParaRPr lang="en-US" sz="1300" dirty="0"/>
          </a:p>
        </p:txBody>
      </p:sp>
      <p:sp>
        <p:nvSpPr>
          <p:cNvPr id="23" name="Shape 21"/>
          <p:cNvSpPr/>
          <p:nvPr/>
        </p:nvSpPr>
        <p:spPr>
          <a:xfrm>
            <a:off x="5257800" y="1920240"/>
            <a:ext cx="310896" cy="310896"/>
          </a:xfrm>
          <a:prstGeom prst="ellipse">
            <a:avLst/>
          </a:prstGeom>
          <a:solidFill>
            <a:srgbClr val="C3EE8F"/>
          </a:solidFill>
          <a:ln w="12700">
            <a:solidFill>
              <a:srgbClr val="C3EE8F"/>
            </a:solidFill>
            <a:prstDash val="solid"/>
          </a:ln>
        </p:spPr>
      </p:sp>
      <p:pic>
        <p:nvPicPr>
          <p:cNvPr id="24" name="Image 0" descr="preencoded.png">    </p:cNvPr>
          <p:cNvPicPr>
            <a:picLocks noChangeAspect="1"/>
          </p:cNvPicPr>
          <p:nvPr/>
        </p:nvPicPr>
        <p:blipFill>
          <a:blip r:embed="rId1"/>
          <a:stretch>
            <a:fillRect/>
          </a:stretch>
        </p:blipFill>
        <p:spPr>
          <a:xfrm>
            <a:off x="5335524" y="1997964"/>
            <a:ext cx="155448" cy="155448"/>
          </a:xfrm>
          <a:prstGeom prst="rect">
            <a:avLst/>
          </a:prstGeom>
        </p:spPr>
      </p:pic>
      <p:sp>
        <p:nvSpPr>
          <p:cNvPr id="25" name="Text 22"/>
          <p:cNvSpPr txBox="1"/>
          <p:nvPr/>
        </p:nvSpPr>
        <p:spPr>
          <a:xfrm>
            <a:off x="5715000" y="1901952"/>
            <a:ext cx="2788920" cy="457200"/>
          </a:xfrm>
          <a:prstGeom prst="rect">
            <a:avLst/>
          </a:prstGeom>
          <a:noFill/>
          <a:ln/>
        </p:spPr>
        <p:txBody>
          <a:bodyPr wrap="square" lIns="0" tIns="0" rIns="0" bIns="0" rtlCol="0" anchor="t"/>
          <a:lstStyle/>
          <a:p>
            <a:pPr indent="0" marL="0">
              <a:buNone/>
            </a:pPr>
            <a:r>
              <a:rPr lang="en-US" sz="1150" dirty="0">
                <a:solidFill>
                  <a:srgbClr val="0D171A"/>
                </a:solidFill>
                <a:latin typeface="Inter" pitchFamily="34" charset="0"/>
                <a:ea typeface="Inter" pitchFamily="34" charset="-122"/>
                <a:cs typeface="Inter" pitchFamily="34" charset="-120"/>
              </a:rPr>
              <a:t>Can we launch a new GPU without an engineering project?</a:t>
            </a:r>
            <a:endParaRPr lang="en-US" sz="1150" dirty="0"/>
          </a:p>
        </p:txBody>
      </p:sp>
      <p:sp>
        <p:nvSpPr>
          <p:cNvPr id="26" name="Shape 23"/>
          <p:cNvSpPr/>
          <p:nvPr/>
        </p:nvSpPr>
        <p:spPr>
          <a:xfrm>
            <a:off x="5257800" y="2542032"/>
            <a:ext cx="310896" cy="310896"/>
          </a:xfrm>
          <a:prstGeom prst="ellipse">
            <a:avLst/>
          </a:prstGeom>
          <a:solidFill>
            <a:srgbClr val="C3EE8F"/>
          </a:solidFill>
          <a:ln w="12700">
            <a:solidFill>
              <a:srgbClr val="C3EE8F"/>
            </a:solidFill>
            <a:prstDash val="solid"/>
          </a:ln>
        </p:spPr>
      </p:sp>
      <p:pic>
        <p:nvPicPr>
          <p:cNvPr id="27" name="Image 1" descr="preencoded.png">    </p:cNvPr>
          <p:cNvPicPr>
            <a:picLocks noChangeAspect="1"/>
          </p:cNvPicPr>
          <p:nvPr/>
        </p:nvPicPr>
        <p:blipFill>
          <a:blip r:embed="rId2"/>
          <a:stretch>
            <a:fillRect/>
          </a:stretch>
        </p:blipFill>
        <p:spPr>
          <a:xfrm>
            <a:off x="5335524" y="2619756"/>
            <a:ext cx="155448" cy="155448"/>
          </a:xfrm>
          <a:prstGeom prst="rect">
            <a:avLst/>
          </a:prstGeom>
        </p:spPr>
      </p:pic>
      <p:sp>
        <p:nvSpPr>
          <p:cNvPr id="28" name="Text 24"/>
          <p:cNvSpPr txBox="1"/>
          <p:nvPr/>
        </p:nvSpPr>
        <p:spPr>
          <a:xfrm>
            <a:off x="5715000" y="2523744"/>
            <a:ext cx="2788920" cy="457200"/>
          </a:xfrm>
          <a:prstGeom prst="rect">
            <a:avLst/>
          </a:prstGeom>
          <a:noFill/>
          <a:ln/>
        </p:spPr>
        <p:txBody>
          <a:bodyPr wrap="square" lIns="0" tIns="0" rIns="0" bIns="0" rtlCol="0" anchor="t"/>
          <a:lstStyle/>
          <a:p>
            <a:pPr indent="0" marL="0">
              <a:buNone/>
            </a:pPr>
            <a:r>
              <a:rPr lang="en-US" sz="1150" dirty="0">
                <a:solidFill>
                  <a:srgbClr val="0D171A"/>
                </a:solidFill>
                <a:latin typeface="Inter" pitchFamily="34" charset="0"/>
                <a:ea typeface="Inter" pitchFamily="34" charset="-122"/>
                <a:cs typeface="Inter" pitchFamily="34" charset="-120"/>
              </a:rPr>
              <a:t>Can we keep a card-free trial without giving away GPU time?</a:t>
            </a:r>
            <a:endParaRPr lang="en-US" sz="1150" dirty="0"/>
          </a:p>
        </p:txBody>
      </p:sp>
      <p:sp>
        <p:nvSpPr>
          <p:cNvPr id="29" name="Shape 25"/>
          <p:cNvSpPr/>
          <p:nvPr/>
        </p:nvSpPr>
        <p:spPr>
          <a:xfrm>
            <a:off x="5257800" y="3163824"/>
            <a:ext cx="310896" cy="310896"/>
          </a:xfrm>
          <a:prstGeom prst="ellipse">
            <a:avLst/>
          </a:prstGeom>
          <a:solidFill>
            <a:srgbClr val="C3EE8F"/>
          </a:solidFill>
          <a:ln w="12700">
            <a:solidFill>
              <a:srgbClr val="C3EE8F"/>
            </a:solidFill>
            <a:prstDash val="solid"/>
          </a:ln>
        </p:spPr>
      </p:sp>
      <p:pic>
        <p:nvPicPr>
          <p:cNvPr id="30" name="Image 2" descr="preencoded.png">    </p:cNvPr>
          <p:cNvPicPr>
            <a:picLocks noChangeAspect="1"/>
          </p:cNvPicPr>
          <p:nvPr/>
        </p:nvPicPr>
        <p:blipFill>
          <a:blip r:embed="rId3"/>
          <a:stretch>
            <a:fillRect/>
          </a:stretch>
        </p:blipFill>
        <p:spPr>
          <a:xfrm>
            <a:off x="5335524" y="3241548"/>
            <a:ext cx="155448" cy="155448"/>
          </a:xfrm>
          <a:prstGeom prst="rect">
            <a:avLst/>
          </a:prstGeom>
        </p:spPr>
      </p:pic>
      <p:sp>
        <p:nvSpPr>
          <p:cNvPr id="31" name="Text 26"/>
          <p:cNvSpPr txBox="1"/>
          <p:nvPr/>
        </p:nvSpPr>
        <p:spPr>
          <a:xfrm>
            <a:off x="5715000" y="3145536"/>
            <a:ext cx="2788920" cy="457200"/>
          </a:xfrm>
          <a:prstGeom prst="rect">
            <a:avLst/>
          </a:prstGeom>
          <a:noFill/>
          <a:ln/>
        </p:spPr>
        <p:txBody>
          <a:bodyPr wrap="square" lIns="0" tIns="0" rIns="0" bIns="0" rtlCol="0" anchor="t"/>
          <a:lstStyle/>
          <a:p>
            <a:pPr indent="0" marL="0">
              <a:buNone/>
            </a:pPr>
            <a:r>
              <a:rPr lang="en-US" sz="1150" dirty="0">
                <a:solidFill>
                  <a:srgbClr val="0D171A"/>
                </a:solidFill>
                <a:latin typeface="Inter" pitchFamily="34" charset="0"/>
                <a:ea typeface="Inter" pitchFamily="34" charset="-122"/>
                <a:cs typeface="Inter" pitchFamily="34" charset="-120"/>
              </a:rPr>
              <a:t>Can we sell support tiers and show commit customers where they stand?</a:t>
            </a:r>
            <a:endParaRPr lang="en-US" sz="1150" dirty="0"/>
          </a:p>
        </p:txBody>
      </p:sp>
      <p:sp>
        <p:nvSpPr>
          <p:cNvPr id="32" name="Shape 27"/>
          <p:cNvSpPr/>
          <p:nvPr/>
        </p:nvSpPr>
        <p:spPr>
          <a:xfrm>
            <a:off x="5257800" y="3785616"/>
            <a:ext cx="310896" cy="310896"/>
          </a:xfrm>
          <a:prstGeom prst="ellipse">
            <a:avLst/>
          </a:prstGeom>
          <a:solidFill>
            <a:srgbClr val="C3EE8F"/>
          </a:solidFill>
          <a:ln w="12700">
            <a:solidFill>
              <a:srgbClr val="C3EE8F"/>
            </a:solidFill>
            <a:prstDash val="solid"/>
          </a:ln>
        </p:spPr>
      </p:sp>
      <p:pic>
        <p:nvPicPr>
          <p:cNvPr id="33" name="Image 3" descr="preencoded.png">    </p:cNvPr>
          <p:cNvPicPr>
            <a:picLocks noChangeAspect="1"/>
          </p:cNvPicPr>
          <p:nvPr/>
        </p:nvPicPr>
        <p:blipFill>
          <a:blip r:embed="rId4"/>
          <a:stretch>
            <a:fillRect/>
          </a:stretch>
        </p:blipFill>
        <p:spPr>
          <a:xfrm>
            <a:off x="5335524" y="3863340"/>
            <a:ext cx="155448" cy="155448"/>
          </a:xfrm>
          <a:prstGeom prst="rect">
            <a:avLst/>
          </a:prstGeom>
        </p:spPr>
      </p:pic>
      <p:sp>
        <p:nvSpPr>
          <p:cNvPr id="34" name="Text 28"/>
          <p:cNvSpPr txBox="1"/>
          <p:nvPr/>
        </p:nvSpPr>
        <p:spPr>
          <a:xfrm>
            <a:off x="5715000" y="3767328"/>
            <a:ext cx="2788920" cy="457200"/>
          </a:xfrm>
          <a:prstGeom prst="rect">
            <a:avLst/>
          </a:prstGeom>
          <a:noFill/>
          <a:ln/>
        </p:spPr>
        <p:txBody>
          <a:bodyPr wrap="square" lIns="0" tIns="0" rIns="0" bIns="0" rtlCol="0" anchor="t"/>
          <a:lstStyle/>
          <a:p>
            <a:pPr indent="0" marL="0">
              <a:buNone/>
            </a:pPr>
            <a:r>
              <a:rPr lang="en-US" sz="1150" dirty="0">
                <a:solidFill>
                  <a:srgbClr val="0D171A"/>
                </a:solidFill>
                <a:latin typeface="Inter" pitchFamily="34" charset="0"/>
                <a:ea typeface="Inter" pitchFamily="34" charset="-122"/>
                <a:cs typeface="Inter" pitchFamily="34" charset="-120"/>
              </a:rPr>
              <a:t>Does it plug into Stripe, NetSuite and Salesforce?</a:t>
            </a:r>
            <a:endParaRPr lang="en-US" sz="11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WHERE REPLICATE IS GOING</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Two growth engines run through one billing system</a:t>
            </a:r>
            <a:endParaRPr lang="en-US" sz="2400" dirty="0"/>
          </a:p>
        </p:txBody>
      </p:sp>
      <p:sp>
        <p:nvSpPr>
          <p:cNvPr id="4" name="Shape 2"/>
          <p:cNvSpPr/>
          <p:nvPr/>
        </p:nvSpPr>
        <p:spPr>
          <a:xfrm>
            <a:off x="457200" y="1207008"/>
            <a:ext cx="4023360" cy="2103120"/>
          </a:xfrm>
          <a:prstGeom prst="roundRect">
            <a:avLst>
              <a:gd name="adj" fmla="val 3478"/>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5" name="Shape 3"/>
          <p:cNvSpPr/>
          <p:nvPr/>
        </p:nvSpPr>
        <p:spPr>
          <a:xfrm>
            <a:off x="658368" y="1389888"/>
            <a:ext cx="365760" cy="365760"/>
          </a:xfrm>
          <a:prstGeom prst="ellipse">
            <a:avLst/>
          </a:prstGeom>
          <a:solidFill>
            <a:srgbClr val="C3EE8F"/>
          </a:solidFill>
          <a:ln w="12700">
            <a:solidFill>
              <a:srgbClr val="C3EE8F"/>
            </a:solidFill>
            <a:prstDash val="solid"/>
          </a:ln>
        </p:spPr>
      </p:sp>
      <p:pic>
        <p:nvPicPr>
          <p:cNvPr id="6" name="Image 0" descr="preencoded.png">    </p:cNvPr>
          <p:cNvPicPr>
            <a:picLocks noChangeAspect="1"/>
          </p:cNvPicPr>
          <p:nvPr/>
        </p:nvPicPr>
        <p:blipFill>
          <a:blip r:embed="rId1"/>
          <a:stretch>
            <a:fillRect/>
          </a:stretch>
        </p:blipFill>
        <p:spPr>
          <a:xfrm>
            <a:off x="749808" y="1481328"/>
            <a:ext cx="182880" cy="182880"/>
          </a:xfrm>
          <a:prstGeom prst="rect">
            <a:avLst/>
          </a:prstGeom>
        </p:spPr>
      </p:pic>
      <p:sp>
        <p:nvSpPr>
          <p:cNvPr id="7" name="Text 4"/>
          <p:cNvSpPr txBox="1"/>
          <p:nvPr/>
        </p:nvSpPr>
        <p:spPr>
          <a:xfrm>
            <a:off x="1143000" y="1444752"/>
            <a:ext cx="3200400" cy="274320"/>
          </a:xfrm>
          <a:prstGeom prst="rect">
            <a:avLst/>
          </a:prstGeom>
          <a:noFill/>
          <a:ln/>
        </p:spPr>
        <p:txBody>
          <a:bodyPr wrap="square" lIns="0" tIns="0" rIns="0" bIns="0" rtlCol="0" anchor="t"/>
          <a:lstStyle/>
          <a:p>
            <a:pPr indent="0" marL="0">
              <a:buNone/>
            </a:pPr>
            <a:r>
              <a:rPr lang="en-US" sz="1300" b="1" dirty="0">
                <a:solidFill>
                  <a:srgbClr val="0D171A"/>
                </a:solidFill>
                <a:latin typeface="Inter" pitchFamily="34" charset="0"/>
                <a:ea typeface="Inter" pitchFamily="34" charset="-122"/>
                <a:cs typeface="Inter" pitchFamily="34" charset="-120"/>
              </a:rPr>
              <a:t>Self-serve, at developer scale</a:t>
            </a:r>
            <a:endParaRPr lang="en-US" sz="1300" dirty="0"/>
          </a:p>
        </p:txBody>
      </p:sp>
      <p:sp>
        <p:nvSpPr>
          <p:cNvPr id="8" name="Text 5"/>
          <p:cNvSpPr txBox="1"/>
          <p:nvPr/>
        </p:nvSpPr>
        <p:spPr>
          <a:xfrm>
            <a:off x="658368" y="1920240"/>
            <a:ext cx="1188720" cy="457200"/>
          </a:xfrm>
          <a:prstGeom prst="rect">
            <a:avLst/>
          </a:prstGeom>
          <a:noFill/>
          <a:ln/>
        </p:spPr>
        <p:txBody>
          <a:bodyPr wrap="square" lIns="0" tIns="0" rIns="0" bIns="0" rtlCol="0" anchor="t"/>
          <a:lstStyle/>
          <a:p>
            <a:pPr indent="0" marL="0">
              <a:buNone/>
            </a:pPr>
            <a:r>
              <a:rPr lang="en-US" sz="2600" b="1" dirty="0">
                <a:solidFill>
                  <a:srgbClr val="125B49"/>
                </a:solidFill>
                <a:latin typeface="Inter" pitchFamily="34" charset="0"/>
                <a:ea typeface="Inter" pitchFamily="34" charset="-122"/>
                <a:cs typeface="Inter" pitchFamily="34" charset="-120"/>
              </a:rPr>
              <a:t>2M+</a:t>
            </a:r>
            <a:endParaRPr lang="en-US" sz="2600" dirty="0"/>
          </a:p>
        </p:txBody>
      </p:sp>
      <p:sp>
        <p:nvSpPr>
          <p:cNvPr id="9" name="Text 6"/>
          <p:cNvSpPr txBox="1"/>
          <p:nvPr/>
        </p:nvSpPr>
        <p:spPr>
          <a:xfrm>
            <a:off x="658368" y="2395728"/>
            <a:ext cx="1188720" cy="365760"/>
          </a:xfrm>
          <a:prstGeom prst="rect">
            <a:avLst/>
          </a:prstGeom>
          <a:noFill/>
          <a:ln/>
        </p:spPr>
        <p:txBody>
          <a:bodyPr wrap="square" lIns="0" tIns="0" rIns="0" bIns="0" rtlCol="0" anchor="t"/>
          <a:lstStyle/>
          <a:p>
            <a:pPr indent="0" marL="0">
              <a:buNone/>
            </a:pPr>
            <a:r>
              <a:rPr lang="en-US" sz="950" dirty="0">
                <a:solidFill>
                  <a:srgbClr val="565F5F"/>
                </a:solidFill>
                <a:latin typeface="Inter" pitchFamily="34" charset="0"/>
                <a:ea typeface="Inter" pitchFamily="34" charset="-122"/>
                <a:cs typeface="Inter" pitchFamily="34" charset="-120"/>
              </a:rPr>
              <a:t>developers signed up¹</a:t>
            </a:r>
            <a:endParaRPr lang="en-US" sz="950" dirty="0"/>
          </a:p>
        </p:txBody>
      </p:sp>
      <p:sp>
        <p:nvSpPr>
          <p:cNvPr id="10" name="Text 7"/>
          <p:cNvSpPr txBox="1"/>
          <p:nvPr/>
        </p:nvSpPr>
        <p:spPr>
          <a:xfrm>
            <a:off x="1920240" y="1920240"/>
            <a:ext cx="1188720" cy="457200"/>
          </a:xfrm>
          <a:prstGeom prst="rect">
            <a:avLst/>
          </a:prstGeom>
          <a:noFill/>
          <a:ln/>
        </p:spPr>
        <p:txBody>
          <a:bodyPr wrap="square" lIns="0" tIns="0" rIns="0" bIns="0" rtlCol="0" anchor="t"/>
          <a:lstStyle/>
          <a:p>
            <a:pPr indent="0" marL="0">
              <a:buNone/>
            </a:pPr>
            <a:r>
              <a:rPr lang="en-US" sz="2600" b="1" dirty="0">
                <a:solidFill>
                  <a:srgbClr val="125B49"/>
                </a:solidFill>
                <a:latin typeface="Inter" pitchFamily="34" charset="0"/>
                <a:ea typeface="Inter" pitchFamily="34" charset="-122"/>
                <a:cs typeface="Inter" pitchFamily="34" charset="-120"/>
              </a:rPr>
              <a:t>30k</a:t>
            </a:r>
            <a:endParaRPr lang="en-US" sz="2600" dirty="0"/>
          </a:p>
        </p:txBody>
      </p:sp>
      <p:sp>
        <p:nvSpPr>
          <p:cNvPr id="11" name="Text 8"/>
          <p:cNvSpPr txBox="1"/>
          <p:nvPr/>
        </p:nvSpPr>
        <p:spPr>
          <a:xfrm>
            <a:off x="1920240" y="2395728"/>
            <a:ext cx="1188720" cy="365760"/>
          </a:xfrm>
          <a:prstGeom prst="rect">
            <a:avLst/>
          </a:prstGeom>
          <a:noFill/>
          <a:ln/>
        </p:spPr>
        <p:txBody>
          <a:bodyPr wrap="square" lIns="0" tIns="0" rIns="0" bIns="0" rtlCol="0" anchor="t"/>
          <a:lstStyle/>
          <a:p>
            <a:pPr indent="0" marL="0">
              <a:buNone/>
            </a:pPr>
            <a:r>
              <a:rPr lang="en-US" sz="950" dirty="0">
                <a:solidFill>
                  <a:srgbClr val="565F5F"/>
                </a:solidFill>
                <a:latin typeface="Inter" pitchFamily="34" charset="0"/>
                <a:ea typeface="Inter" pitchFamily="34" charset="-122"/>
                <a:cs typeface="Inter" pitchFamily="34" charset="-120"/>
              </a:rPr>
              <a:t>paying customers¹</a:t>
            </a:r>
            <a:endParaRPr lang="en-US" sz="950" dirty="0"/>
          </a:p>
        </p:txBody>
      </p:sp>
      <p:sp>
        <p:nvSpPr>
          <p:cNvPr id="12" name="Text 9"/>
          <p:cNvSpPr txBox="1"/>
          <p:nvPr/>
        </p:nvSpPr>
        <p:spPr>
          <a:xfrm>
            <a:off x="3182112" y="1920240"/>
            <a:ext cx="1188720" cy="457200"/>
          </a:xfrm>
          <a:prstGeom prst="rect">
            <a:avLst/>
          </a:prstGeom>
          <a:noFill/>
          <a:ln/>
        </p:spPr>
        <p:txBody>
          <a:bodyPr wrap="square" lIns="0" tIns="0" rIns="0" bIns="0" rtlCol="0" anchor="t"/>
          <a:lstStyle/>
          <a:p>
            <a:pPr indent="0" marL="0">
              <a:buNone/>
            </a:pPr>
            <a:r>
              <a:rPr lang="en-US" sz="2600" b="1" dirty="0">
                <a:solidFill>
                  <a:srgbClr val="125B49"/>
                </a:solidFill>
                <a:latin typeface="Inter" pitchFamily="34" charset="0"/>
                <a:ea typeface="Inter" pitchFamily="34" charset="-122"/>
                <a:cs typeface="Inter" pitchFamily="34" charset="-120"/>
              </a:rPr>
              <a:t>50k+</a:t>
            </a:r>
            <a:endParaRPr lang="en-US" sz="2600" dirty="0"/>
          </a:p>
        </p:txBody>
      </p:sp>
      <p:sp>
        <p:nvSpPr>
          <p:cNvPr id="13" name="Text 10"/>
          <p:cNvSpPr txBox="1"/>
          <p:nvPr/>
        </p:nvSpPr>
        <p:spPr>
          <a:xfrm>
            <a:off x="3182112" y="2395728"/>
            <a:ext cx="1188720" cy="365760"/>
          </a:xfrm>
          <a:prstGeom prst="rect">
            <a:avLst/>
          </a:prstGeom>
          <a:noFill/>
          <a:ln/>
        </p:spPr>
        <p:txBody>
          <a:bodyPr wrap="square" lIns="0" tIns="0" rIns="0" bIns="0" rtlCol="0" anchor="t"/>
          <a:lstStyle/>
          <a:p>
            <a:pPr indent="0" marL="0">
              <a:buNone/>
            </a:pPr>
            <a:r>
              <a:rPr lang="en-US" sz="950" dirty="0">
                <a:solidFill>
                  <a:srgbClr val="565F5F"/>
                </a:solidFill>
                <a:latin typeface="Inter" pitchFamily="34" charset="0"/>
                <a:ea typeface="Inter" pitchFamily="34" charset="-122"/>
                <a:cs typeface="Inter" pitchFamily="34" charset="-120"/>
              </a:rPr>
              <a:t>models in the catalog²</a:t>
            </a:r>
            <a:endParaRPr lang="en-US" sz="950" dirty="0"/>
          </a:p>
        </p:txBody>
      </p:sp>
      <p:sp>
        <p:nvSpPr>
          <p:cNvPr id="14" name="Text 11"/>
          <p:cNvSpPr txBox="1"/>
          <p:nvPr/>
        </p:nvSpPr>
        <p:spPr>
          <a:xfrm>
            <a:off x="658368" y="2880360"/>
            <a:ext cx="3657600" cy="274320"/>
          </a:xfrm>
          <a:prstGeom prst="rect">
            <a:avLst/>
          </a:prstGeom>
          <a:noFill/>
          <a:ln/>
        </p:spPr>
        <p:txBody>
          <a:bodyPr wrap="square" lIns="0" tIns="0" rIns="0" bIns="0" rtlCol="0" anchor="t"/>
          <a:lstStyle/>
          <a:p>
            <a:pPr indent="0" marL="0">
              <a:buNone/>
            </a:pPr>
            <a:r>
              <a:rPr lang="en-US" sz="1100" i="1" dirty="0">
                <a:solidFill>
                  <a:srgbClr val="0D171A"/>
                </a:solidFill>
                <a:latin typeface="Inter" pitchFamily="34" charset="0"/>
                <a:ea typeface="Inter" pitchFamily="34" charset="-122"/>
                <a:cs typeface="Inter" pitchFamily="34" charset="-120"/>
              </a:rPr>
              <a:t>A card-free trial is the front door of the funnel</a:t>
            </a:r>
            <a:endParaRPr lang="en-US" sz="1100" dirty="0"/>
          </a:p>
        </p:txBody>
      </p:sp>
      <p:sp>
        <p:nvSpPr>
          <p:cNvPr id="15" name="Shape 12"/>
          <p:cNvSpPr/>
          <p:nvPr/>
        </p:nvSpPr>
        <p:spPr>
          <a:xfrm>
            <a:off x="4663440" y="1207008"/>
            <a:ext cx="4023360" cy="2103120"/>
          </a:xfrm>
          <a:prstGeom prst="roundRect">
            <a:avLst>
              <a:gd name="adj" fmla="val 3478"/>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6" name="Shape 13"/>
          <p:cNvSpPr/>
          <p:nvPr/>
        </p:nvSpPr>
        <p:spPr>
          <a:xfrm>
            <a:off x="4864608" y="1389888"/>
            <a:ext cx="365760" cy="365760"/>
          </a:xfrm>
          <a:prstGeom prst="ellipse">
            <a:avLst/>
          </a:prstGeom>
          <a:solidFill>
            <a:srgbClr val="C3EE8F"/>
          </a:solidFill>
          <a:ln w="12700">
            <a:solidFill>
              <a:srgbClr val="C3EE8F"/>
            </a:solidFill>
            <a:prstDash val="solid"/>
          </a:ln>
        </p:spPr>
      </p:sp>
      <p:pic>
        <p:nvPicPr>
          <p:cNvPr id="17" name="Image 1" descr="preencoded.png">    </p:cNvPr>
          <p:cNvPicPr>
            <a:picLocks noChangeAspect="1"/>
          </p:cNvPicPr>
          <p:nvPr/>
        </p:nvPicPr>
        <p:blipFill>
          <a:blip r:embed="rId2"/>
          <a:stretch>
            <a:fillRect/>
          </a:stretch>
        </p:blipFill>
        <p:spPr>
          <a:xfrm>
            <a:off x="4956048" y="1481328"/>
            <a:ext cx="182880" cy="182880"/>
          </a:xfrm>
          <a:prstGeom prst="rect">
            <a:avLst/>
          </a:prstGeom>
        </p:spPr>
      </p:pic>
      <p:sp>
        <p:nvSpPr>
          <p:cNvPr id="18" name="Text 14"/>
          <p:cNvSpPr txBox="1"/>
          <p:nvPr/>
        </p:nvSpPr>
        <p:spPr>
          <a:xfrm>
            <a:off x="5349240" y="1444752"/>
            <a:ext cx="3200400" cy="274320"/>
          </a:xfrm>
          <a:prstGeom prst="rect">
            <a:avLst/>
          </a:prstGeom>
          <a:noFill/>
          <a:ln/>
        </p:spPr>
        <p:txBody>
          <a:bodyPr wrap="square" lIns="0" tIns="0" rIns="0" bIns="0" rtlCol="0" anchor="t"/>
          <a:lstStyle/>
          <a:p>
            <a:pPr indent="0" marL="0">
              <a:buNone/>
            </a:pPr>
            <a:r>
              <a:rPr lang="en-US" sz="1300" b="1" dirty="0">
                <a:solidFill>
                  <a:srgbClr val="0D171A"/>
                </a:solidFill>
                <a:latin typeface="Inter" pitchFamily="34" charset="0"/>
                <a:ea typeface="Inter" pitchFamily="34" charset="-122"/>
                <a:cs typeface="Inter" pitchFamily="34" charset="-120"/>
              </a:rPr>
              <a:t>Enterprise, at commit scale</a:t>
            </a:r>
            <a:endParaRPr lang="en-US" sz="1300" dirty="0"/>
          </a:p>
        </p:txBody>
      </p:sp>
      <p:sp>
        <p:nvSpPr>
          <p:cNvPr id="19" name="Text 15"/>
          <p:cNvSpPr txBox="1"/>
          <p:nvPr/>
        </p:nvSpPr>
        <p:spPr>
          <a:xfrm>
            <a:off x="4892040" y="1901952"/>
            <a:ext cx="3611880" cy="12801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0D171A"/>
                </a:solidFill>
                <a:latin typeface="Inter" pitchFamily="34" charset="0"/>
                <a:ea typeface="Inter" pitchFamily="34" charset="-122"/>
                <a:cs typeface="Inter" pitchFamily="34" charset="-120"/>
              </a:rPr>
              <a:t>Multi-year commits for a discount (e.g. $100k over 3 years)</a:t>
            </a:r>
            <a:endParaRPr lang="en-US" sz="1100" dirty="0"/>
          </a:p>
          <a:p>
            <a:pPr marL="342900" indent="-342900">
              <a:spcAft>
                <a:spcPts val="600"/>
              </a:spcAft>
              <a:buSzPct val="100000"/>
              <a:buChar char="•"/>
            </a:pPr>
            <a:r>
              <a:rPr lang="en-US" sz="1100" dirty="0">
                <a:solidFill>
                  <a:srgbClr val="0D171A"/>
                </a:solidFill>
                <a:latin typeface="Inter" pitchFamily="34" charset="0"/>
                <a:ea typeface="Inter" pitchFamily="34" charset="-122"/>
                <a:cs typeface="Inter" pitchFamily="34" charset="-120"/>
              </a:rPr>
              <a:t>Volume discounts, priority support and performance SLAs³</a:t>
            </a:r>
            <a:endParaRPr lang="en-US" sz="1100" dirty="0"/>
          </a:p>
          <a:p>
            <a:pPr marL="342900" indent="-342900">
              <a:spcAft>
                <a:spcPts val="600"/>
              </a:spcAft>
              <a:buSzPct val="100000"/>
              <a:buChar char="•"/>
            </a:pPr>
            <a:r>
              <a:rPr lang="en-US" sz="1100" dirty="0">
                <a:solidFill>
                  <a:srgbClr val="0D171A"/>
                </a:solidFill>
                <a:latin typeface="Inter" pitchFamily="34" charset="0"/>
                <a:ea typeface="Inter" pitchFamily="34" charset="-122"/>
                <a:cs typeface="Inter" pitchFamily="34" charset="-120"/>
              </a:rPr>
              <a:t>Multi-GPU capacity sold with committed-spend contracts³</a:t>
            </a:r>
            <a:endParaRPr lang="en-US" sz="1100" dirty="0"/>
          </a:p>
        </p:txBody>
      </p:sp>
      <p:sp>
        <p:nvSpPr>
          <p:cNvPr id="20" name="Shape 16"/>
          <p:cNvSpPr/>
          <p:nvPr/>
        </p:nvSpPr>
        <p:spPr>
          <a:xfrm>
            <a:off x="457200" y="3493008"/>
            <a:ext cx="2633472" cy="1024128"/>
          </a:xfrm>
          <a:prstGeom prst="roundRect">
            <a:avLst>
              <a:gd name="adj" fmla="val 7143"/>
            </a:avLst>
          </a:prstGeom>
          <a:solidFill>
            <a:srgbClr val="F1FFD0"/>
          </a:solidFill>
          <a:ln w="9525">
            <a:solidFill>
              <a:srgbClr val="DAF6AF"/>
            </a:solidFill>
            <a:prstDash val="solid"/>
          </a:ln>
        </p:spPr>
      </p:sp>
      <p:sp>
        <p:nvSpPr>
          <p:cNvPr id="21" name="Shape 17"/>
          <p:cNvSpPr/>
          <p:nvPr/>
        </p:nvSpPr>
        <p:spPr>
          <a:xfrm>
            <a:off x="621792" y="3639312"/>
            <a:ext cx="310896" cy="310896"/>
          </a:xfrm>
          <a:prstGeom prst="ellipse">
            <a:avLst/>
          </a:prstGeom>
          <a:solidFill>
            <a:srgbClr val="C3EE8F"/>
          </a:solidFill>
          <a:ln w="12700">
            <a:solidFill>
              <a:srgbClr val="C3EE8F"/>
            </a:solidFill>
            <a:prstDash val="solid"/>
          </a:ln>
        </p:spPr>
      </p:sp>
      <p:pic>
        <p:nvPicPr>
          <p:cNvPr id="22" name="Image 2" descr="preencoded.png">    </p:cNvPr>
          <p:cNvPicPr>
            <a:picLocks noChangeAspect="1"/>
          </p:cNvPicPr>
          <p:nvPr/>
        </p:nvPicPr>
        <p:blipFill>
          <a:blip r:embed="rId3"/>
          <a:stretch>
            <a:fillRect/>
          </a:stretch>
        </p:blipFill>
        <p:spPr>
          <a:xfrm>
            <a:off x="699516" y="3717036"/>
            <a:ext cx="155448" cy="155448"/>
          </a:xfrm>
          <a:prstGeom prst="rect">
            <a:avLst/>
          </a:prstGeom>
        </p:spPr>
      </p:pic>
      <p:sp>
        <p:nvSpPr>
          <p:cNvPr id="23" name="Text 18"/>
          <p:cNvSpPr txBox="1"/>
          <p:nvPr/>
        </p:nvSpPr>
        <p:spPr>
          <a:xfrm>
            <a:off x="1024128" y="3648456"/>
            <a:ext cx="1965960" cy="256032"/>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Hardware roadmap</a:t>
            </a:r>
            <a:endParaRPr lang="en-US" sz="1100" dirty="0"/>
          </a:p>
        </p:txBody>
      </p:sp>
      <p:sp>
        <p:nvSpPr>
          <p:cNvPr id="24" name="Text 19"/>
          <p:cNvSpPr txBox="1"/>
          <p:nvPr/>
        </p:nvSpPr>
        <p:spPr>
          <a:xfrm>
            <a:off x="621792" y="4005072"/>
            <a:ext cx="2359152" cy="502920"/>
          </a:xfrm>
          <a:prstGeom prst="rect">
            <a:avLst/>
          </a:prstGeom>
          <a:noFill/>
          <a:ln/>
        </p:spPr>
        <p:txBody>
          <a:bodyPr wrap="square" lIns="0" tIns="0" rIns="0" bIns="0" rtlCol="0" anchor="t"/>
          <a:lstStyle/>
          <a:p>
            <a:pPr indent="0" marL="0">
              <a:buNone/>
            </a:pPr>
            <a:r>
              <a:rPr lang="en-US" sz="900" dirty="0">
                <a:solidFill>
                  <a:srgbClr val="0D171A"/>
                </a:solidFill>
                <a:latin typeface="Inter" pitchFamily="34" charset="0"/>
                <a:ea typeface="Inter" pitchFamily="34" charset="-122"/>
                <a:cs typeface="Inter" pitchFamily="34" charset="-120"/>
              </a:rPr>
              <a:t>7 machine types today. Next: H100, H200, L40S and multi-GPU (12+ SKUs)</a:t>
            </a:r>
            <a:endParaRPr lang="en-US" sz="900" dirty="0"/>
          </a:p>
        </p:txBody>
      </p:sp>
      <p:sp>
        <p:nvSpPr>
          <p:cNvPr id="25" name="Shape 20"/>
          <p:cNvSpPr/>
          <p:nvPr/>
        </p:nvSpPr>
        <p:spPr>
          <a:xfrm>
            <a:off x="3236976" y="3493008"/>
            <a:ext cx="2633472" cy="1024128"/>
          </a:xfrm>
          <a:prstGeom prst="roundRect">
            <a:avLst>
              <a:gd name="adj" fmla="val 7143"/>
            </a:avLst>
          </a:prstGeom>
          <a:solidFill>
            <a:srgbClr val="F1FFD0"/>
          </a:solidFill>
          <a:ln w="9525">
            <a:solidFill>
              <a:srgbClr val="DAF6AF"/>
            </a:solidFill>
            <a:prstDash val="solid"/>
          </a:ln>
        </p:spPr>
      </p:sp>
      <p:sp>
        <p:nvSpPr>
          <p:cNvPr id="26" name="Shape 21"/>
          <p:cNvSpPr/>
          <p:nvPr/>
        </p:nvSpPr>
        <p:spPr>
          <a:xfrm>
            <a:off x="3401568" y="3639312"/>
            <a:ext cx="310896" cy="310896"/>
          </a:xfrm>
          <a:prstGeom prst="ellipse">
            <a:avLst/>
          </a:prstGeom>
          <a:solidFill>
            <a:srgbClr val="C3EE8F"/>
          </a:solidFill>
          <a:ln w="12700">
            <a:solidFill>
              <a:srgbClr val="C3EE8F"/>
            </a:solidFill>
            <a:prstDash val="solid"/>
          </a:ln>
        </p:spPr>
      </p:sp>
      <p:pic>
        <p:nvPicPr>
          <p:cNvPr id="27" name="Image 3" descr="preencoded.png">    </p:cNvPr>
          <p:cNvPicPr>
            <a:picLocks noChangeAspect="1"/>
          </p:cNvPicPr>
          <p:nvPr/>
        </p:nvPicPr>
        <p:blipFill>
          <a:blip r:embed="rId4"/>
          <a:stretch>
            <a:fillRect/>
          </a:stretch>
        </p:blipFill>
        <p:spPr>
          <a:xfrm>
            <a:off x="3479292" y="3717036"/>
            <a:ext cx="155448" cy="155448"/>
          </a:xfrm>
          <a:prstGeom prst="rect">
            <a:avLst/>
          </a:prstGeom>
        </p:spPr>
      </p:pic>
      <p:sp>
        <p:nvSpPr>
          <p:cNvPr id="28" name="Text 22"/>
          <p:cNvSpPr txBox="1"/>
          <p:nvPr/>
        </p:nvSpPr>
        <p:spPr>
          <a:xfrm>
            <a:off x="3803904" y="3648456"/>
            <a:ext cx="1965960" cy="256032"/>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Now part of Cloudflare²</a:t>
            </a:r>
            <a:endParaRPr lang="en-US" sz="1100" dirty="0"/>
          </a:p>
        </p:txBody>
      </p:sp>
      <p:sp>
        <p:nvSpPr>
          <p:cNvPr id="29" name="Text 23"/>
          <p:cNvSpPr txBox="1"/>
          <p:nvPr/>
        </p:nvSpPr>
        <p:spPr>
          <a:xfrm>
            <a:off x="3401568" y="4005072"/>
            <a:ext cx="2359152" cy="502920"/>
          </a:xfrm>
          <a:prstGeom prst="rect">
            <a:avLst/>
          </a:prstGeom>
          <a:noFill/>
          <a:ln/>
        </p:spPr>
        <p:txBody>
          <a:bodyPr wrap="square" lIns="0" tIns="0" rIns="0" bIns="0" rtlCol="0" anchor="t"/>
          <a:lstStyle/>
          <a:p>
            <a:pPr indent="0" marL="0">
              <a:buNone/>
            </a:pPr>
            <a:r>
              <a:rPr lang="en-US" sz="900" dirty="0">
                <a:solidFill>
                  <a:srgbClr val="0D171A"/>
                </a:solidFill>
                <a:latin typeface="Inter" pitchFamily="34" charset="0"/>
                <a:ea typeface="Inter" pitchFamily="34" charset="-122"/>
                <a:cs typeface="Inter" pitchFamily="34" charset="-120"/>
              </a:rPr>
              <a:t>Replicate’s catalog is coming to Workers AI: more developers, bigger deals</a:t>
            </a:r>
            <a:endParaRPr lang="en-US" sz="900" dirty="0"/>
          </a:p>
        </p:txBody>
      </p:sp>
      <p:sp>
        <p:nvSpPr>
          <p:cNvPr id="30" name="Shape 24"/>
          <p:cNvSpPr/>
          <p:nvPr/>
        </p:nvSpPr>
        <p:spPr>
          <a:xfrm>
            <a:off x="6016752" y="3493008"/>
            <a:ext cx="2633472" cy="1024128"/>
          </a:xfrm>
          <a:prstGeom prst="roundRect">
            <a:avLst>
              <a:gd name="adj" fmla="val 7143"/>
            </a:avLst>
          </a:prstGeom>
          <a:solidFill>
            <a:srgbClr val="F1FFD0"/>
          </a:solidFill>
          <a:ln w="9525">
            <a:solidFill>
              <a:srgbClr val="DAF6AF"/>
            </a:solidFill>
            <a:prstDash val="solid"/>
          </a:ln>
        </p:spPr>
      </p:sp>
      <p:sp>
        <p:nvSpPr>
          <p:cNvPr id="31" name="Shape 25"/>
          <p:cNvSpPr/>
          <p:nvPr/>
        </p:nvSpPr>
        <p:spPr>
          <a:xfrm>
            <a:off x="6181344" y="3639312"/>
            <a:ext cx="310896" cy="310896"/>
          </a:xfrm>
          <a:prstGeom prst="ellipse">
            <a:avLst/>
          </a:prstGeom>
          <a:solidFill>
            <a:srgbClr val="C3EE8F"/>
          </a:solidFill>
          <a:ln w="12700">
            <a:solidFill>
              <a:srgbClr val="C3EE8F"/>
            </a:solidFill>
            <a:prstDash val="solid"/>
          </a:ln>
        </p:spPr>
      </p:sp>
      <p:pic>
        <p:nvPicPr>
          <p:cNvPr id="32" name="Image 4" descr="preencoded.png">    </p:cNvPr>
          <p:cNvPicPr>
            <a:picLocks noChangeAspect="1"/>
          </p:cNvPicPr>
          <p:nvPr/>
        </p:nvPicPr>
        <p:blipFill>
          <a:blip r:embed="rId5"/>
          <a:stretch>
            <a:fillRect/>
          </a:stretch>
        </p:blipFill>
        <p:spPr>
          <a:xfrm>
            <a:off x="6259068" y="3717036"/>
            <a:ext cx="155448" cy="155448"/>
          </a:xfrm>
          <a:prstGeom prst="rect">
            <a:avLst/>
          </a:prstGeom>
        </p:spPr>
      </p:pic>
      <p:sp>
        <p:nvSpPr>
          <p:cNvPr id="33" name="Text 26"/>
          <p:cNvSpPr txBox="1"/>
          <p:nvPr/>
        </p:nvSpPr>
        <p:spPr>
          <a:xfrm>
            <a:off x="6583680" y="3648456"/>
            <a:ext cx="1965960" cy="256032"/>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Rivals went prepaid-only⁴</a:t>
            </a:r>
            <a:endParaRPr lang="en-US" sz="1100" dirty="0"/>
          </a:p>
        </p:txBody>
      </p:sp>
      <p:sp>
        <p:nvSpPr>
          <p:cNvPr id="34" name="Text 27"/>
          <p:cNvSpPr txBox="1"/>
          <p:nvPr/>
        </p:nvSpPr>
        <p:spPr>
          <a:xfrm>
            <a:off x="6181344" y="4005072"/>
            <a:ext cx="2359152" cy="502920"/>
          </a:xfrm>
          <a:prstGeom prst="rect">
            <a:avLst/>
          </a:prstGeom>
          <a:noFill/>
          <a:ln/>
        </p:spPr>
        <p:txBody>
          <a:bodyPr wrap="square" lIns="0" tIns="0" rIns="0" bIns="0" rtlCol="0" anchor="t"/>
          <a:lstStyle/>
          <a:p>
            <a:pPr indent="0" marL="0">
              <a:buNone/>
            </a:pPr>
            <a:r>
              <a:rPr lang="en-US" sz="900" dirty="0">
                <a:solidFill>
                  <a:srgbClr val="0D171A"/>
                </a:solidFill>
                <a:latin typeface="Inter" pitchFamily="34" charset="0"/>
                <a:ea typeface="Inter" pitchFamily="34" charset="-122"/>
                <a:cs typeface="Inter" pitchFamily="34" charset="-120"/>
              </a:rPr>
              <a:t>Together AI has no free trial; Fireworks moved every self-serve account to prepaid (Jul 2026)</a:t>
            </a:r>
            <a:endParaRPr lang="en-US" sz="900" dirty="0"/>
          </a:p>
        </p:txBody>
      </p:sp>
      <p:sp>
        <p:nvSpPr>
          <p:cNvPr id="35" name="Text 28"/>
          <p:cNvSpPr txBox="1"/>
          <p:nvPr/>
        </p:nvSpPr>
        <p:spPr>
          <a:xfrm>
            <a:off x="457200" y="4572000"/>
            <a:ext cx="8229600" cy="164592"/>
          </a:xfrm>
          <a:prstGeom prst="rect">
            <a:avLst/>
          </a:prstGeom>
          <a:noFill/>
          <a:ln/>
        </p:spPr>
        <p:txBody>
          <a:bodyPr wrap="square" lIns="0" tIns="0" rIns="0" bIns="0" rtlCol="0" anchor="t"/>
          <a:lstStyle/>
          <a:p>
            <a:pPr indent="0" marL="0">
              <a:buNone/>
            </a:pPr>
            <a:r>
              <a:rPr lang="en-US" sz="700" dirty="0">
                <a:solidFill>
                  <a:srgbClr val="6B726D"/>
                </a:solidFill>
                <a:latin typeface="Inter" pitchFamily="34" charset="0"/>
                <a:ea typeface="Inter" pitchFamily="34" charset="-122"/>
                <a:cs typeface="Inter" pitchFamily="34" charset="-120"/>
              </a:rPr>
              <a:t>¹ Replicate Series B announcement (Dec 2023)   ² Cloudflare blog, “Replicate joins Cloudflare” (Nov 2025)   ³ replicate.com/pricing   ⁴ Together AI docs; Fireworks blog (Jun 2026)</a:t>
            </a:r>
            <a:endParaRPr lang="en-US" sz="70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WHY WE ARE HERE</a:t>
            </a:r>
            <a:endParaRPr lang="en-US" sz="900" dirty="0"/>
          </a:p>
        </p:txBody>
      </p:sp>
      <p:sp>
        <p:nvSpPr>
          <p:cNvPr id="3" name="Text 1"/>
          <p:cNvSpPr txBox="1"/>
          <p:nvPr/>
        </p:nvSpPr>
        <p:spPr>
          <a:xfrm>
            <a:off x="457200" y="868680"/>
            <a:ext cx="3474720" cy="566928"/>
          </a:xfrm>
          <a:prstGeom prst="rect">
            <a:avLst/>
          </a:prstGeom>
          <a:noFill/>
          <a:ln/>
        </p:spPr>
        <p:txBody>
          <a:bodyPr wrap="square" lIns="0" tIns="0" rIns="0" bIns="0" rtlCol="0" anchor="t"/>
          <a:lstStyle/>
          <a:p>
            <a:pPr indent="0" marL="0">
              <a:buNone/>
            </a:pPr>
            <a:r>
              <a:rPr lang="en-US" sz="3600" b="1" dirty="0">
                <a:solidFill>
                  <a:srgbClr val="125B49"/>
                </a:solidFill>
                <a:latin typeface="Inter" pitchFamily="34" charset="0"/>
                <a:ea typeface="Inter" pitchFamily="34" charset="-122"/>
                <a:cs typeface="Inter" pitchFamily="34" charset="-120"/>
              </a:rPr>
              <a:t>50k+</a:t>
            </a:r>
            <a:endParaRPr lang="en-US" sz="3600" dirty="0"/>
          </a:p>
        </p:txBody>
      </p:sp>
      <p:sp>
        <p:nvSpPr>
          <p:cNvPr id="4" name="Text 2"/>
          <p:cNvSpPr txBox="1"/>
          <p:nvPr/>
        </p:nvSpPr>
        <p:spPr>
          <a:xfrm>
            <a:off x="457200" y="1472184"/>
            <a:ext cx="3474720" cy="384048"/>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open-source and fine-tuned models behind one API²</a:t>
            </a:r>
            <a:endParaRPr lang="en-US" sz="1000" dirty="0"/>
          </a:p>
        </p:txBody>
      </p:sp>
      <p:sp>
        <p:nvSpPr>
          <p:cNvPr id="5" name="Shape 3"/>
          <p:cNvSpPr/>
          <p:nvPr/>
        </p:nvSpPr>
        <p:spPr>
          <a:xfrm>
            <a:off x="457200" y="1965960"/>
            <a:ext cx="3017520" cy="0"/>
          </a:xfrm>
          <a:prstGeom prst="line">
            <a:avLst/>
          </a:prstGeom>
          <a:noFill/>
          <a:ln w="12700">
            <a:solidFill>
              <a:srgbClr val="E5E7DD"/>
            </a:solidFill>
            <a:prstDash val="solid"/>
          </a:ln>
        </p:spPr>
      </p:sp>
      <p:sp>
        <p:nvSpPr>
          <p:cNvPr id="6" name="Text 4"/>
          <p:cNvSpPr txBox="1"/>
          <p:nvPr/>
        </p:nvSpPr>
        <p:spPr>
          <a:xfrm>
            <a:off x="457200" y="2130552"/>
            <a:ext cx="3474720" cy="566928"/>
          </a:xfrm>
          <a:prstGeom prst="rect">
            <a:avLst/>
          </a:prstGeom>
          <a:noFill/>
          <a:ln/>
        </p:spPr>
        <p:txBody>
          <a:bodyPr wrap="square" lIns="0" tIns="0" rIns="0" bIns="0" rtlCol="0" anchor="t"/>
          <a:lstStyle/>
          <a:p>
            <a:pPr indent="0" marL="0">
              <a:buNone/>
            </a:pPr>
            <a:r>
              <a:rPr lang="en-US" sz="3600" b="1" dirty="0">
                <a:solidFill>
                  <a:srgbClr val="125B49"/>
                </a:solidFill>
                <a:latin typeface="Inter" pitchFamily="34" charset="0"/>
                <a:ea typeface="Inter" pitchFamily="34" charset="-122"/>
                <a:cs typeface="Inter" pitchFamily="34" charset="-120"/>
              </a:rPr>
              <a:t>30,000</a:t>
            </a:r>
            <a:endParaRPr lang="en-US" sz="3600" dirty="0"/>
          </a:p>
        </p:txBody>
      </p:sp>
      <p:sp>
        <p:nvSpPr>
          <p:cNvPr id="7" name="Text 5"/>
          <p:cNvSpPr txBox="1"/>
          <p:nvPr/>
        </p:nvSpPr>
        <p:spPr>
          <a:xfrm>
            <a:off x="457200" y="2734056"/>
            <a:ext cx="3474720" cy="384048"/>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paying customers  ·  2M+ developers signed up¹</a:t>
            </a:r>
            <a:endParaRPr lang="en-US" sz="1000" dirty="0"/>
          </a:p>
        </p:txBody>
      </p:sp>
      <p:sp>
        <p:nvSpPr>
          <p:cNvPr id="8" name="Shape 6"/>
          <p:cNvSpPr/>
          <p:nvPr/>
        </p:nvSpPr>
        <p:spPr>
          <a:xfrm>
            <a:off x="457200" y="3227832"/>
            <a:ext cx="3017520" cy="0"/>
          </a:xfrm>
          <a:prstGeom prst="line">
            <a:avLst/>
          </a:prstGeom>
          <a:noFill/>
          <a:ln w="12700">
            <a:solidFill>
              <a:srgbClr val="E5E7DD"/>
            </a:solidFill>
            <a:prstDash val="solid"/>
          </a:ln>
        </p:spPr>
      </p:sp>
      <p:sp>
        <p:nvSpPr>
          <p:cNvPr id="9" name="Text 7"/>
          <p:cNvSpPr txBox="1"/>
          <p:nvPr/>
        </p:nvSpPr>
        <p:spPr>
          <a:xfrm>
            <a:off x="457200" y="3392424"/>
            <a:ext cx="3474720" cy="566928"/>
          </a:xfrm>
          <a:prstGeom prst="rect">
            <a:avLst/>
          </a:prstGeom>
          <a:noFill/>
          <a:ln/>
        </p:spPr>
        <p:txBody>
          <a:bodyPr wrap="square" lIns="0" tIns="0" rIns="0" bIns="0" rtlCol="0" anchor="t"/>
          <a:lstStyle/>
          <a:p>
            <a:pPr indent="0" marL="0">
              <a:buNone/>
            </a:pPr>
            <a:r>
              <a:rPr lang="en-US" sz="3600" b="1" dirty="0">
                <a:solidFill>
                  <a:srgbClr val="125B49"/>
                </a:solidFill>
                <a:latin typeface="Inter" pitchFamily="34" charset="0"/>
                <a:ea typeface="Inter" pitchFamily="34" charset="-122"/>
                <a:cs typeface="Inter" pitchFamily="34" charset="-120"/>
              </a:rPr>
              <a:t>$40M</a:t>
            </a:r>
            <a:endParaRPr lang="en-US" sz="3600" dirty="0"/>
          </a:p>
        </p:txBody>
      </p:sp>
      <p:sp>
        <p:nvSpPr>
          <p:cNvPr id="10" name="Text 8"/>
          <p:cNvSpPr txBox="1"/>
          <p:nvPr/>
        </p:nvSpPr>
        <p:spPr>
          <a:xfrm>
            <a:off x="457200" y="3995928"/>
            <a:ext cx="3474720" cy="384048"/>
          </a:xfrm>
          <a:prstGeom prst="rect">
            <a:avLst/>
          </a:prstGeom>
          <a:noFill/>
          <a:ln/>
        </p:spPr>
        <p:txBody>
          <a:bodyPr wrap="square" lIns="0" tIns="0" rIns="0" bIns="0" rtlCol="0" anchor="t"/>
          <a:lstStyle/>
          <a:p>
            <a:pPr indent="0" marL="0">
              <a:buNone/>
            </a:pPr>
            <a:r>
              <a:rPr lang="en-US" sz="1000" dirty="0">
                <a:solidFill>
                  <a:srgbClr val="565F5F"/>
                </a:solidFill>
                <a:latin typeface="Inter" pitchFamily="34" charset="0"/>
                <a:ea typeface="Inter" pitchFamily="34" charset="-122"/>
                <a:cs typeface="Inter" pitchFamily="34" charset="-120"/>
              </a:rPr>
              <a:t>Series B led by a16z, with NVentures (NVIDIA), Sequoia and Y Combinator (Dec 2023)¹</a:t>
            </a:r>
            <a:endParaRPr lang="en-US" sz="1000" dirty="0"/>
          </a:p>
        </p:txBody>
      </p:sp>
      <p:sp>
        <p:nvSpPr>
          <p:cNvPr id="11" name="Text 0"/>
          <p:cNvSpPr/>
          <p:nvPr>
            <p:ph idx="100" type="title" hasCustomPrompt="1"/>
          </p:nvPr>
        </p:nvSpPr>
        <p:spPr>
          <a:xfrm>
            <a:off x="4480560" y="914400"/>
            <a:ext cx="4206240" cy="1783080"/>
          </a:xfrm>
          <a:prstGeom prst="rect">
            <a:avLst/>
          </a:prstGeom>
          <a:noFill/>
          <a:ln/>
        </p:spPr>
        <p:txBody>
          <a:bodyPr wrap="square" lIns="0" tIns="0" rIns="0" bIns="0" rtlCol="0" anchor="t"/>
          <a:lstStyle/>
          <a:p>
            <a:pPr algn="l" indent="0" marL="0">
              <a:buNone/>
            </a:pPr>
            <a:r>
              <a:rPr lang="en-US" sz="2800" dirty="0">
                <a:solidFill>
                  <a:srgbClr val="0D171A"/>
                </a:solidFill>
                <a:latin typeface="Inter" pitchFamily="34" charset="0"/>
                <a:ea typeface="Inter" pitchFamily="34" charset="-122"/>
                <a:cs typeface="Inter" pitchFamily="34" charset="-120"/>
              </a:rPr>
              <a:t>Every model run is a </a:t>
            </a:r>
            <a:pPr algn="l" indent="0" marL="0">
              <a:buNone/>
            </a:pPr>
            <a:r>
              <a:rPr lang="en-US" sz="2800" dirty="0">
                <a:solidFill>
                  <a:srgbClr val="2EAC67"/>
                </a:solidFill>
                <a:latin typeface="Inter" pitchFamily="34" charset="0"/>
                <a:ea typeface="Inter" pitchFamily="34" charset="-122"/>
                <a:cs typeface="Inter" pitchFamily="34" charset="-120"/>
              </a:rPr>
              <a:t>billing event</a:t>
            </a:r>
            <a:pPr algn="l" indent="0" marL="0">
              <a:buNone/>
            </a:pPr>
            <a:r>
              <a:rPr lang="en-US" sz="2800" dirty="0">
                <a:solidFill>
                  <a:srgbClr val="0D171A"/>
                </a:solidFill>
                <a:latin typeface="Inter" pitchFamily="34" charset="0"/>
                <a:ea typeface="Inter" pitchFamily="34" charset="-122"/>
                <a:cs typeface="Inter" pitchFamily="34" charset="-120"/>
              </a:rPr>
              <a:t>: rated, credited, invoiced.</a:t>
            </a:r>
            <a:endParaRPr lang="en-US" sz="2800" dirty="0"/>
          </a:p>
        </p:txBody>
      </p:sp>
      <p:sp>
        <p:nvSpPr>
          <p:cNvPr id="12" name="Text 10"/>
          <p:cNvSpPr txBox="1"/>
          <p:nvPr/>
        </p:nvSpPr>
        <p:spPr>
          <a:xfrm>
            <a:off x="4480560" y="2926080"/>
            <a:ext cx="4160520" cy="685800"/>
          </a:xfrm>
          <a:prstGeom prst="rect">
            <a:avLst/>
          </a:prstGeom>
          <a:noFill/>
          <a:ln/>
        </p:spPr>
        <p:txBody>
          <a:bodyPr wrap="square" lIns="0" tIns="0" rIns="0" bIns="0" rtlCol="0" anchor="t"/>
          <a:lstStyle/>
          <a:p>
            <a:pPr indent="0" marL="0">
              <a:buNone/>
            </a:pPr>
            <a:r>
              <a:rPr lang="en-US" sz="1300" dirty="0">
                <a:solidFill>
                  <a:srgbClr val="0D171A"/>
                </a:solidFill>
                <a:latin typeface="Inter" pitchFamily="34" charset="0"/>
                <a:ea typeface="Inter" pitchFamily="34" charset="-122"/>
                <a:cs typeface="Inter" pitchFamily="34" charset="-120"/>
              </a:rPr>
              <a:t>You rebuilt model deployment as one API call. The monetization layer underneath it (SKUs, trials, commits, invoices) is still homegrown.</a:t>
            </a:r>
            <a:endParaRPr lang="en-US" sz="1300" dirty="0"/>
          </a:p>
        </p:txBody>
      </p:sp>
      <p:sp>
        <p:nvSpPr>
          <p:cNvPr id="13" name="Text 11"/>
          <p:cNvSpPr txBox="1"/>
          <p:nvPr/>
        </p:nvSpPr>
        <p:spPr>
          <a:xfrm>
            <a:off x="4480560" y="3749040"/>
            <a:ext cx="4160520" cy="320040"/>
          </a:xfrm>
          <a:prstGeom prst="rect">
            <a:avLst/>
          </a:prstGeom>
          <a:noFill/>
          <a:ln/>
        </p:spPr>
        <p:txBody>
          <a:bodyPr wrap="square" lIns="0" tIns="0" rIns="0" bIns="0" rtlCol="0" anchor="t"/>
          <a:lstStyle/>
          <a:p>
            <a:pPr indent="0" marL="0">
              <a:buNone/>
            </a:pPr>
            <a:r>
              <a:rPr lang="en-US" sz="1300" b="1" dirty="0">
                <a:solidFill>
                  <a:srgbClr val="125B49"/>
                </a:solidFill>
                <a:latin typeface="Inter" pitchFamily="34" charset="0"/>
                <a:ea typeface="Inter" pitchFamily="34" charset="-122"/>
                <a:cs typeface="Inter" pitchFamily="34" charset="-120"/>
              </a:rPr>
              <a:t>That gap is what we are here to close today.</a:t>
            </a:r>
            <a:endParaRPr lang="en-US" sz="1300" dirty="0"/>
          </a:p>
        </p:txBody>
      </p:sp>
      <p:sp>
        <p:nvSpPr>
          <p:cNvPr id="14" name="Text 12"/>
          <p:cNvSpPr txBox="1"/>
          <p:nvPr/>
        </p:nvSpPr>
        <p:spPr>
          <a:xfrm>
            <a:off x="457200" y="4572000"/>
            <a:ext cx="8229600" cy="164592"/>
          </a:xfrm>
          <a:prstGeom prst="rect">
            <a:avLst/>
          </a:prstGeom>
          <a:noFill/>
          <a:ln/>
        </p:spPr>
        <p:txBody>
          <a:bodyPr wrap="square" lIns="0" tIns="0" rIns="0" bIns="0" rtlCol="0" anchor="t"/>
          <a:lstStyle/>
          <a:p>
            <a:pPr indent="0" marL="0">
              <a:buNone/>
            </a:pPr>
            <a:r>
              <a:rPr lang="en-US" sz="700" dirty="0">
                <a:solidFill>
                  <a:srgbClr val="6B726D"/>
                </a:solidFill>
                <a:latin typeface="Inter" pitchFamily="34" charset="0"/>
                <a:ea typeface="Inter" pitchFamily="34" charset="-122"/>
                <a:cs typeface="Inter" pitchFamily="34" charset="-120"/>
              </a:rPr>
              <a:t>¹ Replicate Series B announcement (Dec 2023)   ² Cloudflare blog, “Replicate joins Cloudflare” (Nov 2025)</a:t>
            </a:r>
            <a:endParaRPr lang="en-US" sz="70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WHAT WE HEARD</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Four blockers, in your own words</a:t>
            </a:r>
            <a:endParaRPr lang="en-US" sz="2400" dirty="0"/>
          </a:p>
        </p:txBody>
      </p:sp>
      <p:sp>
        <p:nvSpPr>
          <p:cNvPr id="4" name="Shape 2"/>
          <p:cNvSpPr/>
          <p:nvPr/>
        </p:nvSpPr>
        <p:spPr>
          <a:xfrm>
            <a:off x="457200" y="1207008"/>
            <a:ext cx="4023360" cy="1298448"/>
          </a:xfrm>
          <a:prstGeom prst="roundRect">
            <a:avLst>
              <a:gd name="adj" fmla="val 5634"/>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5" name="Shape 3"/>
          <p:cNvSpPr/>
          <p:nvPr/>
        </p:nvSpPr>
        <p:spPr>
          <a:xfrm>
            <a:off x="640080" y="1389888"/>
            <a:ext cx="384048" cy="384048"/>
          </a:xfrm>
          <a:prstGeom prst="ellipse">
            <a:avLst/>
          </a:prstGeom>
          <a:solidFill>
            <a:srgbClr val="C3EE8F"/>
          </a:solidFill>
          <a:ln w="12700">
            <a:solidFill>
              <a:srgbClr val="C3EE8F"/>
            </a:solidFill>
            <a:prstDash val="solid"/>
          </a:ln>
        </p:spPr>
      </p:sp>
      <p:pic>
        <p:nvPicPr>
          <p:cNvPr id="6" name="Image 0" descr="preencoded.png">    </p:cNvPr>
          <p:cNvPicPr>
            <a:picLocks noChangeAspect="1"/>
          </p:cNvPicPr>
          <p:nvPr/>
        </p:nvPicPr>
        <p:blipFill>
          <a:blip r:embed="rId1"/>
          <a:stretch>
            <a:fillRect/>
          </a:stretch>
        </p:blipFill>
        <p:spPr>
          <a:xfrm>
            <a:off x="736092" y="1485900"/>
            <a:ext cx="192024" cy="192024"/>
          </a:xfrm>
          <a:prstGeom prst="rect">
            <a:avLst/>
          </a:prstGeom>
        </p:spPr>
      </p:pic>
      <p:sp>
        <p:nvSpPr>
          <p:cNvPr id="7" name="Text 4"/>
          <p:cNvSpPr txBox="1"/>
          <p:nvPr/>
        </p:nvSpPr>
        <p:spPr>
          <a:xfrm>
            <a:off x="1188720" y="1362456"/>
            <a:ext cx="3127248" cy="566928"/>
          </a:xfrm>
          <a:prstGeom prst="rect">
            <a:avLst/>
          </a:prstGeom>
          <a:noFill/>
          <a:ln/>
        </p:spPr>
        <p:txBody>
          <a:bodyPr wrap="square" lIns="0" tIns="0" rIns="0" bIns="0" rtlCol="0" anchor="t"/>
          <a:lstStyle/>
          <a:p>
            <a:pPr indent="0" marL="0">
              <a:buNone/>
            </a:pPr>
            <a:r>
              <a:rPr lang="en-US" sz="1150" i="1" dirty="0">
                <a:solidFill>
                  <a:srgbClr val="0D171A"/>
                </a:solidFill>
                <a:latin typeface="Inter" pitchFamily="34" charset="0"/>
                <a:ea typeface="Inter" pitchFamily="34" charset="-122"/>
                <a:cs typeface="Inter" pitchFamily="34" charset="-120"/>
              </a:rPr>
              <a:t>“To add a machine type, we have to involve two engineering teams. It can take weeks.”</a:t>
            </a:r>
            <a:endParaRPr lang="en-US" sz="1150" dirty="0"/>
          </a:p>
        </p:txBody>
      </p:sp>
      <p:sp>
        <p:nvSpPr>
          <p:cNvPr id="8" name="Text 5"/>
          <p:cNvSpPr txBox="1"/>
          <p:nvPr/>
        </p:nvSpPr>
        <p:spPr>
          <a:xfrm>
            <a:off x="1188720" y="1956816"/>
            <a:ext cx="3127248" cy="475488"/>
          </a:xfrm>
          <a:prstGeom prst="rect">
            <a:avLst/>
          </a:prstGeom>
          <a:noFill/>
          <a:ln/>
        </p:spPr>
        <p:txBody>
          <a:bodyPr wrap="square" lIns="0" tIns="0" rIns="0" bIns="0" rtlCol="0" anchor="t"/>
          <a:lstStyle/>
          <a:p>
            <a:pPr indent="0" marL="0">
              <a:buNone/>
            </a:pPr>
            <a:r>
              <a:rPr lang="en-US" sz="950" b="1" dirty="0">
                <a:solidFill>
                  <a:srgbClr val="125B49"/>
                </a:solidFill>
                <a:latin typeface="Inter" pitchFamily="34" charset="0"/>
                <a:ea typeface="Inter" pitchFamily="34" charset="-122"/>
                <a:cs typeface="Inter" pitchFamily="34" charset="-120"/>
              </a:rPr>
              <a:t>Cost: </a:t>
            </a:r>
            <a:pPr indent="0" marL="0">
              <a:buNone/>
            </a:pPr>
            <a:r>
              <a:rPr lang="en-US" sz="950" dirty="0">
                <a:solidFill>
                  <a:srgbClr val="0D171A"/>
                </a:solidFill>
                <a:latin typeface="Inter" pitchFamily="34" charset="0"/>
                <a:ea typeface="Inter" pitchFamily="34" charset="-122"/>
                <a:cs typeface="Inter" pitchFamily="34" charset="-120"/>
              </a:rPr>
              <a:t>every new GPU waits on billing: revenue starts late and engineers leave the roadmap.</a:t>
            </a:r>
            <a:endParaRPr lang="en-US" sz="950" dirty="0"/>
          </a:p>
        </p:txBody>
      </p:sp>
      <p:sp>
        <p:nvSpPr>
          <p:cNvPr id="9" name="Shape 6"/>
          <p:cNvSpPr/>
          <p:nvPr/>
        </p:nvSpPr>
        <p:spPr>
          <a:xfrm>
            <a:off x="4663440" y="1207008"/>
            <a:ext cx="4023360" cy="1298448"/>
          </a:xfrm>
          <a:prstGeom prst="roundRect">
            <a:avLst>
              <a:gd name="adj" fmla="val 5634"/>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0" name="Shape 7"/>
          <p:cNvSpPr/>
          <p:nvPr/>
        </p:nvSpPr>
        <p:spPr>
          <a:xfrm>
            <a:off x="4846320" y="1389888"/>
            <a:ext cx="384048" cy="384048"/>
          </a:xfrm>
          <a:prstGeom prst="ellipse">
            <a:avLst/>
          </a:prstGeom>
          <a:solidFill>
            <a:srgbClr val="C3EE8F"/>
          </a:solidFill>
          <a:ln w="12700">
            <a:solidFill>
              <a:srgbClr val="C3EE8F"/>
            </a:solidFill>
            <a:prstDash val="solid"/>
          </a:ln>
        </p:spPr>
      </p:sp>
      <p:pic>
        <p:nvPicPr>
          <p:cNvPr id="11" name="Image 1" descr="preencoded.png">    </p:cNvPr>
          <p:cNvPicPr>
            <a:picLocks noChangeAspect="1"/>
          </p:cNvPicPr>
          <p:nvPr/>
        </p:nvPicPr>
        <p:blipFill>
          <a:blip r:embed="rId2"/>
          <a:stretch>
            <a:fillRect/>
          </a:stretch>
        </p:blipFill>
        <p:spPr>
          <a:xfrm>
            <a:off x="4942332" y="1485900"/>
            <a:ext cx="192024" cy="192024"/>
          </a:xfrm>
          <a:prstGeom prst="rect">
            <a:avLst/>
          </a:prstGeom>
        </p:spPr>
      </p:pic>
      <p:sp>
        <p:nvSpPr>
          <p:cNvPr id="12" name="Text 8"/>
          <p:cNvSpPr txBox="1"/>
          <p:nvPr/>
        </p:nvSpPr>
        <p:spPr>
          <a:xfrm>
            <a:off x="5394960" y="1362456"/>
            <a:ext cx="3127248" cy="566928"/>
          </a:xfrm>
          <a:prstGeom prst="rect">
            <a:avLst/>
          </a:prstGeom>
          <a:noFill/>
          <a:ln/>
        </p:spPr>
        <p:txBody>
          <a:bodyPr wrap="square" lIns="0" tIns="0" rIns="0" bIns="0" rtlCol="0" anchor="t"/>
          <a:lstStyle/>
          <a:p>
            <a:pPr indent="0" marL="0">
              <a:buNone/>
            </a:pPr>
            <a:r>
              <a:rPr lang="en-US" sz="1150" i="1" dirty="0">
                <a:solidFill>
                  <a:srgbClr val="0D171A"/>
                </a:solidFill>
                <a:latin typeface="Inter" pitchFamily="34" charset="0"/>
                <a:ea typeface="Inter" pitchFamily="34" charset="-122"/>
                <a:cs typeface="Inter" pitchFamily="34" charset="-120"/>
              </a:rPr>
              <a:t>“Our systems measure credit usage once a day.”</a:t>
            </a:r>
            <a:endParaRPr lang="en-US" sz="1150" dirty="0"/>
          </a:p>
        </p:txBody>
      </p:sp>
      <p:sp>
        <p:nvSpPr>
          <p:cNvPr id="13" name="Text 9"/>
          <p:cNvSpPr txBox="1"/>
          <p:nvPr/>
        </p:nvSpPr>
        <p:spPr>
          <a:xfrm>
            <a:off x="5394960" y="1956816"/>
            <a:ext cx="3127248" cy="475488"/>
          </a:xfrm>
          <a:prstGeom prst="rect">
            <a:avLst/>
          </a:prstGeom>
          <a:noFill/>
          <a:ln/>
        </p:spPr>
        <p:txBody>
          <a:bodyPr wrap="square" lIns="0" tIns="0" rIns="0" bIns="0" rtlCol="0" anchor="t"/>
          <a:lstStyle/>
          <a:p>
            <a:pPr indent="0" marL="0">
              <a:buNone/>
            </a:pPr>
            <a:r>
              <a:rPr lang="en-US" sz="950" b="1" dirty="0">
                <a:solidFill>
                  <a:srgbClr val="125B49"/>
                </a:solidFill>
                <a:latin typeface="Inter" pitchFamily="34" charset="0"/>
                <a:ea typeface="Inter" pitchFamily="34" charset="-122"/>
                <a:cs typeface="Inter" pitchFamily="34" charset="-120"/>
              </a:rPr>
              <a:t>Cost: </a:t>
            </a:r>
            <a:pPr indent="0" marL="0">
              <a:buNone/>
            </a:pPr>
            <a:r>
              <a:rPr lang="en-US" sz="950" dirty="0">
                <a:solidFill>
                  <a:srgbClr val="0D171A"/>
                </a:solidFill>
                <a:latin typeface="Inter" pitchFamily="34" charset="0"/>
                <a:ea typeface="Inter" pitchFamily="34" charset="-122"/>
                <a:cs typeface="Inter" pitchFamily="34" charset="-120"/>
              </a:rPr>
              <a:t>up to a day of free GPU time per trial user. An 8x A40 (Large) runs $20.88/hour: about $500 a day.</a:t>
            </a:r>
            <a:endParaRPr lang="en-US" sz="950" dirty="0"/>
          </a:p>
        </p:txBody>
      </p:sp>
      <p:sp>
        <p:nvSpPr>
          <p:cNvPr id="14" name="Shape 10"/>
          <p:cNvSpPr/>
          <p:nvPr/>
        </p:nvSpPr>
        <p:spPr>
          <a:xfrm>
            <a:off x="457200" y="2633472"/>
            <a:ext cx="4023360" cy="1298448"/>
          </a:xfrm>
          <a:prstGeom prst="roundRect">
            <a:avLst>
              <a:gd name="adj" fmla="val 5634"/>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5" name="Shape 11"/>
          <p:cNvSpPr/>
          <p:nvPr/>
        </p:nvSpPr>
        <p:spPr>
          <a:xfrm>
            <a:off x="640080" y="2816352"/>
            <a:ext cx="384048" cy="384048"/>
          </a:xfrm>
          <a:prstGeom prst="ellipse">
            <a:avLst/>
          </a:prstGeom>
          <a:solidFill>
            <a:srgbClr val="C3EE8F"/>
          </a:solidFill>
          <a:ln w="12700">
            <a:solidFill>
              <a:srgbClr val="C3EE8F"/>
            </a:solidFill>
            <a:prstDash val="solid"/>
          </a:ln>
        </p:spPr>
      </p:sp>
      <p:pic>
        <p:nvPicPr>
          <p:cNvPr id="16" name="Image 2" descr="preencoded.png">    </p:cNvPr>
          <p:cNvPicPr>
            <a:picLocks noChangeAspect="1"/>
          </p:cNvPicPr>
          <p:nvPr/>
        </p:nvPicPr>
        <p:blipFill>
          <a:blip r:embed="rId3"/>
          <a:stretch>
            <a:fillRect/>
          </a:stretch>
        </p:blipFill>
        <p:spPr>
          <a:xfrm>
            <a:off x="736092" y="2912364"/>
            <a:ext cx="192024" cy="192024"/>
          </a:xfrm>
          <a:prstGeom prst="rect">
            <a:avLst/>
          </a:prstGeom>
        </p:spPr>
      </p:pic>
      <p:sp>
        <p:nvSpPr>
          <p:cNvPr id="17" name="Text 12"/>
          <p:cNvSpPr txBox="1"/>
          <p:nvPr/>
        </p:nvSpPr>
        <p:spPr>
          <a:xfrm>
            <a:off x="1188720" y="2788920"/>
            <a:ext cx="3127248" cy="566928"/>
          </a:xfrm>
          <a:prstGeom prst="rect">
            <a:avLst/>
          </a:prstGeom>
          <a:noFill/>
          <a:ln/>
        </p:spPr>
        <p:txBody>
          <a:bodyPr wrap="square" lIns="0" tIns="0" rIns="0" bIns="0" rtlCol="0" anchor="t"/>
          <a:lstStyle/>
          <a:p>
            <a:pPr indent="0" marL="0">
              <a:buNone/>
            </a:pPr>
            <a:r>
              <a:rPr lang="en-US" sz="1150" i="1" dirty="0">
                <a:solidFill>
                  <a:srgbClr val="0D171A"/>
                </a:solidFill>
                <a:latin typeface="Inter" pitchFamily="34" charset="0"/>
                <a:ea typeface="Inter" pitchFamily="34" charset="-122"/>
                <a:cs typeface="Inter" pitchFamily="34" charset="-120"/>
              </a:rPr>
              <a:t>“We can’t model fixed or percent-based fees, so we have no support tiers.”</a:t>
            </a:r>
            <a:endParaRPr lang="en-US" sz="1150" dirty="0"/>
          </a:p>
        </p:txBody>
      </p:sp>
      <p:sp>
        <p:nvSpPr>
          <p:cNvPr id="18" name="Text 13"/>
          <p:cNvSpPr txBox="1"/>
          <p:nvPr/>
        </p:nvSpPr>
        <p:spPr>
          <a:xfrm>
            <a:off x="1188720" y="3383280"/>
            <a:ext cx="3127248" cy="475488"/>
          </a:xfrm>
          <a:prstGeom prst="rect">
            <a:avLst/>
          </a:prstGeom>
          <a:noFill/>
          <a:ln/>
        </p:spPr>
        <p:txBody>
          <a:bodyPr wrap="square" lIns="0" tIns="0" rIns="0" bIns="0" rtlCol="0" anchor="t"/>
          <a:lstStyle/>
          <a:p>
            <a:pPr indent="0" marL="0">
              <a:buNone/>
            </a:pPr>
            <a:r>
              <a:rPr lang="en-US" sz="950" b="1" dirty="0">
                <a:solidFill>
                  <a:srgbClr val="125B49"/>
                </a:solidFill>
                <a:latin typeface="Inter" pitchFamily="34" charset="0"/>
                <a:ea typeface="Inter" pitchFamily="34" charset="-122"/>
                <a:cs typeface="Inter" pitchFamily="34" charset="-120"/>
              </a:rPr>
              <a:t>Cost: </a:t>
            </a:r>
            <a:pPr indent="0" marL="0">
              <a:buNone/>
            </a:pPr>
            <a:r>
              <a:rPr lang="en-US" sz="950" dirty="0">
                <a:solidFill>
                  <a:srgbClr val="0D171A"/>
                </a:solidFill>
                <a:latin typeface="Inter" pitchFamily="34" charset="0"/>
                <a:ea typeface="Inter" pitchFamily="34" charset="-122"/>
                <a:cs typeface="Inter" pitchFamily="34" charset="-120"/>
              </a:rPr>
              <a:t>revenue left on the table from customers who are asking to pay for more.</a:t>
            </a:r>
            <a:endParaRPr lang="en-US" sz="950" dirty="0"/>
          </a:p>
        </p:txBody>
      </p:sp>
      <p:sp>
        <p:nvSpPr>
          <p:cNvPr id="19" name="Shape 14"/>
          <p:cNvSpPr/>
          <p:nvPr/>
        </p:nvSpPr>
        <p:spPr>
          <a:xfrm>
            <a:off x="4663440" y="2633472"/>
            <a:ext cx="4023360" cy="1298448"/>
          </a:xfrm>
          <a:prstGeom prst="roundRect">
            <a:avLst>
              <a:gd name="adj" fmla="val 5634"/>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20" name="Shape 15"/>
          <p:cNvSpPr/>
          <p:nvPr/>
        </p:nvSpPr>
        <p:spPr>
          <a:xfrm>
            <a:off x="4846320" y="2816352"/>
            <a:ext cx="384048" cy="384048"/>
          </a:xfrm>
          <a:prstGeom prst="ellipse">
            <a:avLst/>
          </a:prstGeom>
          <a:solidFill>
            <a:srgbClr val="C3EE8F"/>
          </a:solidFill>
          <a:ln w="12700">
            <a:solidFill>
              <a:srgbClr val="C3EE8F"/>
            </a:solidFill>
            <a:prstDash val="solid"/>
          </a:ln>
        </p:spPr>
      </p:sp>
      <p:pic>
        <p:nvPicPr>
          <p:cNvPr id="21" name="Image 3" descr="preencoded.png">    </p:cNvPr>
          <p:cNvPicPr>
            <a:picLocks noChangeAspect="1"/>
          </p:cNvPicPr>
          <p:nvPr/>
        </p:nvPicPr>
        <p:blipFill>
          <a:blip r:embed="rId4"/>
          <a:stretch>
            <a:fillRect/>
          </a:stretch>
        </p:blipFill>
        <p:spPr>
          <a:xfrm>
            <a:off x="4942332" y="2912364"/>
            <a:ext cx="192024" cy="192024"/>
          </a:xfrm>
          <a:prstGeom prst="rect">
            <a:avLst/>
          </a:prstGeom>
        </p:spPr>
      </p:pic>
      <p:sp>
        <p:nvSpPr>
          <p:cNvPr id="22" name="Text 16"/>
          <p:cNvSpPr txBox="1"/>
          <p:nvPr/>
        </p:nvSpPr>
        <p:spPr>
          <a:xfrm>
            <a:off x="5394960" y="2788920"/>
            <a:ext cx="3127248" cy="566928"/>
          </a:xfrm>
          <a:prstGeom prst="rect">
            <a:avLst/>
          </a:prstGeom>
          <a:noFill/>
          <a:ln/>
        </p:spPr>
        <p:txBody>
          <a:bodyPr wrap="square" lIns="0" tIns="0" rIns="0" bIns="0" rtlCol="0" anchor="t"/>
          <a:lstStyle/>
          <a:p>
            <a:pPr indent="0" marL="0">
              <a:buNone/>
            </a:pPr>
            <a:r>
              <a:rPr lang="en-US" sz="1150" i="1" dirty="0">
                <a:solidFill>
                  <a:srgbClr val="0D171A"/>
                </a:solidFill>
                <a:latin typeface="Inter" pitchFamily="34" charset="0"/>
                <a:ea typeface="Inter" pitchFamily="34" charset="-122"/>
                <a:cs typeface="Inter" pitchFamily="34" charset="-120"/>
              </a:rPr>
              <a:t>“We can’t tell customers where they are on their commit without an engineer.”</a:t>
            </a:r>
            <a:endParaRPr lang="en-US" sz="1150" dirty="0"/>
          </a:p>
        </p:txBody>
      </p:sp>
      <p:sp>
        <p:nvSpPr>
          <p:cNvPr id="23" name="Text 17"/>
          <p:cNvSpPr txBox="1"/>
          <p:nvPr/>
        </p:nvSpPr>
        <p:spPr>
          <a:xfrm>
            <a:off x="5394960" y="3383280"/>
            <a:ext cx="3127248" cy="475488"/>
          </a:xfrm>
          <a:prstGeom prst="rect">
            <a:avLst/>
          </a:prstGeom>
          <a:noFill/>
          <a:ln/>
        </p:spPr>
        <p:txBody>
          <a:bodyPr wrap="square" lIns="0" tIns="0" rIns="0" bIns="0" rtlCol="0" anchor="t"/>
          <a:lstStyle/>
          <a:p>
            <a:pPr indent="0" marL="0">
              <a:buNone/>
            </a:pPr>
            <a:r>
              <a:rPr lang="en-US" sz="950" b="1" dirty="0">
                <a:solidFill>
                  <a:srgbClr val="125B49"/>
                </a:solidFill>
                <a:latin typeface="Inter" pitchFamily="34" charset="0"/>
                <a:ea typeface="Inter" pitchFamily="34" charset="-122"/>
                <a:cs typeface="Inter" pitchFamily="34" charset="-120"/>
              </a:rPr>
              <a:t>Cost: </a:t>
            </a:r>
            <a:pPr indent="0" marL="0">
              <a:buNone/>
            </a:pPr>
            <a:r>
              <a:rPr lang="en-US" sz="950" dirty="0">
                <a:solidFill>
                  <a:srgbClr val="0D171A"/>
                </a:solidFill>
                <a:latin typeface="Inter" pitchFamily="34" charset="0"/>
                <a:ea typeface="Inter" pitchFamily="34" charset="-122"/>
                <a:cs typeface="Inter" pitchFamily="34" charset="-120"/>
              </a:rPr>
              <a:t>manual pulls, uneasy customers, and renewals or expansions spotted too late.</a:t>
            </a:r>
            <a:endParaRPr lang="en-US" sz="950" dirty="0"/>
          </a:p>
        </p:txBody>
      </p:sp>
      <p:sp>
        <p:nvSpPr>
          <p:cNvPr id="24" name="Shape 18"/>
          <p:cNvSpPr/>
          <p:nvPr/>
        </p:nvSpPr>
        <p:spPr>
          <a:xfrm>
            <a:off x="457200" y="4069080"/>
            <a:ext cx="8229600" cy="530352"/>
          </a:xfrm>
          <a:prstGeom prst="roundRect">
            <a:avLst>
              <a:gd name="adj" fmla="val 13793"/>
            </a:avLst>
          </a:prstGeom>
          <a:solidFill>
            <a:srgbClr val="F1F2ED"/>
          </a:solidFill>
          <a:ln w="9525">
            <a:solidFill>
              <a:srgbClr val="E5E7DD"/>
            </a:solidFill>
            <a:prstDash val="solid"/>
          </a:ln>
        </p:spPr>
      </p:sp>
      <p:sp>
        <p:nvSpPr>
          <p:cNvPr id="25" name="Text 19"/>
          <p:cNvSpPr txBox="1"/>
          <p:nvPr/>
        </p:nvSpPr>
        <p:spPr>
          <a:xfrm>
            <a:off x="658368" y="4069080"/>
            <a:ext cx="2377440" cy="530352"/>
          </a:xfrm>
          <a:prstGeom prst="rect">
            <a:avLst/>
          </a:prstGeom>
          <a:noFill/>
          <a:ln/>
        </p:spPr>
        <p:txBody>
          <a:bodyPr wrap="square" lIns="0" tIns="0" rIns="0" bIns="0" rtlCol="0" anchor="ctr"/>
          <a:lstStyle/>
          <a:p>
            <a:pPr indent="0" marL="0">
              <a:buNone/>
            </a:pPr>
            <a:r>
              <a:rPr lang="en-US" sz="1100" b="1" dirty="0">
                <a:solidFill>
                  <a:srgbClr val="0D171A"/>
                </a:solidFill>
                <a:latin typeface="Inter" pitchFamily="34" charset="0"/>
                <a:ea typeface="Inter" pitchFamily="34" charset="-122"/>
                <a:cs typeface="Inter" pitchFamily="34" charset="-120"/>
              </a:rPr>
              <a:t>And keep your quote-to-cash:</a:t>
            </a:r>
            <a:endParaRPr lang="en-US" sz="1100" dirty="0"/>
          </a:p>
        </p:txBody>
      </p:sp>
      <p:sp>
        <p:nvSpPr>
          <p:cNvPr id="26" name="Shape 20"/>
          <p:cNvSpPr/>
          <p:nvPr/>
        </p:nvSpPr>
        <p:spPr>
          <a:xfrm>
            <a:off x="3017520" y="4187952"/>
            <a:ext cx="1737360" cy="292608"/>
          </a:xfrm>
          <a:prstGeom prst="roundRect">
            <a:avLst>
              <a:gd name="adj" fmla="val 50000"/>
            </a:avLst>
          </a:prstGeom>
          <a:solidFill>
            <a:srgbClr val="FFFFFF"/>
          </a:solidFill>
          <a:ln w="12700">
            <a:solidFill>
              <a:srgbClr val="E5E7DD"/>
            </a:solidFill>
            <a:prstDash val="solid"/>
          </a:ln>
        </p:spPr>
      </p:sp>
      <p:sp>
        <p:nvSpPr>
          <p:cNvPr id="27" name="Text 21"/>
          <p:cNvSpPr txBox="1"/>
          <p:nvPr/>
        </p:nvSpPr>
        <p:spPr>
          <a:xfrm>
            <a:off x="3017520" y="4187952"/>
            <a:ext cx="1737360" cy="292608"/>
          </a:xfrm>
          <a:prstGeom prst="rect">
            <a:avLst/>
          </a:prstGeom>
          <a:noFill/>
          <a:ln/>
        </p:spPr>
        <p:txBody>
          <a:bodyPr wrap="square" lIns="0" tIns="0" rIns="0" bIns="0" rtlCol="0" anchor="ctr"/>
          <a:lstStyle/>
          <a:p>
            <a:pPr algn="ctr" indent="0" marL="0">
              <a:buNone/>
            </a:pPr>
            <a:r>
              <a:rPr lang="en-US" sz="950" b="1" dirty="0">
                <a:solidFill>
                  <a:srgbClr val="0D171A"/>
                </a:solidFill>
                <a:latin typeface="Inter" pitchFamily="34" charset="0"/>
                <a:ea typeface="Inter" pitchFamily="34" charset="-122"/>
                <a:cs typeface="Inter" pitchFamily="34" charset="-120"/>
              </a:rPr>
              <a:t>Stripe  </a:t>
            </a:r>
            <a:pPr algn="ctr" indent="0" marL="0">
              <a:buNone/>
            </a:pPr>
            <a:r>
              <a:rPr lang="en-US" sz="950" dirty="0">
                <a:solidFill>
                  <a:srgbClr val="565F5F"/>
                </a:solidFill>
                <a:latin typeface="Inter" pitchFamily="34" charset="0"/>
                <a:ea typeface="Inter" pitchFamily="34" charset="-122"/>
                <a:cs typeface="Inter" pitchFamily="34" charset="-120"/>
              </a:rPr>
              <a:t>self-serve invoices</a:t>
            </a:r>
            <a:endParaRPr lang="en-US" sz="950" dirty="0"/>
          </a:p>
        </p:txBody>
      </p:sp>
      <p:sp>
        <p:nvSpPr>
          <p:cNvPr id="28" name="Shape 22"/>
          <p:cNvSpPr/>
          <p:nvPr/>
        </p:nvSpPr>
        <p:spPr>
          <a:xfrm>
            <a:off x="4892040" y="4187952"/>
            <a:ext cx="1737360" cy="292608"/>
          </a:xfrm>
          <a:prstGeom prst="roundRect">
            <a:avLst>
              <a:gd name="adj" fmla="val 50000"/>
            </a:avLst>
          </a:prstGeom>
          <a:solidFill>
            <a:srgbClr val="FFFFFF"/>
          </a:solidFill>
          <a:ln w="12700">
            <a:solidFill>
              <a:srgbClr val="E5E7DD"/>
            </a:solidFill>
            <a:prstDash val="solid"/>
          </a:ln>
        </p:spPr>
      </p:sp>
      <p:sp>
        <p:nvSpPr>
          <p:cNvPr id="29" name="Text 23"/>
          <p:cNvSpPr txBox="1"/>
          <p:nvPr/>
        </p:nvSpPr>
        <p:spPr>
          <a:xfrm>
            <a:off x="4892040" y="4187952"/>
            <a:ext cx="1737360" cy="292608"/>
          </a:xfrm>
          <a:prstGeom prst="rect">
            <a:avLst/>
          </a:prstGeom>
          <a:noFill/>
          <a:ln/>
        </p:spPr>
        <p:txBody>
          <a:bodyPr wrap="square" lIns="0" tIns="0" rIns="0" bIns="0" rtlCol="0" anchor="ctr"/>
          <a:lstStyle/>
          <a:p>
            <a:pPr algn="ctr" indent="0" marL="0">
              <a:buNone/>
            </a:pPr>
            <a:r>
              <a:rPr lang="en-US" sz="950" b="1" dirty="0">
                <a:solidFill>
                  <a:srgbClr val="0D171A"/>
                </a:solidFill>
                <a:latin typeface="Inter" pitchFamily="34" charset="0"/>
                <a:ea typeface="Inter" pitchFamily="34" charset="-122"/>
                <a:cs typeface="Inter" pitchFamily="34" charset="-120"/>
              </a:rPr>
              <a:t>NetSuite  </a:t>
            </a:r>
            <a:pPr algn="ctr" indent="0" marL="0">
              <a:buNone/>
            </a:pPr>
            <a:r>
              <a:rPr lang="en-US" sz="950" dirty="0">
                <a:solidFill>
                  <a:srgbClr val="565F5F"/>
                </a:solidFill>
                <a:latin typeface="Inter" pitchFamily="34" charset="0"/>
                <a:ea typeface="Inter" pitchFamily="34" charset="-122"/>
                <a:cs typeface="Inter" pitchFamily="34" charset="-120"/>
              </a:rPr>
              <a:t>enterprise invoicing</a:t>
            </a:r>
            <a:endParaRPr lang="en-US" sz="950" dirty="0"/>
          </a:p>
        </p:txBody>
      </p:sp>
      <p:sp>
        <p:nvSpPr>
          <p:cNvPr id="30" name="Shape 24"/>
          <p:cNvSpPr/>
          <p:nvPr/>
        </p:nvSpPr>
        <p:spPr>
          <a:xfrm>
            <a:off x="6766560" y="4187952"/>
            <a:ext cx="1737360" cy="292608"/>
          </a:xfrm>
          <a:prstGeom prst="roundRect">
            <a:avLst>
              <a:gd name="adj" fmla="val 50000"/>
            </a:avLst>
          </a:prstGeom>
          <a:solidFill>
            <a:srgbClr val="FFFFFF"/>
          </a:solidFill>
          <a:ln w="12700">
            <a:solidFill>
              <a:srgbClr val="E5E7DD"/>
            </a:solidFill>
            <a:prstDash val="solid"/>
          </a:ln>
        </p:spPr>
      </p:sp>
      <p:sp>
        <p:nvSpPr>
          <p:cNvPr id="31" name="Text 25"/>
          <p:cNvSpPr txBox="1"/>
          <p:nvPr/>
        </p:nvSpPr>
        <p:spPr>
          <a:xfrm>
            <a:off x="6766560" y="4187952"/>
            <a:ext cx="1737360" cy="292608"/>
          </a:xfrm>
          <a:prstGeom prst="rect">
            <a:avLst/>
          </a:prstGeom>
          <a:noFill/>
          <a:ln/>
        </p:spPr>
        <p:txBody>
          <a:bodyPr wrap="square" lIns="0" tIns="0" rIns="0" bIns="0" rtlCol="0" anchor="ctr"/>
          <a:lstStyle/>
          <a:p>
            <a:pPr algn="ctr" indent="0" marL="0">
              <a:buNone/>
            </a:pPr>
            <a:r>
              <a:rPr lang="en-US" sz="950" b="1" dirty="0">
                <a:solidFill>
                  <a:srgbClr val="0D171A"/>
                </a:solidFill>
                <a:latin typeface="Inter" pitchFamily="34" charset="0"/>
                <a:ea typeface="Inter" pitchFamily="34" charset="-122"/>
                <a:cs typeface="Inter" pitchFamily="34" charset="-120"/>
              </a:rPr>
              <a:t>Salesforce  </a:t>
            </a:r>
            <a:pPr algn="ctr" indent="0" marL="0">
              <a:buNone/>
            </a:pPr>
            <a:r>
              <a:rPr lang="en-US" sz="950" dirty="0">
                <a:solidFill>
                  <a:srgbClr val="565F5F"/>
                </a:solidFill>
                <a:latin typeface="Inter" pitchFamily="34" charset="0"/>
                <a:ea typeface="Inter" pitchFamily="34" charset="-122"/>
                <a:cs typeface="Inter" pitchFamily="34" charset="-120"/>
              </a:rPr>
              <a:t>CRM</a:t>
            </a:r>
            <a:endParaRPr lang="en-US" sz="9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HOW METRONOME WORKS</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Send usage once. Everything else is configuration</a:t>
            </a:r>
            <a:endParaRPr lang="en-US" sz="2400" dirty="0"/>
          </a:p>
        </p:txBody>
      </p:sp>
      <p:sp>
        <p:nvSpPr>
          <p:cNvPr id="4" name="Shape 2"/>
          <p:cNvSpPr/>
          <p:nvPr/>
        </p:nvSpPr>
        <p:spPr>
          <a:xfrm>
            <a:off x="411480" y="1234440"/>
            <a:ext cx="1463040" cy="1965960"/>
          </a:xfrm>
          <a:prstGeom prst="roundRect">
            <a:avLst>
              <a:gd name="adj" fmla="val 5000"/>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5" name="Shape 3"/>
          <p:cNvSpPr/>
          <p:nvPr/>
        </p:nvSpPr>
        <p:spPr>
          <a:xfrm>
            <a:off x="548640" y="1371600"/>
            <a:ext cx="329184" cy="329184"/>
          </a:xfrm>
          <a:prstGeom prst="ellipse">
            <a:avLst/>
          </a:prstGeom>
          <a:solidFill>
            <a:srgbClr val="C3EE8F"/>
          </a:solidFill>
          <a:ln w="12700">
            <a:solidFill>
              <a:srgbClr val="C3EE8F"/>
            </a:solidFill>
            <a:prstDash val="solid"/>
          </a:ln>
        </p:spPr>
      </p:sp>
      <p:pic>
        <p:nvPicPr>
          <p:cNvPr id="6" name="Image 0" descr="preencoded.png">    </p:cNvPr>
          <p:cNvPicPr>
            <a:picLocks noChangeAspect="1"/>
          </p:cNvPicPr>
          <p:nvPr/>
        </p:nvPicPr>
        <p:blipFill>
          <a:blip r:embed="rId1"/>
          <a:stretch>
            <a:fillRect/>
          </a:stretch>
        </p:blipFill>
        <p:spPr>
          <a:xfrm>
            <a:off x="630936" y="1453896"/>
            <a:ext cx="164592" cy="164592"/>
          </a:xfrm>
          <a:prstGeom prst="rect">
            <a:avLst/>
          </a:prstGeom>
        </p:spPr>
      </p:pic>
      <p:sp>
        <p:nvSpPr>
          <p:cNvPr id="7" name="Text 4"/>
          <p:cNvSpPr txBox="1"/>
          <p:nvPr/>
        </p:nvSpPr>
        <p:spPr>
          <a:xfrm>
            <a:off x="548640" y="1783080"/>
            <a:ext cx="1234440" cy="411480"/>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Usage event</a:t>
            </a:r>
            <a:endParaRPr lang="en-US" sz="1100" dirty="0"/>
          </a:p>
        </p:txBody>
      </p:sp>
      <p:sp>
        <p:nvSpPr>
          <p:cNvPr id="8" name="Text 5"/>
          <p:cNvSpPr txBox="1"/>
          <p:nvPr/>
        </p:nvSpPr>
        <p:spPr>
          <a:xfrm>
            <a:off x="548640" y="2212848"/>
            <a:ext cx="1216152" cy="5029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What your platform already logs:</a:t>
            </a:r>
            <a:endParaRPr lang="en-US" sz="850" dirty="0"/>
          </a:p>
        </p:txBody>
      </p:sp>
      <p:sp>
        <p:nvSpPr>
          <p:cNvPr id="9" name="Text 6"/>
          <p:cNvSpPr txBox="1"/>
          <p:nvPr/>
        </p:nvSpPr>
        <p:spPr>
          <a:xfrm>
            <a:off x="548640" y="2724912"/>
            <a:ext cx="1234440" cy="411480"/>
          </a:xfrm>
          <a:prstGeom prst="rect">
            <a:avLst/>
          </a:prstGeom>
          <a:noFill/>
          <a:ln/>
        </p:spPr>
        <p:txBody>
          <a:bodyPr wrap="square" lIns="0" tIns="0" rIns="0" bIns="0" rtlCol="0" anchor="t"/>
          <a:lstStyle/>
          <a:p>
            <a:pPr indent="0" marL="0">
              <a:buNone/>
            </a:pPr>
            <a:r>
              <a:rPr lang="en-US" sz="800" b="1" dirty="0">
                <a:solidFill>
                  <a:srgbClr val="125B49"/>
                </a:solidFill>
                <a:latin typeface="Roboto Mono" pitchFamily="34" charset="0"/>
                <a:ea typeface="Roboto Mono" pitchFamily="34" charset="-122"/>
                <a:cs typeface="Roboto Mono" pitchFamily="34" charset="-120"/>
              </a:rPr>
              <a:t>hardware: gpu-a100-large</a:t>
            </a:r>
            <a:endParaRPr lang="en-US" sz="800" dirty="0"/>
          </a:p>
          <a:p>
            <a:pPr indent="0" marL="0">
              <a:buNone/>
            </a:pPr>
            <a:r>
              <a:rPr lang="en-US" sz="800" b="1" dirty="0">
                <a:solidFill>
                  <a:srgbClr val="125B49"/>
                </a:solidFill>
                <a:latin typeface="Roboto Mono" pitchFamily="34" charset="0"/>
                <a:ea typeface="Roboto Mono" pitchFamily="34" charset="-122"/>
                <a:cs typeface="Roboto Mono" pitchFamily="34" charset="-120"/>
              </a:rPr>
              <a:t>seconds: 150</a:t>
            </a:r>
            <a:endParaRPr lang="en-US" sz="800" dirty="0"/>
          </a:p>
        </p:txBody>
      </p:sp>
      <p:sp>
        <p:nvSpPr>
          <p:cNvPr id="10" name="Shape 7"/>
          <p:cNvSpPr/>
          <p:nvPr/>
        </p:nvSpPr>
        <p:spPr>
          <a:xfrm>
            <a:off x="1933956" y="2103120"/>
            <a:ext cx="137160" cy="228600"/>
          </a:xfrm>
          <a:prstGeom prst="chevron">
            <a:avLst/>
          </a:prstGeom>
          <a:solidFill>
            <a:srgbClr val="2EAC67"/>
          </a:solidFill>
          <a:ln w="12700">
            <a:solidFill>
              <a:srgbClr val="2EAC67"/>
            </a:solidFill>
            <a:prstDash val="solid"/>
          </a:ln>
        </p:spPr>
      </p:sp>
      <p:sp>
        <p:nvSpPr>
          <p:cNvPr id="11" name="Shape 8"/>
          <p:cNvSpPr/>
          <p:nvPr/>
        </p:nvSpPr>
        <p:spPr>
          <a:xfrm>
            <a:off x="2125980" y="1234440"/>
            <a:ext cx="1463040" cy="1965960"/>
          </a:xfrm>
          <a:prstGeom prst="roundRect">
            <a:avLst>
              <a:gd name="adj" fmla="val 5000"/>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2" name="Shape 9"/>
          <p:cNvSpPr/>
          <p:nvPr/>
        </p:nvSpPr>
        <p:spPr>
          <a:xfrm>
            <a:off x="2263140" y="1371600"/>
            <a:ext cx="329184" cy="329184"/>
          </a:xfrm>
          <a:prstGeom prst="ellipse">
            <a:avLst/>
          </a:prstGeom>
          <a:solidFill>
            <a:srgbClr val="C3EE8F"/>
          </a:solidFill>
          <a:ln w="12700">
            <a:solidFill>
              <a:srgbClr val="C3EE8F"/>
            </a:solidFill>
            <a:prstDash val="solid"/>
          </a:ln>
        </p:spPr>
      </p:sp>
      <p:pic>
        <p:nvPicPr>
          <p:cNvPr id="13" name="Image 1" descr="preencoded.png">    </p:cNvPr>
          <p:cNvPicPr>
            <a:picLocks noChangeAspect="1"/>
          </p:cNvPicPr>
          <p:nvPr/>
        </p:nvPicPr>
        <p:blipFill>
          <a:blip r:embed="rId2"/>
          <a:stretch>
            <a:fillRect/>
          </a:stretch>
        </p:blipFill>
        <p:spPr>
          <a:xfrm>
            <a:off x="2345436" y="1453896"/>
            <a:ext cx="164592" cy="164592"/>
          </a:xfrm>
          <a:prstGeom prst="rect">
            <a:avLst/>
          </a:prstGeom>
        </p:spPr>
      </p:pic>
      <p:sp>
        <p:nvSpPr>
          <p:cNvPr id="14" name="Text 10"/>
          <p:cNvSpPr txBox="1"/>
          <p:nvPr/>
        </p:nvSpPr>
        <p:spPr>
          <a:xfrm>
            <a:off x="2263140" y="1783080"/>
            <a:ext cx="1234440" cy="411480"/>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Billable metric</a:t>
            </a:r>
            <a:endParaRPr lang="en-US" sz="1100" dirty="0"/>
          </a:p>
        </p:txBody>
      </p:sp>
      <p:sp>
        <p:nvSpPr>
          <p:cNvPr id="15" name="Text 11"/>
          <p:cNvSpPr txBox="1"/>
          <p:nvPr/>
        </p:nvSpPr>
        <p:spPr>
          <a:xfrm>
            <a:off x="2263140" y="2212848"/>
            <a:ext cx="1216152" cy="5029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Sum of seconds, grouped by hardware, model and kind</a:t>
            </a:r>
            <a:endParaRPr lang="en-US" sz="850" dirty="0"/>
          </a:p>
        </p:txBody>
      </p:sp>
      <p:sp>
        <p:nvSpPr>
          <p:cNvPr id="16" name="Shape 12"/>
          <p:cNvSpPr/>
          <p:nvPr/>
        </p:nvSpPr>
        <p:spPr>
          <a:xfrm>
            <a:off x="3648456" y="2103120"/>
            <a:ext cx="137160" cy="228600"/>
          </a:xfrm>
          <a:prstGeom prst="chevron">
            <a:avLst/>
          </a:prstGeom>
          <a:solidFill>
            <a:srgbClr val="2EAC67"/>
          </a:solidFill>
          <a:ln w="12700">
            <a:solidFill>
              <a:srgbClr val="2EAC67"/>
            </a:solidFill>
            <a:prstDash val="solid"/>
          </a:ln>
        </p:spPr>
      </p:sp>
      <p:sp>
        <p:nvSpPr>
          <p:cNvPr id="17" name="Shape 13"/>
          <p:cNvSpPr/>
          <p:nvPr/>
        </p:nvSpPr>
        <p:spPr>
          <a:xfrm>
            <a:off x="3840480" y="1234440"/>
            <a:ext cx="1463040" cy="1965960"/>
          </a:xfrm>
          <a:prstGeom prst="roundRect">
            <a:avLst>
              <a:gd name="adj" fmla="val 5000"/>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8" name="Shape 14"/>
          <p:cNvSpPr/>
          <p:nvPr/>
        </p:nvSpPr>
        <p:spPr>
          <a:xfrm>
            <a:off x="3977640" y="1371600"/>
            <a:ext cx="329184" cy="329184"/>
          </a:xfrm>
          <a:prstGeom prst="ellipse">
            <a:avLst/>
          </a:prstGeom>
          <a:solidFill>
            <a:srgbClr val="C3EE8F"/>
          </a:solidFill>
          <a:ln w="12700">
            <a:solidFill>
              <a:srgbClr val="C3EE8F"/>
            </a:solidFill>
            <a:prstDash val="solid"/>
          </a:ln>
        </p:spPr>
      </p:sp>
      <p:pic>
        <p:nvPicPr>
          <p:cNvPr id="19" name="Image 2" descr="preencoded.png">    </p:cNvPr>
          <p:cNvPicPr>
            <a:picLocks noChangeAspect="1"/>
          </p:cNvPicPr>
          <p:nvPr/>
        </p:nvPicPr>
        <p:blipFill>
          <a:blip r:embed="rId3"/>
          <a:stretch>
            <a:fillRect/>
          </a:stretch>
        </p:blipFill>
        <p:spPr>
          <a:xfrm>
            <a:off x="4059936" y="1453896"/>
            <a:ext cx="164592" cy="164592"/>
          </a:xfrm>
          <a:prstGeom prst="rect">
            <a:avLst/>
          </a:prstGeom>
        </p:spPr>
      </p:pic>
      <p:sp>
        <p:nvSpPr>
          <p:cNvPr id="20" name="Text 15"/>
          <p:cNvSpPr txBox="1"/>
          <p:nvPr/>
        </p:nvSpPr>
        <p:spPr>
          <a:xfrm>
            <a:off x="3977640" y="1783080"/>
            <a:ext cx="1234440" cy="411480"/>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Product + rate card</a:t>
            </a:r>
            <a:endParaRPr lang="en-US" sz="1100" dirty="0"/>
          </a:p>
        </p:txBody>
      </p:sp>
      <p:sp>
        <p:nvSpPr>
          <p:cNvPr id="21" name="Text 16"/>
          <p:cNvSpPr txBox="1"/>
          <p:nvPr/>
        </p:nvSpPr>
        <p:spPr>
          <a:xfrm>
            <a:off x="3977640" y="2212848"/>
            <a:ext cx="1216152" cy="5029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One compute product, one rate per machine type</a:t>
            </a:r>
            <a:endParaRPr lang="en-US" sz="850" dirty="0"/>
          </a:p>
        </p:txBody>
      </p:sp>
      <p:sp>
        <p:nvSpPr>
          <p:cNvPr id="22" name="Text 17"/>
          <p:cNvSpPr txBox="1"/>
          <p:nvPr/>
        </p:nvSpPr>
        <p:spPr>
          <a:xfrm>
            <a:off x="3977640" y="2724912"/>
            <a:ext cx="1234440" cy="411480"/>
          </a:xfrm>
          <a:prstGeom prst="rect">
            <a:avLst/>
          </a:prstGeom>
          <a:noFill/>
          <a:ln/>
        </p:spPr>
        <p:txBody>
          <a:bodyPr wrap="square" lIns="0" tIns="0" rIns="0" bIns="0" rtlCol="0" anchor="t"/>
          <a:lstStyle/>
          <a:p>
            <a:pPr indent="0" marL="0">
              <a:buNone/>
            </a:pPr>
            <a:r>
              <a:rPr lang="en-US" sz="800" b="1" dirty="0">
                <a:solidFill>
                  <a:srgbClr val="125B49"/>
                </a:solidFill>
                <a:latin typeface="Roboto Mono" pitchFamily="34" charset="0"/>
                <a:ea typeface="Roboto Mono" pitchFamily="34" charset="-122"/>
                <a:cs typeface="Roboto Mono" pitchFamily="34" charset="-120"/>
              </a:rPr>
              <a:t>A100 80GB: $5.04 / hour</a:t>
            </a:r>
            <a:endParaRPr lang="en-US" sz="800" dirty="0"/>
          </a:p>
        </p:txBody>
      </p:sp>
      <p:sp>
        <p:nvSpPr>
          <p:cNvPr id="23" name="Shape 18"/>
          <p:cNvSpPr/>
          <p:nvPr/>
        </p:nvSpPr>
        <p:spPr>
          <a:xfrm>
            <a:off x="5362956" y="2103120"/>
            <a:ext cx="137160" cy="228600"/>
          </a:xfrm>
          <a:prstGeom prst="chevron">
            <a:avLst/>
          </a:prstGeom>
          <a:solidFill>
            <a:srgbClr val="2EAC67"/>
          </a:solidFill>
          <a:ln w="12700">
            <a:solidFill>
              <a:srgbClr val="2EAC67"/>
            </a:solidFill>
            <a:prstDash val="solid"/>
          </a:ln>
        </p:spPr>
      </p:sp>
      <p:sp>
        <p:nvSpPr>
          <p:cNvPr id="24" name="Shape 19"/>
          <p:cNvSpPr/>
          <p:nvPr/>
        </p:nvSpPr>
        <p:spPr>
          <a:xfrm>
            <a:off x="5554980" y="1234440"/>
            <a:ext cx="1463040" cy="1965960"/>
          </a:xfrm>
          <a:prstGeom prst="roundRect">
            <a:avLst>
              <a:gd name="adj" fmla="val 5000"/>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25" name="Shape 20"/>
          <p:cNvSpPr/>
          <p:nvPr/>
        </p:nvSpPr>
        <p:spPr>
          <a:xfrm>
            <a:off x="5692140" y="1371600"/>
            <a:ext cx="329184" cy="329184"/>
          </a:xfrm>
          <a:prstGeom prst="ellipse">
            <a:avLst/>
          </a:prstGeom>
          <a:solidFill>
            <a:srgbClr val="C3EE8F"/>
          </a:solidFill>
          <a:ln w="12700">
            <a:solidFill>
              <a:srgbClr val="C3EE8F"/>
            </a:solidFill>
            <a:prstDash val="solid"/>
          </a:ln>
        </p:spPr>
      </p:sp>
      <p:pic>
        <p:nvPicPr>
          <p:cNvPr id="26" name="Image 3" descr="preencoded.png">    </p:cNvPr>
          <p:cNvPicPr>
            <a:picLocks noChangeAspect="1"/>
          </p:cNvPicPr>
          <p:nvPr/>
        </p:nvPicPr>
        <p:blipFill>
          <a:blip r:embed="rId4"/>
          <a:stretch>
            <a:fillRect/>
          </a:stretch>
        </p:blipFill>
        <p:spPr>
          <a:xfrm>
            <a:off x="5774436" y="1453896"/>
            <a:ext cx="164592" cy="164592"/>
          </a:xfrm>
          <a:prstGeom prst="rect">
            <a:avLst/>
          </a:prstGeom>
        </p:spPr>
      </p:pic>
      <p:sp>
        <p:nvSpPr>
          <p:cNvPr id="27" name="Text 21"/>
          <p:cNvSpPr txBox="1"/>
          <p:nvPr/>
        </p:nvSpPr>
        <p:spPr>
          <a:xfrm>
            <a:off x="5692140" y="1783080"/>
            <a:ext cx="1234440" cy="411480"/>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Contract</a:t>
            </a:r>
            <a:endParaRPr lang="en-US" sz="1100" dirty="0"/>
          </a:p>
        </p:txBody>
      </p:sp>
      <p:sp>
        <p:nvSpPr>
          <p:cNvPr id="28" name="Text 22"/>
          <p:cNvSpPr txBox="1"/>
          <p:nvPr/>
        </p:nvSpPr>
        <p:spPr>
          <a:xfrm>
            <a:off x="5692140" y="2212848"/>
            <a:ext cx="1216152" cy="5029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Each customer’s terms on top of the list price</a:t>
            </a:r>
            <a:endParaRPr lang="en-US" sz="850" dirty="0"/>
          </a:p>
        </p:txBody>
      </p:sp>
      <p:sp>
        <p:nvSpPr>
          <p:cNvPr id="29" name="Text 23"/>
          <p:cNvSpPr txBox="1"/>
          <p:nvPr/>
        </p:nvSpPr>
        <p:spPr>
          <a:xfrm>
            <a:off x="5692140" y="2724912"/>
            <a:ext cx="1234440" cy="411480"/>
          </a:xfrm>
          <a:prstGeom prst="rect">
            <a:avLst/>
          </a:prstGeom>
          <a:noFill/>
          <a:ln/>
        </p:spPr>
        <p:txBody>
          <a:bodyPr wrap="square" lIns="0" tIns="0" rIns="0" bIns="0" rtlCol="0" anchor="t"/>
          <a:lstStyle/>
          <a:p>
            <a:pPr indent="0" marL="0">
              <a:buNone/>
            </a:pPr>
            <a:r>
              <a:rPr lang="en-US" sz="800" b="1" dirty="0">
                <a:solidFill>
                  <a:srgbClr val="125B49"/>
                </a:solidFill>
                <a:latin typeface="Roboto Mono" pitchFamily="34" charset="0"/>
                <a:ea typeface="Roboto Mono" pitchFamily="34" charset="-122"/>
                <a:cs typeface="Roboto Mono" pitchFamily="34" charset="-120"/>
              </a:rPr>
              <a:t>trial credit · Pro Support · $100k commit at 15% off</a:t>
            </a:r>
            <a:endParaRPr lang="en-US" sz="800" dirty="0"/>
          </a:p>
        </p:txBody>
      </p:sp>
      <p:sp>
        <p:nvSpPr>
          <p:cNvPr id="30" name="Shape 24"/>
          <p:cNvSpPr/>
          <p:nvPr/>
        </p:nvSpPr>
        <p:spPr>
          <a:xfrm>
            <a:off x="7077456" y="2103120"/>
            <a:ext cx="137160" cy="228600"/>
          </a:xfrm>
          <a:prstGeom prst="chevron">
            <a:avLst/>
          </a:prstGeom>
          <a:solidFill>
            <a:srgbClr val="2EAC67"/>
          </a:solidFill>
          <a:ln w="12700">
            <a:solidFill>
              <a:srgbClr val="2EAC67"/>
            </a:solidFill>
            <a:prstDash val="solid"/>
          </a:ln>
        </p:spPr>
      </p:sp>
      <p:sp>
        <p:nvSpPr>
          <p:cNvPr id="31" name="Shape 25"/>
          <p:cNvSpPr/>
          <p:nvPr/>
        </p:nvSpPr>
        <p:spPr>
          <a:xfrm>
            <a:off x="7269480" y="1234440"/>
            <a:ext cx="1463040" cy="1965960"/>
          </a:xfrm>
          <a:prstGeom prst="roundRect">
            <a:avLst>
              <a:gd name="adj" fmla="val 5000"/>
            </a:avLst>
          </a:prstGeom>
          <a:solidFill>
            <a:srgbClr val="F1FFD0"/>
          </a:solidFill>
          <a:ln w="9525">
            <a:solidFill>
              <a:srgbClr val="DAF6AF"/>
            </a:solidFill>
            <a:prstDash val="solid"/>
          </a:ln>
          <a:effectLst>
            <a:outerShdw sx="100000" sy="100000" kx="0" ky="0" algn="bl" rotWithShape="0" blurRad="76200" dist="19050" dir="5400000">
              <a:srgbClr val="0D171A">
                <a:alpha val="8000"/>
              </a:srgbClr>
            </a:outerShdw>
          </a:effectLst>
        </p:spPr>
      </p:sp>
      <p:sp>
        <p:nvSpPr>
          <p:cNvPr id="32" name="Shape 26"/>
          <p:cNvSpPr/>
          <p:nvPr/>
        </p:nvSpPr>
        <p:spPr>
          <a:xfrm>
            <a:off x="7406640" y="1371600"/>
            <a:ext cx="329184" cy="329184"/>
          </a:xfrm>
          <a:prstGeom prst="ellipse">
            <a:avLst/>
          </a:prstGeom>
          <a:solidFill>
            <a:srgbClr val="C3EE8F"/>
          </a:solidFill>
          <a:ln w="12700">
            <a:solidFill>
              <a:srgbClr val="C3EE8F"/>
            </a:solidFill>
            <a:prstDash val="solid"/>
          </a:ln>
        </p:spPr>
      </p:sp>
      <p:pic>
        <p:nvPicPr>
          <p:cNvPr id="33" name="Image 4" descr="preencoded.png">    </p:cNvPr>
          <p:cNvPicPr>
            <a:picLocks noChangeAspect="1"/>
          </p:cNvPicPr>
          <p:nvPr/>
        </p:nvPicPr>
        <p:blipFill>
          <a:blip r:embed="rId5"/>
          <a:stretch>
            <a:fillRect/>
          </a:stretch>
        </p:blipFill>
        <p:spPr>
          <a:xfrm>
            <a:off x="7488936" y="1453896"/>
            <a:ext cx="164592" cy="164592"/>
          </a:xfrm>
          <a:prstGeom prst="rect">
            <a:avLst/>
          </a:prstGeom>
        </p:spPr>
      </p:pic>
      <p:sp>
        <p:nvSpPr>
          <p:cNvPr id="34" name="Text 27"/>
          <p:cNvSpPr txBox="1"/>
          <p:nvPr/>
        </p:nvSpPr>
        <p:spPr>
          <a:xfrm>
            <a:off x="7406640" y="1783080"/>
            <a:ext cx="1234440" cy="411480"/>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Invoices · balances · alerts</a:t>
            </a:r>
            <a:endParaRPr lang="en-US" sz="1100" dirty="0"/>
          </a:p>
        </p:txBody>
      </p:sp>
      <p:sp>
        <p:nvSpPr>
          <p:cNvPr id="35" name="Text 28"/>
          <p:cNvSpPr txBox="1"/>
          <p:nvPr/>
        </p:nvSpPr>
        <p:spPr>
          <a:xfrm>
            <a:off x="7406640" y="2212848"/>
            <a:ext cx="1216152" cy="5029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Updated as usage lands</a:t>
            </a:r>
            <a:endParaRPr lang="en-US" sz="850" dirty="0"/>
          </a:p>
        </p:txBody>
      </p:sp>
      <p:sp>
        <p:nvSpPr>
          <p:cNvPr id="36" name="Text 29"/>
          <p:cNvSpPr txBox="1"/>
          <p:nvPr/>
        </p:nvSpPr>
        <p:spPr>
          <a:xfrm>
            <a:off x="7406640" y="2724912"/>
            <a:ext cx="1234440" cy="411480"/>
          </a:xfrm>
          <a:prstGeom prst="rect">
            <a:avLst/>
          </a:prstGeom>
          <a:noFill/>
          <a:ln/>
        </p:spPr>
        <p:txBody>
          <a:bodyPr wrap="square" lIns="0" tIns="0" rIns="0" bIns="0" rtlCol="0" anchor="t"/>
          <a:lstStyle/>
          <a:p>
            <a:pPr indent="0" marL="0">
              <a:buNone/>
            </a:pPr>
            <a:r>
              <a:rPr lang="en-US" sz="800" b="1" dirty="0">
                <a:solidFill>
                  <a:srgbClr val="125B49"/>
                </a:solidFill>
                <a:latin typeface="Roboto Mono" pitchFamily="34" charset="0"/>
                <a:ea typeface="Roboto Mono" pitchFamily="34" charset="-122"/>
                <a:cs typeface="Roboto Mono" pitchFamily="34" charset="-120"/>
              </a:rPr>
              <a:t>to Stripe, NetSuite, Salesforce</a:t>
            </a:r>
            <a:endParaRPr lang="en-US" sz="800" dirty="0"/>
          </a:p>
        </p:txBody>
      </p:sp>
      <p:sp>
        <p:nvSpPr>
          <p:cNvPr id="37" name="Text 30"/>
          <p:cNvSpPr txBox="1"/>
          <p:nvPr/>
        </p:nvSpPr>
        <p:spPr>
          <a:xfrm>
            <a:off x="457200" y="3364992"/>
            <a:ext cx="8229600" cy="411480"/>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Engineering instruments once. </a:t>
            </a:r>
            <a:pPr indent="0" marL="0">
              <a:buNone/>
            </a:pPr>
            <a:r>
              <a:rPr lang="en-US" sz="1200" dirty="0">
                <a:solidFill>
                  <a:srgbClr val="0D171A"/>
                </a:solidFill>
                <a:latin typeface="Inter" pitchFamily="34" charset="0"/>
                <a:ea typeface="Inter" pitchFamily="34" charset="-122"/>
                <a:cs typeface="Inter" pitchFamily="34" charset="-120"/>
              </a:rPr>
              <a:t>Product and finance change prices, launch SKUs and sign custom contracts in the rate card and contracts, with no code change.</a:t>
            </a:r>
            <a:endParaRPr lang="en-US" sz="1200" dirty="0"/>
          </a:p>
        </p:txBody>
      </p:sp>
      <p:sp>
        <p:nvSpPr>
          <p:cNvPr id="38" name="Shape 31"/>
          <p:cNvSpPr/>
          <p:nvPr/>
        </p:nvSpPr>
        <p:spPr>
          <a:xfrm>
            <a:off x="457200" y="3886200"/>
            <a:ext cx="2633472" cy="713232"/>
          </a:xfrm>
          <a:prstGeom prst="roundRect">
            <a:avLst>
              <a:gd name="adj" fmla="val 10256"/>
            </a:avLst>
          </a:prstGeom>
          <a:solidFill>
            <a:srgbClr val="F1F2ED"/>
          </a:solidFill>
          <a:ln w="9525">
            <a:solidFill>
              <a:srgbClr val="E5E7DD"/>
            </a:solidFill>
            <a:prstDash val="solid"/>
          </a:ln>
        </p:spPr>
      </p:sp>
      <p:sp>
        <p:nvSpPr>
          <p:cNvPr id="39" name="Text 32"/>
          <p:cNvSpPr txBox="1"/>
          <p:nvPr/>
        </p:nvSpPr>
        <p:spPr>
          <a:xfrm>
            <a:off x="621792" y="3959352"/>
            <a:ext cx="2377440" cy="274320"/>
          </a:xfrm>
          <a:prstGeom prst="rect">
            <a:avLst/>
          </a:prstGeom>
          <a:noFill/>
          <a:ln/>
        </p:spPr>
        <p:txBody>
          <a:bodyPr wrap="square" lIns="0" tIns="0" rIns="0" bIns="0" rtlCol="0" anchor="t"/>
          <a:lstStyle/>
          <a:p>
            <a:pPr indent="0" marL="0">
              <a:buNone/>
            </a:pPr>
            <a:r>
              <a:rPr lang="en-US" sz="1250" b="1" dirty="0">
                <a:solidFill>
                  <a:srgbClr val="125B49"/>
                </a:solidFill>
                <a:latin typeface="Inter" pitchFamily="34" charset="0"/>
                <a:ea typeface="Inter" pitchFamily="34" charset="-122"/>
                <a:cs typeface="Inter" pitchFamily="34" charset="-120"/>
              </a:rPr>
              <a:t>A Stripe product</a:t>
            </a:r>
            <a:endParaRPr lang="en-US" sz="1250" dirty="0"/>
          </a:p>
        </p:txBody>
      </p:sp>
      <p:sp>
        <p:nvSpPr>
          <p:cNvPr id="40" name="Text 33"/>
          <p:cNvSpPr txBox="1"/>
          <p:nvPr/>
        </p:nvSpPr>
        <p:spPr>
          <a:xfrm>
            <a:off x="621792" y="4242816"/>
            <a:ext cx="2377440" cy="2743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Stripe completed the acquisition in January 2026</a:t>
            </a:r>
            <a:endParaRPr lang="en-US" sz="850" dirty="0"/>
          </a:p>
        </p:txBody>
      </p:sp>
      <p:sp>
        <p:nvSpPr>
          <p:cNvPr id="41" name="Shape 34"/>
          <p:cNvSpPr/>
          <p:nvPr/>
        </p:nvSpPr>
        <p:spPr>
          <a:xfrm>
            <a:off x="3236976" y="3886200"/>
            <a:ext cx="2633472" cy="713232"/>
          </a:xfrm>
          <a:prstGeom prst="roundRect">
            <a:avLst>
              <a:gd name="adj" fmla="val 10256"/>
            </a:avLst>
          </a:prstGeom>
          <a:solidFill>
            <a:srgbClr val="F1F2ED"/>
          </a:solidFill>
          <a:ln w="9525">
            <a:solidFill>
              <a:srgbClr val="E5E7DD"/>
            </a:solidFill>
            <a:prstDash val="solid"/>
          </a:ln>
        </p:spPr>
      </p:sp>
      <p:sp>
        <p:nvSpPr>
          <p:cNvPr id="42" name="Text 35"/>
          <p:cNvSpPr txBox="1"/>
          <p:nvPr/>
        </p:nvSpPr>
        <p:spPr>
          <a:xfrm>
            <a:off x="3401568" y="3959352"/>
            <a:ext cx="2377440" cy="274320"/>
          </a:xfrm>
          <a:prstGeom prst="rect">
            <a:avLst/>
          </a:prstGeom>
          <a:noFill/>
          <a:ln/>
        </p:spPr>
        <p:txBody>
          <a:bodyPr wrap="square" lIns="0" tIns="0" rIns="0" bIns="0" rtlCol="0" anchor="t"/>
          <a:lstStyle/>
          <a:p>
            <a:pPr indent="0" marL="0">
              <a:buNone/>
            </a:pPr>
            <a:r>
              <a:rPr lang="en-US" sz="1250" b="1" dirty="0">
                <a:solidFill>
                  <a:srgbClr val="125B49"/>
                </a:solidFill>
                <a:latin typeface="Inter" pitchFamily="34" charset="0"/>
                <a:ea typeface="Inter" pitchFamily="34" charset="-122"/>
                <a:cs typeface="Inter" pitchFamily="34" charset="-120"/>
              </a:rPr>
              <a:t>OpenAI · Anthropic · NVIDIA</a:t>
            </a:r>
            <a:endParaRPr lang="en-US" sz="1250" dirty="0"/>
          </a:p>
        </p:txBody>
      </p:sp>
      <p:sp>
        <p:nvSpPr>
          <p:cNvPr id="43" name="Text 36"/>
          <p:cNvSpPr txBox="1"/>
          <p:nvPr/>
        </p:nvSpPr>
        <p:spPr>
          <a:xfrm>
            <a:off x="3401568" y="4242816"/>
            <a:ext cx="2377440" cy="2743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already run on Metronome’s metering engine</a:t>
            </a:r>
            <a:endParaRPr lang="en-US" sz="850" dirty="0"/>
          </a:p>
        </p:txBody>
      </p:sp>
      <p:sp>
        <p:nvSpPr>
          <p:cNvPr id="44" name="Shape 37"/>
          <p:cNvSpPr/>
          <p:nvPr/>
        </p:nvSpPr>
        <p:spPr>
          <a:xfrm>
            <a:off x="6016752" y="3886200"/>
            <a:ext cx="2633472" cy="713232"/>
          </a:xfrm>
          <a:prstGeom prst="roundRect">
            <a:avLst>
              <a:gd name="adj" fmla="val 10256"/>
            </a:avLst>
          </a:prstGeom>
          <a:solidFill>
            <a:srgbClr val="F1F2ED"/>
          </a:solidFill>
          <a:ln w="9525">
            <a:solidFill>
              <a:srgbClr val="E5E7DD"/>
            </a:solidFill>
            <a:prstDash val="solid"/>
          </a:ln>
        </p:spPr>
      </p:sp>
      <p:sp>
        <p:nvSpPr>
          <p:cNvPr id="45" name="Text 38"/>
          <p:cNvSpPr txBox="1"/>
          <p:nvPr/>
        </p:nvSpPr>
        <p:spPr>
          <a:xfrm>
            <a:off x="6181344" y="3959352"/>
            <a:ext cx="2377440" cy="274320"/>
          </a:xfrm>
          <a:prstGeom prst="rect">
            <a:avLst/>
          </a:prstGeom>
          <a:noFill/>
          <a:ln/>
        </p:spPr>
        <p:txBody>
          <a:bodyPr wrap="square" lIns="0" tIns="0" rIns="0" bIns="0" rtlCol="0" anchor="t"/>
          <a:lstStyle/>
          <a:p>
            <a:pPr indent="0" marL="0">
              <a:buNone/>
            </a:pPr>
            <a:r>
              <a:rPr lang="en-US" sz="1250" b="1" dirty="0">
                <a:solidFill>
                  <a:srgbClr val="125B49"/>
                </a:solidFill>
                <a:latin typeface="Inter" pitchFamily="34" charset="0"/>
                <a:ea typeface="Inter" pitchFamily="34" charset="-122"/>
                <a:cs typeface="Inter" pitchFamily="34" charset="-120"/>
              </a:rPr>
              <a:t>110,000 events / second</a:t>
            </a:r>
            <a:endParaRPr lang="en-US" sz="1250" dirty="0"/>
          </a:p>
        </p:txBody>
      </p:sp>
      <p:sp>
        <p:nvSpPr>
          <p:cNvPr id="46" name="Text 39"/>
          <p:cNvSpPr txBox="1"/>
          <p:nvPr/>
        </p:nvSpPr>
        <p:spPr>
          <a:xfrm>
            <a:off x="6181344" y="4242816"/>
            <a:ext cx="2377440" cy="274320"/>
          </a:xfrm>
          <a:prstGeom prst="rect">
            <a:avLst/>
          </a:prstGeom>
          <a:noFill/>
          <a:ln/>
        </p:spPr>
        <p:txBody>
          <a:bodyPr wrap="square" lIns="0" tIns="0" rIns="0" bIns="0" rtlCol="0" anchor="t"/>
          <a:lstStyle/>
          <a:p>
            <a:pPr indent="0" marL="0">
              <a:buNone/>
            </a:pPr>
            <a:r>
              <a:rPr lang="en-US" sz="850" dirty="0">
                <a:solidFill>
                  <a:srgbClr val="565F5F"/>
                </a:solidFill>
                <a:latin typeface="Inter" pitchFamily="34" charset="0"/>
                <a:ea typeface="Inter" pitchFamily="34" charset="-122"/>
                <a:cs typeface="Inter" pitchFamily="34" charset="-120"/>
              </a:rPr>
              <a:t>without pre-aggregation (Metronome docs)</a:t>
            </a:r>
            <a:endParaRPr lang="en-US" sz="8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WHERE METRONOME FITS</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Between your platform and your quote-to-cash</a:t>
            </a:r>
            <a:endParaRPr lang="en-US" sz="2400" dirty="0"/>
          </a:p>
        </p:txBody>
      </p:sp>
      <p:pic>
        <p:nvPicPr>
          <p:cNvPr id="4" name="Image 0" descr="preencoded.png">    </p:cNvPr>
          <p:cNvPicPr>
            <a:picLocks noChangeAspect="1"/>
          </p:cNvPicPr>
          <p:nvPr/>
        </p:nvPicPr>
        <p:blipFill>
          <a:blip r:embed="rId1"/>
          <a:stretch>
            <a:fillRect/>
          </a:stretch>
        </p:blipFill>
        <p:spPr>
          <a:xfrm>
            <a:off x="457200" y="1243584"/>
            <a:ext cx="201168" cy="201168"/>
          </a:xfrm>
          <a:prstGeom prst="rect">
            <a:avLst/>
          </a:prstGeom>
        </p:spPr>
      </p:pic>
      <p:sp>
        <p:nvSpPr>
          <p:cNvPr id="5" name="Text 2"/>
          <p:cNvSpPr txBox="1"/>
          <p:nvPr/>
        </p:nvSpPr>
        <p:spPr>
          <a:xfrm>
            <a:off x="749808" y="1225296"/>
            <a:ext cx="1737360" cy="237744"/>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Replicate platform</a:t>
            </a:r>
            <a:endParaRPr lang="en-US" sz="1100" dirty="0"/>
          </a:p>
        </p:txBody>
      </p:sp>
      <p:sp>
        <p:nvSpPr>
          <p:cNvPr id="6" name="Shape 3"/>
          <p:cNvSpPr/>
          <p:nvPr/>
        </p:nvSpPr>
        <p:spPr>
          <a:xfrm>
            <a:off x="457200" y="1600200"/>
            <a:ext cx="2057400" cy="530352"/>
          </a:xfrm>
          <a:prstGeom prst="roundRect">
            <a:avLst>
              <a:gd name="adj" fmla="val 13793"/>
            </a:avLst>
          </a:prstGeom>
          <a:solidFill>
            <a:srgbClr val="FFFFFF"/>
          </a:solidFill>
          <a:ln w="9525">
            <a:solidFill>
              <a:srgbClr val="E5E7DD"/>
            </a:solidFill>
            <a:prstDash val="solid"/>
          </a:ln>
        </p:spPr>
      </p:sp>
      <p:sp>
        <p:nvSpPr>
          <p:cNvPr id="7" name="Text 4"/>
          <p:cNvSpPr txBox="1"/>
          <p:nvPr/>
        </p:nvSpPr>
        <p:spPr>
          <a:xfrm>
            <a:off x="566928" y="1600200"/>
            <a:ext cx="1874520" cy="530352"/>
          </a:xfrm>
          <a:prstGeom prst="rect">
            <a:avLst/>
          </a:prstGeom>
          <a:noFill/>
          <a:ln/>
        </p:spPr>
        <p:txBody>
          <a:bodyPr wrap="square" lIns="0" tIns="0" rIns="0" bIns="0" rtlCol="0" anchor="ctr"/>
          <a:lstStyle/>
          <a:p>
            <a:pPr indent="0" marL="0">
              <a:buNone/>
            </a:pPr>
            <a:r>
              <a:rPr lang="en-US" sz="950" dirty="0">
                <a:solidFill>
                  <a:srgbClr val="0D171A"/>
                </a:solidFill>
                <a:latin typeface="Inter" pitchFamily="34" charset="0"/>
                <a:ea typeface="Inter" pitchFamily="34" charset="-122"/>
                <a:cs typeface="Inter" pitchFamily="34" charset="-120"/>
              </a:rPr>
              <a:t>Predictions API (public models)</a:t>
            </a:r>
            <a:endParaRPr lang="en-US" sz="950" dirty="0"/>
          </a:p>
        </p:txBody>
      </p:sp>
      <p:sp>
        <p:nvSpPr>
          <p:cNvPr id="8" name="Shape 5"/>
          <p:cNvSpPr/>
          <p:nvPr/>
        </p:nvSpPr>
        <p:spPr>
          <a:xfrm>
            <a:off x="457200" y="2267712"/>
            <a:ext cx="2057400" cy="530352"/>
          </a:xfrm>
          <a:prstGeom prst="roundRect">
            <a:avLst>
              <a:gd name="adj" fmla="val 13793"/>
            </a:avLst>
          </a:prstGeom>
          <a:solidFill>
            <a:srgbClr val="FFFFFF"/>
          </a:solidFill>
          <a:ln w="9525">
            <a:solidFill>
              <a:srgbClr val="E5E7DD"/>
            </a:solidFill>
            <a:prstDash val="solid"/>
          </a:ln>
        </p:spPr>
      </p:sp>
      <p:sp>
        <p:nvSpPr>
          <p:cNvPr id="9" name="Text 6"/>
          <p:cNvSpPr txBox="1"/>
          <p:nvPr/>
        </p:nvSpPr>
        <p:spPr>
          <a:xfrm>
            <a:off x="566928" y="2267712"/>
            <a:ext cx="1874520" cy="530352"/>
          </a:xfrm>
          <a:prstGeom prst="rect">
            <a:avLst/>
          </a:prstGeom>
          <a:noFill/>
          <a:ln/>
        </p:spPr>
        <p:txBody>
          <a:bodyPr wrap="square" lIns="0" tIns="0" rIns="0" bIns="0" rtlCol="0" anchor="ctr"/>
          <a:lstStyle/>
          <a:p>
            <a:pPr indent="0" marL="0">
              <a:buNone/>
            </a:pPr>
            <a:r>
              <a:rPr lang="en-US" sz="950" dirty="0">
                <a:solidFill>
                  <a:srgbClr val="0D171A"/>
                </a:solidFill>
                <a:latin typeface="Inter" pitchFamily="34" charset="0"/>
                <a:ea typeface="Inter" pitchFamily="34" charset="-122"/>
                <a:cs typeface="Inter" pitchFamily="34" charset="-120"/>
              </a:rPr>
              <a:t>Deployments &amp; trainings (private)</a:t>
            </a:r>
            <a:endParaRPr lang="en-US" sz="950" dirty="0"/>
          </a:p>
        </p:txBody>
      </p:sp>
      <p:sp>
        <p:nvSpPr>
          <p:cNvPr id="10" name="Shape 7"/>
          <p:cNvSpPr/>
          <p:nvPr/>
        </p:nvSpPr>
        <p:spPr>
          <a:xfrm>
            <a:off x="457200" y="2935224"/>
            <a:ext cx="2057400" cy="530352"/>
          </a:xfrm>
          <a:prstGeom prst="roundRect">
            <a:avLst>
              <a:gd name="adj" fmla="val 13793"/>
            </a:avLst>
          </a:prstGeom>
          <a:solidFill>
            <a:srgbClr val="FFFFFF"/>
          </a:solidFill>
          <a:ln w="9525">
            <a:solidFill>
              <a:srgbClr val="E5E7DD"/>
            </a:solidFill>
            <a:prstDash val="solid"/>
          </a:ln>
        </p:spPr>
      </p:sp>
      <p:sp>
        <p:nvSpPr>
          <p:cNvPr id="11" name="Text 8"/>
          <p:cNvSpPr txBox="1"/>
          <p:nvPr/>
        </p:nvSpPr>
        <p:spPr>
          <a:xfrm>
            <a:off x="566928" y="2935224"/>
            <a:ext cx="1874520" cy="530352"/>
          </a:xfrm>
          <a:prstGeom prst="rect">
            <a:avLst/>
          </a:prstGeom>
          <a:noFill/>
          <a:ln/>
        </p:spPr>
        <p:txBody>
          <a:bodyPr wrap="square" lIns="0" tIns="0" rIns="0" bIns="0" rtlCol="0" anchor="ctr"/>
          <a:lstStyle/>
          <a:p>
            <a:pPr indent="0" marL="0">
              <a:buNone/>
            </a:pPr>
            <a:r>
              <a:rPr lang="en-US" sz="950" dirty="0">
                <a:solidFill>
                  <a:srgbClr val="0D171A"/>
                </a:solidFill>
                <a:latin typeface="Inter" pitchFamily="34" charset="0"/>
                <a:ea typeface="Inter" pitchFamily="34" charset="-122"/>
                <a:cs typeface="Inter" pitchFamily="34" charset="-120"/>
              </a:rPr>
              <a:t>Sign-up &amp; account pages</a:t>
            </a:r>
            <a:endParaRPr lang="en-US" sz="950" dirty="0"/>
          </a:p>
        </p:txBody>
      </p:sp>
      <p:sp>
        <p:nvSpPr>
          <p:cNvPr id="12" name="Shape 9"/>
          <p:cNvSpPr/>
          <p:nvPr/>
        </p:nvSpPr>
        <p:spPr>
          <a:xfrm>
            <a:off x="457200" y="3602736"/>
            <a:ext cx="2057400" cy="530352"/>
          </a:xfrm>
          <a:prstGeom prst="roundRect">
            <a:avLst>
              <a:gd name="adj" fmla="val 13793"/>
            </a:avLst>
          </a:prstGeom>
          <a:solidFill>
            <a:srgbClr val="FFFFFF"/>
          </a:solidFill>
          <a:ln w="9525">
            <a:solidFill>
              <a:srgbClr val="E5E7DD"/>
            </a:solidFill>
            <a:prstDash val="solid"/>
          </a:ln>
        </p:spPr>
      </p:sp>
      <p:sp>
        <p:nvSpPr>
          <p:cNvPr id="13" name="Text 10"/>
          <p:cNvSpPr txBox="1"/>
          <p:nvPr/>
        </p:nvSpPr>
        <p:spPr>
          <a:xfrm>
            <a:off x="566928" y="3602736"/>
            <a:ext cx="1874520" cy="530352"/>
          </a:xfrm>
          <a:prstGeom prst="rect">
            <a:avLst/>
          </a:prstGeom>
          <a:noFill/>
          <a:ln/>
        </p:spPr>
        <p:txBody>
          <a:bodyPr wrap="square" lIns="0" tIns="0" rIns="0" bIns="0" rtlCol="0" anchor="ctr"/>
          <a:lstStyle/>
          <a:p>
            <a:pPr indent="0" marL="0">
              <a:buNone/>
            </a:pPr>
            <a:r>
              <a:rPr lang="en-US" sz="950" dirty="0">
                <a:solidFill>
                  <a:srgbClr val="0D171A"/>
                </a:solidFill>
                <a:latin typeface="Inter" pitchFamily="34" charset="0"/>
                <a:ea typeface="Inter" pitchFamily="34" charset="-122"/>
                <a:cs typeface="Inter" pitchFamily="34" charset="-120"/>
              </a:rPr>
              <a:t>Entitlements: who can run</a:t>
            </a:r>
            <a:endParaRPr lang="en-US" sz="950" dirty="0"/>
          </a:p>
        </p:txBody>
      </p:sp>
      <p:sp>
        <p:nvSpPr>
          <p:cNvPr id="14" name="Shape 11"/>
          <p:cNvSpPr/>
          <p:nvPr/>
        </p:nvSpPr>
        <p:spPr>
          <a:xfrm>
            <a:off x="2926080" y="1188720"/>
            <a:ext cx="3291840" cy="3401568"/>
          </a:xfrm>
          <a:prstGeom prst="roundRect">
            <a:avLst>
              <a:gd name="adj" fmla="val 2778"/>
            </a:avLst>
          </a:prstGeom>
          <a:solidFill>
            <a:srgbClr val="002F2C"/>
          </a:solidFill>
          <a:ln w="12700">
            <a:solidFill>
              <a:srgbClr val="002F2C"/>
            </a:solidFill>
            <a:prstDash val="solid"/>
          </a:ln>
        </p:spPr>
      </p:sp>
      <p:pic>
        <p:nvPicPr>
          <p:cNvPr id="15" name="Image 1" descr="preencoded.png">    </p:cNvPr>
          <p:cNvPicPr>
            <a:picLocks noChangeAspect="1"/>
          </p:cNvPicPr>
          <p:nvPr/>
        </p:nvPicPr>
        <p:blipFill>
          <a:blip r:embed="rId2"/>
          <a:stretch>
            <a:fillRect/>
          </a:stretch>
        </p:blipFill>
        <p:spPr>
          <a:xfrm>
            <a:off x="3154680" y="1344168"/>
            <a:ext cx="274320" cy="233172"/>
          </a:xfrm>
          <a:prstGeom prst="rect">
            <a:avLst/>
          </a:prstGeom>
        </p:spPr>
      </p:pic>
      <p:sp>
        <p:nvSpPr>
          <p:cNvPr id="16" name="Text 12"/>
          <p:cNvSpPr txBox="1"/>
          <p:nvPr/>
        </p:nvSpPr>
        <p:spPr>
          <a:xfrm>
            <a:off x="3520440" y="1316736"/>
            <a:ext cx="1828800" cy="274320"/>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Metronome</a:t>
            </a:r>
            <a:endParaRPr lang="en-US" sz="1200" dirty="0"/>
          </a:p>
        </p:txBody>
      </p:sp>
      <p:sp>
        <p:nvSpPr>
          <p:cNvPr id="17" name="Shape 13"/>
          <p:cNvSpPr/>
          <p:nvPr/>
        </p:nvSpPr>
        <p:spPr>
          <a:xfrm>
            <a:off x="3108960" y="1737360"/>
            <a:ext cx="2926080" cy="438912"/>
          </a:xfrm>
          <a:prstGeom prst="roundRect">
            <a:avLst>
              <a:gd name="adj" fmla="val 12500"/>
            </a:avLst>
          </a:prstGeom>
          <a:solidFill>
            <a:srgbClr val="003834"/>
          </a:solidFill>
          <a:ln w="12700">
            <a:solidFill>
              <a:srgbClr val="003834"/>
            </a:solidFill>
            <a:prstDash val="solid"/>
          </a:ln>
        </p:spPr>
      </p:sp>
      <p:sp>
        <p:nvSpPr>
          <p:cNvPr id="18" name="Text 14"/>
          <p:cNvSpPr txBox="1"/>
          <p:nvPr/>
        </p:nvSpPr>
        <p:spPr>
          <a:xfrm>
            <a:off x="3246120" y="1737360"/>
            <a:ext cx="731520" cy="438912"/>
          </a:xfrm>
          <a:prstGeom prst="rect">
            <a:avLst/>
          </a:prstGeom>
          <a:noFill/>
          <a:ln/>
        </p:spPr>
        <p:txBody>
          <a:bodyPr wrap="square" lIns="0" tIns="0" rIns="0" bIns="0" rtlCol="0" anchor="ctr"/>
          <a:lstStyle/>
          <a:p>
            <a:pPr indent="0" marL="0">
              <a:buNone/>
            </a:pPr>
            <a:r>
              <a:rPr lang="en-US" sz="950" b="1" dirty="0">
                <a:solidFill>
                  <a:srgbClr val="C3EE8F"/>
                </a:solidFill>
                <a:latin typeface="Inter" pitchFamily="34" charset="0"/>
                <a:ea typeface="Inter" pitchFamily="34" charset="-122"/>
                <a:cs typeface="Inter" pitchFamily="34" charset="-120"/>
              </a:rPr>
              <a:t>Ingest</a:t>
            </a:r>
            <a:endParaRPr lang="en-US" sz="950" dirty="0"/>
          </a:p>
        </p:txBody>
      </p:sp>
      <p:sp>
        <p:nvSpPr>
          <p:cNvPr id="19" name="Text 15"/>
          <p:cNvSpPr txBox="1"/>
          <p:nvPr/>
        </p:nvSpPr>
        <p:spPr>
          <a:xfrm>
            <a:off x="3977640" y="1737360"/>
            <a:ext cx="2011680" cy="438912"/>
          </a:xfrm>
          <a:prstGeom prst="rect">
            <a:avLst/>
          </a:prstGeom>
          <a:noFill/>
          <a:ln/>
        </p:spPr>
        <p:txBody>
          <a:bodyPr wrap="square" lIns="0" tIns="0" rIns="0" bIns="0" rtlCol="0" anchor="ctr"/>
          <a:lstStyle/>
          <a:p>
            <a:pPr indent="0" marL="0">
              <a:buNone/>
            </a:pPr>
            <a:r>
              <a:rPr lang="en-US" sz="900" dirty="0">
                <a:solidFill>
                  <a:srgbClr val="EEF3EF"/>
                </a:solidFill>
                <a:latin typeface="Inter" pitchFamily="34" charset="0"/>
                <a:ea typeface="Inter" pitchFamily="34" charset="-122"/>
                <a:cs typeface="Inter" pitchFamily="34" charset="-120"/>
              </a:rPr>
              <a:t>events by API, idempotent, 34-day backfill</a:t>
            </a:r>
            <a:endParaRPr lang="en-US" sz="900" dirty="0"/>
          </a:p>
        </p:txBody>
      </p:sp>
      <p:sp>
        <p:nvSpPr>
          <p:cNvPr id="20" name="Shape 16"/>
          <p:cNvSpPr/>
          <p:nvPr/>
        </p:nvSpPr>
        <p:spPr>
          <a:xfrm>
            <a:off x="3108960" y="2286000"/>
            <a:ext cx="2926080" cy="438912"/>
          </a:xfrm>
          <a:prstGeom prst="roundRect">
            <a:avLst>
              <a:gd name="adj" fmla="val 12500"/>
            </a:avLst>
          </a:prstGeom>
          <a:solidFill>
            <a:srgbClr val="003834"/>
          </a:solidFill>
          <a:ln w="12700">
            <a:solidFill>
              <a:srgbClr val="003834"/>
            </a:solidFill>
            <a:prstDash val="solid"/>
          </a:ln>
        </p:spPr>
      </p:sp>
      <p:sp>
        <p:nvSpPr>
          <p:cNvPr id="21" name="Text 17"/>
          <p:cNvSpPr txBox="1"/>
          <p:nvPr/>
        </p:nvSpPr>
        <p:spPr>
          <a:xfrm>
            <a:off x="3246120" y="2286000"/>
            <a:ext cx="731520" cy="438912"/>
          </a:xfrm>
          <a:prstGeom prst="rect">
            <a:avLst/>
          </a:prstGeom>
          <a:noFill/>
          <a:ln/>
        </p:spPr>
        <p:txBody>
          <a:bodyPr wrap="square" lIns="0" tIns="0" rIns="0" bIns="0" rtlCol="0" anchor="ctr"/>
          <a:lstStyle/>
          <a:p>
            <a:pPr indent="0" marL="0">
              <a:buNone/>
            </a:pPr>
            <a:r>
              <a:rPr lang="en-US" sz="950" b="1" dirty="0">
                <a:solidFill>
                  <a:srgbClr val="C3EE8F"/>
                </a:solidFill>
                <a:latin typeface="Inter" pitchFamily="34" charset="0"/>
                <a:ea typeface="Inter" pitchFamily="34" charset="-122"/>
                <a:cs typeface="Inter" pitchFamily="34" charset="-120"/>
              </a:rPr>
              <a:t>Price</a:t>
            </a:r>
            <a:endParaRPr lang="en-US" sz="950" dirty="0"/>
          </a:p>
        </p:txBody>
      </p:sp>
      <p:sp>
        <p:nvSpPr>
          <p:cNvPr id="22" name="Text 18"/>
          <p:cNvSpPr txBox="1"/>
          <p:nvPr/>
        </p:nvSpPr>
        <p:spPr>
          <a:xfrm>
            <a:off x="3977640" y="2286000"/>
            <a:ext cx="2011680" cy="438912"/>
          </a:xfrm>
          <a:prstGeom prst="rect">
            <a:avLst/>
          </a:prstGeom>
          <a:noFill/>
          <a:ln/>
        </p:spPr>
        <p:txBody>
          <a:bodyPr wrap="square" lIns="0" tIns="0" rIns="0" bIns="0" rtlCol="0" anchor="ctr"/>
          <a:lstStyle/>
          <a:p>
            <a:pPr indent="0" marL="0">
              <a:buNone/>
            </a:pPr>
            <a:r>
              <a:rPr lang="en-US" sz="900" dirty="0">
                <a:solidFill>
                  <a:srgbClr val="EEF3EF"/>
                </a:solidFill>
                <a:latin typeface="Inter" pitchFamily="34" charset="0"/>
                <a:ea typeface="Inter" pitchFamily="34" charset="-122"/>
                <a:cs typeface="Inter" pitchFamily="34" charset="-120"/>
              </a:rPr>
              <a:t>billable metrics, rate card, packages</a:t>
            </a:r>
            <a:endParaRPr lang="en-US" sz="900" dirty="0"/>
          </a:p>
        </p:txBody>
      </p:sp>
      <p:sp>
        <p:nvSpPr>
          <p:cNvPr id="23" name="Shape 19"/>
          <p:cNvSpPr/>
          <p:nvPr/>
        </p:nvSpPr>
        <p:spPr>
          <a:xfrm>
            <a:off x="3108960" y="2834640"/>
            <a:ext cx="2926080" cy="438912"/>
          </a:xfrm>
          <a:prstGeom prst="roundRect">
            <a:avLst>
              <a:gd name="adj" fmla="val 12500"/>
            </a:avLst>
          </a:prstGeom>
          <a:solidFill>
            <a:srgbClr val="003834"/>
          </a:solidFill>
          <a:ln w="12700">
            <a:solidFill>
              <a:srgbClr val="003834"/>
            </a:solidFill>
            <a:prstDash val="solid"/>
          </a:ln>
        </p:spPr>
      </p:sp>
      <p:sp>
        <p:nvSpPr>
          <p:cNvPr id="24" name="Text 20"/>
          <p:cNvSpPr txBox="1"/>
          <p:nvPr/>
        </p:nvSpPr>
        <p:spPr>
          <a:xfrm>
            <a:off x="3246120" y="2834640"/>
            <a:ext cx="731520" cy="438912"/>
          </a:xfrm>
          <a:prstGeom prst="rect">
            <a:avLst/>
          </a:prstGeom>
          <a:noFill/>
          <a:ln/>
        </p:spPr>
        <p:txBody>
          <a:bodyPr wrap="square" lIns="0" tIns="0" rIns="0" bIns="0" rtlCol="0" anchor="ctr"/>
          <a:lstStyle/>
          <a:p>
            <a:pPr indent="0" marL="0">
              <a:buNone/>
            </a:pPr>
            <a:r>
              <a:rPr lang="en-US" sz="950" b="1" dirty="0">
                <a:solidFill>
                  <a:srgbClr val="C3EE8F"/>
                </a:solidFill>
                <a:latin typeface="Inter" pitchFamily="34" charset="0"/>
                <a:ea typeface="Inter" pitchFamily="34" charset="-122"/>
                <a:cs typeface="Inter" pitchFamily="34" charset="-120"/>
              </a:rPr>
              <a:t>Contract</a:t>
            </a:r>
            <a:endParaRPr lang="en-US" sz="950" dirty="0"/>
          </a:p>
        </p:txBody>
      </p:sp>
      <p:sp>
        <p:nvSpPr>
          <p:cNvPr id="25" name="Text 21"/>
          <p:cNvSpPr txBox="1"/>
          <p:nvPr/>
        </p:nvSpPr>
        <p:spPr>
          <a:xfrm>
            <a:off x="3977640" y="2834640"/>
            <a:ext cx="2011680" cy="438912"/>
          </a:xfrm>
          <a:prstGeom prst="rect">
            <a:avLst/>
          </a:prstGeom>
          <a:noFill/>
          <a:ln/>
        </p:spPr>
        <p:txBody>
          <a:bodyPr wrap="square" lIns="0" tIns="0" rIns="0" bIns="0" rtlCol="0" anchor="ctr"/>
          <a:lstStyle/>
          <a:p>
            <a:pPr indent="0" marL="0">
              <a:buNone/>
            </a:pPr>
            <a:r>
              <a:rPr lang="en-US" sz="900" dirty="0">
                <a:solidFill>
                  <a:srgbClr val="EEF3EF"/>
                </a:solidFill>
                <a:latin typeface="Inter" pitchFamily="34" charset="0"/>
                <a:ea typeface="Inter" pitchFamily="34" charset="-122"/>
                <a:cs typeface="Inter" pitchFamily="34" charset="-120"/>
              </a:rPr>
              <a:t>credits, commits, overrides, subscriptions</a:t>
            </a:r>
            <a:endParaRPr lang="en-US" sz="900" dirty="0"/>
          </a:p>
        </p:txBody>
      </p:sp>
      <p:sp>
        <p:nvSpPr>
          <p:cNvPr id="26" name="Shape 22"/>
          <p:cNvSpPr/>
          <p:nvPr/>
        </p:nvSpPr>
        <p:spPr>
          <a:xfrm>
            <a:off x="3108960" y="3383280"/>
            <a:ext cx="2926080" cy="438912"/>
          </a:xfrm>
          <a:prstGeom prst="roundRect">
            <a:avLst>
              <a:gd name="adj" fmla="val 12500"/>
            </a:avLst>
          </a:prstGeom>
          <a:solidFill>
            <a:srgbClr val="003834"/>
          </a:solidFill>
          <a:ln w="12700">
            <a:solidFill>
              <a:srgbClr val="003834"/>
            </a:solidFill>
            <a:prstDash val="solid"/>
          </a:ln>
        </p:spPr>
      </p:sp>
      <p:sp>
        <p:nvSpPr>
          <p:cNvPr id="27" name="Text 23"/>
          <p:cNvSpPr txBox="1"/>
          <p:nvPr/>
        </p:nvSpPr>
        <p:spPr>
          <a:xfrm>
            <a:off x="3246120" y="3383280"/>
            <a:ext cx="731520" cy="438912"/>
          </a:xfrm>
          <a:prstGeom prst="rect">
            <a:avLst/>
          </a:prstGeom>
          <a:noFill/>
          <a:ln/>
        </p:spPr>
        <p:txBody>
          <a:bodyPr wrap="square" lIns="0" tIns="0" rIns="0" bIns="0" rtlCol="0" anchor="ctr"/>
          <a:lstStyle/>
          <a:p>
            <a:pPr indent="0" marL="0">
              <a:buNone/>
            </a:pPr>
            <a:r>
              <a:rPr lang="en-US" sz="950" b="1" dirty="0">
                <a:solidFill>
                  <a:srgbClr val="C3EE8F"/>
                </a:solidFill>
                <a:latin typeface="Inter" pitchFamily="34" charset="0"/>
                <a:ea typeface="Inter" pitchFamily="34" charset="-122"/>
                <a:cs typeface="Inter" pitchFamily="34" charset="-120"/>
              </a:rPr>
              <a:t>Track</a:t>
            </a:r>
            <a:endParaRPr lang="en-US" sz="950" dirty="0"/>
          </a:p>
        </p:txBody>
      </p:sp>
      <p:sp>
        <p:nvSpPr>
          <p:cNvPr id="28" name="Text 24"/>
          <p:cNvSpPr txBox="1"/>
          <p:nvPr/>
        </p:nvSpPr>
        <p:spPr>
          <a:xfrm>
            <a:off x="3977640" y="3383280"/>
            <a:ext cx="2011680" cy="438912"/>
          </a:xfrm>
          <a:prstGeom prst="rect">
            <a:avLst/>
          </a:prstGeom>
          <a:noFill/>
          <a:ln/>
        </p:spPr>
        <p:txBody>
          <a:bodyPr wrap="square" lIns="0" tIns="0" rIns="0" bIns="0" rtlCol="0" anchor="ctr"/>
          <a:lstStyle/>
          <a:p>
            <a:pPr indent="0" marL="0">
              <a:buNone/>
            </a:pPr>
            <a:r>
              <a:rPr lang="en-US" sz="900" dirty="0">
                <a:solidFill>
                  <a:srgbClr val="EEF3EF"/>
                </a:solidFill>
                <a:latin typeface="Inter" pitchFamily="34" charset="0"/>
                <a:ea typeface="Inter" pitchFamily="34" charset="-122"/>
                <a:cs typeface="Inter" pitchFamily="34" charset="-120"/>
              </a:rPr>
              <a:t>real-time balances and draft invoices</a:t>
            </a:r>
            <a:endParaRPr lang="en-US" sz="900" dirty="0"/>
          </a:p>
        </p:txBody>
      </p:sp>
      <p:sp>
        <p:nvSpPr>
          <p:cNvPr id="29" name="Shape 25"/>
          <p:cNvSpPr/>
          <p:nvPr/>
        </p:nvSpPr>
        <p:spPr>
          <a:xfrm>
            <a:off x="3108960" y="3931920"/>
            <a:ext cx="2926080" cy="438912"/>
          </a:xfrm>
          <a:prstGeom prst="roundRect">
            <a:avLst>
              <a:gd name="adj" fmla="val 12500"/>
            </a:avLst>
          </a:prstGeom>
          <a:solidFill>
            <a:srgbClr val="003834"/>
          </a:solidFill>
          <a:ln w="12700">
            <a:solidFill>
              <a:srgbClr val="003834"/>
            </a:solidFill>
            <a:prstDash val="solid"/>
          </a:ln>
        </p:spPr>
      </p:sp>
      <p:sp>
        <p:nvSpPr>
          <p:cNvPr id="30" name="Text 26"/>
          <p:cNvSpPr txBox="1"/>
          <p:nvPr/>
        </p:nvSpPr>
        <p:spPr>
          <a:xfrm>
            <a:off x="3246120" y="3931920"/>
            <a:ext cx="731520" cy="438912"/>
          </a:xfrm>
          <a:prstGeom prst="rect">
            <a:avLst/>
          </a:prstGeom>
          <a:noFill/>
          <a:ln/>
        </p:spPr>
        <p:txBody>
          <a:bodyPr wrap="square" lIns="0" tIns="0" rIns="0" bIns="0" rtlCol="0" anchor="ctr"/>
          <a:lstStyle/>
          <a:p>
            <a:pPr indent="0" marL="0">
              <a:buNone/>
            </a:pPr>
            <a:r>
              <a:rPr lang="en-US" sz="950" b="1" dirty="0">
                <a:solidFill>
                  <a:srgbClr val="C3EE8F"/>
                </a:solidFill>
                <a:latin typeface="Inter" pitchFamily="34" charset="0"/>
                <a:ea typeface="Inter" pitchFamily="34" charset="-122"/>
                <a:cs typeface="Inter" pitchFamily="34" charset="-120"/>
              </a:rPr>
              <a:t>Signal</a:t>
            </a:r>
            <a:endParaRPr lang="en-US" sz="950" dirty="0"/>
          </a:p>
        </p:txBody>
      </p:sp>
      <p:sp>
        <p:nvSpPr>
          <p:cNvPr id="31" name="Text 27"/>
          <p:cNvSpPr txBox="1"/>
          <p:nvPr/>
        </p:nvSpPr>
        <p:spPr>
          <a:xfrm>
            <a:off x="3977640" y="3931920"/>
            <a:ext cx="2011680" cy="438912"/>
          </a:xfrm>
          <a:prstGeom prst="rect">
            <a:avLst/>
          </a:prstGeom>
          <a:noFill/>
          <a:ln/>
        </p:spPr>
        <p:txBody>
          <a:bodyPr wrap="square" lIns="0" tIns="0" rIns="0" bIns="0" rtlCol="0" anchor="ctr"/>
          <a:lstStyle/>
          <a:p>
            <a:pPr indent="0" marL="0">
              <a:buNone/>
            </a:pPr>
            <a:r>
              <a:rPr lang="en-US" sz="900" dirty="0">
                <a:solidFill>
                  <a:srgbClr val="EEF3EF"/>
                </a:solidFill>
                <a:latin typeface="Inter" pitchFamily="34" charset="0"/>
                <a:ea typeface="Inter" pitchFamily="34" charset="-122"/>
                <a:cs typeface="Inter" pitchFamily="34" charset="-120"/>
              </a:rPr>
              <a:t>webhooks, embeddable dashboards, APIs</a:t>
            </a:r>
            <a:endParaRPr lang="en-US" sz="900" dirty="0"/>
          </a:p>
        </p:txBody>
      </p:sp>
      <p:sp>
        <p:nvSpPr>
          <p:cNvPr id="32" name="Text 28"/>
          <p:cNvSpPr txBox="1"/>
          <p:nvPr/>
        </p:nvSpPr>
        <p:spPr>
          <a:xfrm>
            <a:off x="6629400" y="1225296"/>
            <a:ext cx="2057400" cy="237744"/>
          </a:xfrm>
          <a:prstGeom prst="rect">
            <a:avLst/>
          </a:prstGeom>
          <a:noFill/>
          <a:ln/>
        </p:spPr>
        <p:txBody>
          <a:bodyPr wrap="square" lIns="0" tIns="0" rIns="0" bIns="0" rtlCol="0" anchor="t"/>
          <a:lstStyle/>
          <a:p>
            <a:pPr indent="0" marL="0">
              <a:buNone/>
            </a:pPr>
            <a:r>
              <a:rPr lang="en-US" sz="1100" b="1" dirty="0">
                <a:solidFill>
                  <a:srgbClr val="0D171A"/>
                </a:solidFill>
                <a:latin typeface="Inter" pitchFamily="34" charset="0"/>
                <a:ea typeface="Inter" pitchFamily="34" charset="-122"/>
                <a:cs typeface="Inter" pitchFamily="34" charset="-120"/>
              </a:rPr>
              <a:t>Your quote-to-cash</a:t>
            </a:r>
            <a:endParaRPr lang="en-US" sz="1100" dirty="0"/>
          </a:p>
        </p:txBody>
      </p:sp>
      <p:sp>
        <p:nvSpPr>
          <p:cNvPr id="33" name="Shape 29"/>
          <p:cNvSpPr/>
          <p:nvPr/>
        </p:nvSpPr>
        <p:spPr>
          <a:xfrm>
            <a:off x="6629400" y="1600200"/>
            <a:ext cx="2057400" cy="530352"/>
          </a:xfrm>
          <a:prstGeom prst="roundRect">
            <a:avLst>
              <a:gd name="adj" fmla="val 13793"/>
            </a:avLst>
          </a:prstGeom>
          <a:solidFill>
            <a:srgbClr val="FFFFFF"/>
          </a:solidFill>
          <a:ln w="9525">
            <a:solidFill>
              <a:srgbClr val="E5E7DD"/>
            </a:solidFill>
            <a:prstDash val="solid"/>
          </a:ln>
        </p:spPr>
      </p:sp>
      <p:sp>
        <p:nvSpPr>
          <p:cNvPr id="34" name="Text 30"/>
          <p:cNvSpPr txBox="1"/>
          <p:nvPr/>
        </p:nvSpPr>
        <p:spPr>
          <a:xfrm>
            <a:off x="6739128" y="1600200"/>
            <a:ext cx="1874520" cy="530352"/>
          </a:xfrm>
          <a:prstGeom prst="rect">
            <a:avLst/>
          </a:prstGeom>
          <a:noFill/>
          <a:ln/>
        </p:spPr>
        <p:txBody>
          <a:bodyPr wrap="square" lIns="0" tIns="0" rIns="0" bIns="0" rtlCol="0" anchor="ctr"/>
          <a:lstStyle/>
          <a:p>
            <a:pPr indent="0" marL="0">
              <a:buNone/>
            </a:pPr>
            <a:r>
              <a:rPr lang="en-US" sz="950" b="1" dirty="0">
                <a:solidFill>
                  <a:srgbClr val="0D171A"/>
                </a:solidFill>
                <a:latin typeface="Inter" pitchFamily="34" charset="0"/>
                <a:ea typeface="Inter" pitchFamily="34" charset="-122"/>
                <a:cs typeface="Inter" pitchFamily="34" charset="-120"/>
              </a:rPr>
              <a:t>Stripe</a:t>
            </a:r>
            <a:endParaRPr lang="en-US" sz="950" dirty="0"/>
          </a:p>
          <a:p>
            <a:pPr indent="0" marL="0">
              <a:buNone/>
            </a:pPr>
            <a:r>
              <a:rPr lang="en-US" sz="850" dirty="0">
                <a:solidFill>
                  <a:srgbClr val="565F5F"/>
                </a:solidFill>
                <a:latin typeface="Inter" pitchFamily="34" charset="0"/>
                <a:ea typeface="Inter" pitchFamily="34" charset="-122"/>
                <a:cs typeface="Inter" pitchFamily="34" charset="-120"/>
              </a:rPr>
              <a:t>self-serve invoices, card collection</a:t>
            </a:r>
            <a:endParaRPr lang="en-US" sz="950" dirty="0"/>
          </a:p>
        </p:txBody>
      </p:sp>
      <p:sp>
        <p:nvSpPr>
          <p:cNvPr id="35" name="Shape 31"/>
          <p:cNvSpPr/>
          <p:nvPr/>
        </p:nvSpPr>
        <p:spPr>
          <a:xfrm>
            <a:off x="6629400" y="2267712"/>
            <a:ext cx="2057400" cy="530352"/>
          </a:xfrm>
          <a:prstGeom prst="roundRect">
            <a:avLst>
              <a:gd name="adj" fmla="val 13793"/>
            </a:avLst>
          </a:prstGeom>
          <a:solidFill>
            <a:srgbClr val="FFFFFF"/>
          </a:solidFill>
          <a:ln w="9525">
            <a:solidFill>
              <a:srgbClr val="E5E7DD"/>
            </a:solidFill>
            <a:prstDash val="solid"/>
          </a:ln>
        </p:spPr>
      </p:sp>
      <p:sp>
        <p:nvSpPr>
          <p:cNvPr id="36" name="Text 32"/>
          <p:cNvSpPr txBox="1"/>
          <p:nvPr/>
        </p:nvSpPr>
        <p:spPr>
          <a:xfrm>
            <a:off x="6739128" y="2267712"/>
            <a:ext cx="1874520" cy="530352"/>
          </a:xfrm>
          <a:prstGeom prst="rect">
            <a:avLst/>
          </a:prstGeom>
          <a:noFill/>
          <a:ln/>
        </p:spPr>
        <p:txBody>
          <a:bodyPr wrap="square" lIns="0" tIns="0" rIns="0" bIns="0" rtlCol="0" anchor="ctr"/>
          <a:lstStyle/>
          <a:p>
            <a:pPr indent="0" marL="0">
              <a:buNone/>
            </a:pPr>
            <a:r>
              <a:rPr lang="en-US" sz="950" b="1" dirty="0">
                <a:solidFill>
                  <a:srgbClr val="0D171A"/>
                </a:solidFill>
                <a:latin typeface="Inter" pitchFamily="34" charset="0"/>
                <a:ea typeface="Inter" pitchFamily="34" charset="-122"/>
                <a:cs typeface="Inter" pitchFamily="34" charset="-120"/>
              </a:rPr>
              <a:t>NetSuite</a:t>
            </a:r>
            <a:endParaRPr lang="en-US" sz="950" dirty="0"/>
          </a:p>
          <a:p>
            <a:pPr indent="0" marL="0">
              <a:buNone/>
            </a:pPr>
            <a:r>
              <a:rPr lang="en-US" sz="850" dirty="0">
                <a:solidFill>
                  <a:srgbClr val="565F5F"/>
                </a:solidFill>
                <a:latin typeface="Inter" pitchFamily="34" charset="0"/>
                <a:ea typeface="Inter" pitchFamily="34" charset="-122"/>
                <a:cs typeface="Inter" pitchFamily="34" charset="-120"/>
              </a:rPr>
              <a:t>enterprise invoices or revenue</a:t>
            </a:r>
            <a:endParaRPr lang="en-US" sz="950" dirty="0"/>
          </a:p>
        </p:txBody>
      </p:sp>
      <p:sp>
        <p:nvSpPr>
          <p:cNvPr id="37" name="Shape 33"/>
          <p:cNvSpPr/>
          <p:nvPr/>
        </p:nvSpPr>
        <p:spPr>
          <a:xfrm>
            <a:off x="6629400" y="2935224"/>
            <a:ext cx="2057400" cy="530352"/>
          </a:xfrm>
          <a:prstGeom prst="roundRect">
            <a:avLst>
              <a:gd name="adj" fmla="val 13793"/>
            </a:avLst>
          </a:prstGeom>
          <a:solidFill>
            <a:srgbClr val="FFFFFF"/>
          </a:solidFill>
          <a:ln w="9525">
            <a:solidFill>
              <a:srgbClr val="E5E7DD"/>
            </a:solidFill>
            <a:prstDash val="solid"/>
          </a:ln>
        </p:spPr>
      </p:sp>
      <p:sp>
        <p:nvSpPr>
          <p:cNvPr id="38" name="Text 34"/>
          <p:cNvSpPr txBox="1"/>
          <p:nvPr/>
        </p:nvSpPr>
        <p:spPr>
          <a:xfrm>
            <a:off x="6739128" y="2935224"/>
            <a:ext cx="1874520" cy="530352"/>
          </a:xfrm>
          <a:prstGeom prst="rect">
            <a:avLst/>
          </a:prstGeom>
          <a:noFill/>
          <a:ln/>
        </p:spPr>
        <p:txBody>
          <a:bodyPr wrap="square" lIns="0" tIns="0" rIns="0" bIns="0" rtlCol="0" anchor="ctr"/>
          <a:lstStyle/>
          <a:p>
            <a:pPr indent="0" marL="0">
              <a:buNone/>
            </a:pPr>
            <a:r>
              <a:rPr lang="en-US" sz="950" b="1" dirty="0">
                <a:solidFill>
                  <a:srgbClr val="0D171A"/>
                </a:solidFill>
                <a:latin typeface="Inter" pitchFamily="34" charset="0"/>
                <a:ea typeface="Inter" pitchFamily="34" charset="-122"/>
                <a:cs typeface="Inter" pitchFamily="34" charset="-120"/>
              </a:rPr>
              <a:t>Salesforce</a:t>
            </a:r>
            <a:endParaRPr lang="en-US" sz="950" dirty="0"/>
          </a:p>
          <a:p>
            <a:pPr indent="0" marL="0">
              <a:buNone/>
            </a:pPr>
            <a:r>
              <a:rPr lang="en-US" sz="850" dirty="0">
                <a:solidFill>
                  <a:srgbClr val="565F5F"/>
                </a:solidFill>
                <a:latin typeface="Inter" pitchFamily="34" charset="0"/>
                <a:ea typeface="Inter" pitchFamily="34" charset="-122"/>
                <a:cs typeface="Inter" pitchFamily="34" charset="-120"/>
              </a:rPr>
              <a:t>contracts, commits, balances (daily)</a:t>
            </a:r>
            <a:endParaRPr lang="en-US" sz="950" dirty="0"/>
          </a:p>
        </p:txBody>
      </p:sp>
      <p:sp>
        <p:nvSpPr>
          <p:cNvPr id="39" name="Shape 35"/>
          <p:cNvSpPr/>
          <p:nvPr/>
        </p:nvSpPr>
        <p:spPr>
          <a:xfrm>
            <a:off x="6629400" y="3602736"/>
            <a:ext cx="2057400" cy="530352"/>
          </a:xfrm>
          <a:prstGeom prst="roundRect">
            <a:avLst>
              <a:gd name="adj" fmla="val 13793"/>
            </a:avLst>
          </a:prstGeom>
          <a:solidFill>
            <a:srgbClr val="FFFFFF"/>
          </a:solidFill>
          <a:ln w="9525">
            <a:solidFill>
              <a:srgbClr val="E5E7DD"/>
            </a:solidFill>
            <a:prstDash val="solid"/>
          </a:ln>
        </p:spPr>
      </p:sp>
      <p:sp>
        <p:nvSpPr>
          <p:cNvPr id="40" name="Text 36"/>
          <p:cNvSpPr txBox="1"/>
          <p:nvPr/>
        </p:nvSpPr>
        <p:spPr>
          <a:xfrm>
            <a:off x="6739128" y="3602736"/>
            <a:ext cx="1874520" cy="530352"/>
          </a:xfrm>
          <a:prstGeom prst="rect">
            <a:avLst/>
          </a:prstGeom>
          <a:noFill/>
          <a:ln/>
        </p:spPr>
        <p:txBody>
          <a:bodyPr wrap="square" lIns="0" tIns="0" rIns="0" bIns="0" rtlCol="0" anchor="ctr"/>
          <a:lstStyle/>
          <a:p>
            <a:pPr indent="0" marL="0">
              <a:buNone/>
            </a:pPr>
            <a:r>
              <a:rPr lang="en-US" sz="950" b="1" dirty="0">
                <a:solidFill>
                  <a:srgbClr val="0D171A"/>
                </a:solidFill>
                <a:latin typeface="Inter" pitchFamily="34" charset="0"/>
                <a:ea typeface="Inter" pitchFamily="34" charset="-122"/>
                <a:cs typeface="Inter" pitchFamily="34" charset="-120"/>
              </a:rPr>
              <a:t>Data warehouse</a:t>
            </a:r>
            <a:endParaRPr lang="en-US" sz="950" dirty="0"/>
          </a:p>
          <a:p>
            <a:pPr indent="0" marL="0">
              <a:buNone/>
            </a:pPr>
            <a:r>
              <a:rPr lang="en-US" sz="850" dirty="0">
                <a:solidFill>
                  <a:srgbClr val="565F5F"/>
                </a:solidFill>
                <a:latin typeface="Inter" pitchFamily="34" charset="0"/>
                <a:ea typeface="Inter" pitchFamily="34" charset="-122"/>
                <a:cs typeface="Inter" pitchFamily="34" charset="-120"/>
              </a:rPr>
              <a:t>full data export</a:t>
            </a:r>
            <a:endParaRPr lang="en-US" sz="950" dirty="0"/>
          </a:p>
        </p:txBody>
      </p:sp>
      <p:sp>
        <p:nvSpPr>
          <p:cNvPr id="41" name="Shape 37"/>
          <p:cNvSpPr/>
          <p:nvPr/>
        </p:nvSpPr>
        <p:spPr>
          <a:xfrm>
            <a:off x="2560320" y="1865376"/>
            <a:ext cx="320040" cy="0"/>
          </a:xfrm>
          <a:prstGeom prst="line">
            <a:avLst/>
          </a:prstGeom>
          <a:noFill/>
          <a:ln w="22225">
            <a:solidFill>
              <a:srgbClr val="2EAC67"/>
            </a:solidFill>
            <a:prstDash val="solid"/>
            <a:tailEnd type="triangle"/>
          </a:ln>
        </p:spPr>
      </p:sp>
      <p:sp>
        <p:nvSpPr>
          <p:cNvPr id="42" name="Shape 38"/>
          <p:cNvSpPr/>
          <p:nvPr/>
        </p:nvSpPr>
        <p:spPr>
          <a:xfrm>
            <a:off x="2560320" y="2532888"/>
            <a:ext cx="320040" cy="0"/>
          </a:xfrm>
          <a:prstGeom prst="line">
            <a:avLst/>
          </a:prstGeom>
          <a:noFill/>
          <a:ln w="22225">
            <a:solidFill>
              <a:srgbClr val="2EAC67"/>
            </a:solidFill>
            <a:prstDash val="solid"/>
            <a:tailEnd type="triangle"/>
          </a:ln>
        </p:spPr>
      </p:sp>
      <p:sp>
        <p:nvSpPr>
          <p:cNvPr id="43" name="Shape 39"/>
          <p:cNvSpPr/>
          <p:nvPr/>
        </p:nvSpPr>
        <p:spPr>
          <a:xfrm>
            <a:off x="2560320" y="3200400"/>
            <a:ext cx="320040" cy="0"/>
          </a:xfrm>
          <a:prstGeom prst="line">
            <a:avLst/>
          </a:prstGeom>
          <a:noFill/>
          <a:ln w="22225">
            <a:solidFill>
              <a:srgbClr val="125B49"/>
            </a:solidFill>
            <a:prstDash val="solid"/>
            <a:headEnd type="triangle"/>
          </a:ln>
        </p:spPr>
      </p:sp>
      <p:sp>
        <p:nvSpPr>
          <p:cNvPr id="44" name="Shape 40"/>
          <p:cNvSpPr/>
          <p:nvPr/>
        </p:nvSpPr>
        <p:spPr>
          <a:xfrm>
            <a:off x="2560320" y="3867912"/>
            <a:ext cx="320040" cy="0"/>
          </a:xfrm>
          <a:prstGeom prst="line">
            <a:avLst/>
          </a:prstGeom>
          <a:noFill/>
          <a:ln w="22225">
            <a:solidFill>
              <a:srgbClr val="125B49"/>
            </a:solidFill>
            <a:prstDash val="solid"/>
            <a:headEnd type="triangle"/>
          </a:ln>
        </p:spPr>
      </p:sp>
      <p:sp>
        <p:nvSpPr>
          <p:cNvPr id="45" name="Shape 41"/>
          <p:cNvSpPr/>
          <p:nvPr/>
        </p:nvSpPr>
        <p:spPr>
          <a:xfrm>
            <a:off x="6263640" y="1865376"/>
            <a:ext cx="320040" cy="0"/>
          </a:xfrm>
          <a:prstGeom prst="line">
            <a:avLst/>
          </a:prstGeom>
          <a:noFill/>
          <a:ln w="22225">
            <a:solidFill>
              <a:srgbClr val="2EAC67"/>
            </a:solidFill>
            <a:prstDash val="solid"/>
            <a:tailEnd type="triangle"/>
          </a:ln>
        </p:spPr>
      </p:sp>
      <p:sp>
        <p:nvSpPr>
          <p:cNvPr id="46" name="Shape 42"/>
          <p:cNvSpPr/>
          <p:nvPr/>
        </p:nvSpPr>
        <p:spPr>
          <a:xfrm>
            <a:off x="6263640" y="2532888"/>
            <a:ext cx="320040" cy="0"/>
          </a:xfrm>
          <a:prstGeom prst="line">
            <a:avLst/>
          </a:prstGeom>
          <a:noFill/>
          <a:ln w="22225">
            <a:solidFill>
              <a:srgbClr val="2EAC67"/>
            </a:solidFill>
            <a:prstDash val="solid"/>
            <a:tailEnd type="triangle"/>
          </a:ln>
        </p:spPr>
      </p:sp>
      <p:sp>
        <p:nvSpPr>
          <p:cNvPr id="47" name="Shape 43"/>
          <p:cNvSpPr/>
          <p:nvPr/>
        </p:nvSpPr>
        <p:spPr>
          <a:xfrm>
            <a:off x="6263640" y="3200400"/>
            <a:ext cx="320040" cy="0"/>
          </a:xfrm>
          <a:prstGeom prst="line">
            <a:avLst/>
          </a:prstGeom>
          <a:noFill/>
          <a:ln w="22225">
            <a:solidFill>
              <a:srgbClr val="2EAC67"/>
            </a:solidFill>
            <a:prstDash val="solid"/>
            <a:tailEnd type="triangle"/>
          </a:ln>
        </p:spPr>
      </p:sp>
      <p:sp>
        <p:nvSpPr>
          <p:cNvPr id="48" name="Shape 44"/>
          <p:cNvSpPr/>
          <p:nvPr/>
        </p:nvSpPr>
        <p:spPr>
          <a:xfrm>
            <a:off x="6263640" y="3867912"/>
            <a:ext cx="320040" cy="0"/>
          </a:xfrm>
          <a:prstGeom prst="line">
            <a:avLst/>
          </a:prstGeom>
          <a:noFill/>
          <a:ln w="22225">
            <a:solidFill>
              <a:srgbClr val="2EAC67"/>
            </a:solidFill>
            <a:prstDash val="solid"/>
            <a:tailEnd type="triangle"/>
          </a:ln>
        </p:spPr>
      </p:sp>
      <p:sp>
        <p:nvSpPr>
          <p:cNvPr id="49" name="Text 45"/>
          <p:cNvSpPr txBox="1"/>
          <p:nvPr/>
        </p:nvSpPr>
        <p:spPr>
          <a:xfrm>
            <a:off x="457200" y="4626864"/>
            <a:ext cx="8229600" cy="146304"/>
          </a:xfrm>
          <a:prstGeom prst="rect">
            <a:avLst/>
          </a:prstGeom>
          <a:noFill/>
          <a:ln/>
        </p:spPr>
        <p:txBody>
          <a:bodyPr wrap="square" lIns="0" tIns="0" rIns="0" bIns="0" rtlCol="0" anchor="t"/>
          <a:lstStyle/>
          <a:p>
            <a:pPr algn="ctr" indent="0" marL="0">
              <a:buNone/>
            </a:pPr>
            <a:r>
              <a:rPr lang="en-US" sz="750" i="1" dirty="0">
                <a:solidFill>
                  <a:srgbClr val="6B726D"/>
                </a:solidFill>
                <a:latin typeface="Inter" pitchFamily="34" charset="0"/>
                <a:ea typeface="Inter" pitchFamily="34" charset="-122"/>
                <a:cs typeface="Inter" pitchFamily="34" charset="-120"/>
              </a:rPr>
              <a:t>usage events and sign-ups flow in; webhooks and dashboards flow back; invoices and syncs flow out</a:t>
            </a:r>
            <a:endParaRPr lang="en-US" sz="7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WHAT CHANGES</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Four blockers, four configurations you’ll see live</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07008"/>
          <a:ext cx="8229600" cy="914400"/>
        </p:xfrm>
        <a:graphic>
          <a:graphicData uri="http://schemas.openxmlformats.org/drawingml/2006/table">
            <a:tbl>
              <a:tblPr/>
              <a:tblGrid>
                <a:gridCol w="1965960"/>
                <a:gridCol w="4343400"/>
                <a:gridCol w="1920240"/>
              </a:tblGrid>
              <a:tr h="292608">
                <a:tc>
                  <a:txBody>
                    <a:bodyPr/>
                    <a:lstStyle/>
                    <a:p>
                      <a:pPr indent="0" marL="0">
                        <a:buNone/>
                      </a:pPr>
                      <a:r>
                        <a:rPr lang="en-US" sz="950" b="1" dirty="0">
                          <a:solidFill>
                            <a:srgbClr val="FFFFFF"/>
                          </a:solidFill>
                          <a:latin typeface="Inter" pitchFamily="34" charset="0"/>
                          <a:ea typeface="Inter" pitchFamily="34" charset="-122"/>
                          <a:cs typeface="Inter" pitchFamily="34" charset="-120"/>
                        </a:rPr>
                        <a:t>Today</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002F2C"/>
                    </a:solidFill>
                  </a:tcPr>
                </a:tc>
                <a:tc>
                  <a:txBody>
                    <a:bodyPr/>
                    <a:lstStyle/>
                    <a:p>
                      <a:pPr indent="0" marL="0">
                        <a:buNone/>
                      </a:pPr>
                      <a:r>
                        <a:rPr lang="en-US" sz="950" b="1" dirty="0">
                          <a:solidFill>
                            <a:srgbClr val="FFFFFF"/>
                          </a:solidFill>
                          <a:latin typeface="Inter" pitchFamily="34" charset="0"/>
                          <a:ea typeface="Inter" pitchFamily="34" charset="-122"/>
                          <a:cs typeface="Inter" pitchFamily="34" charset="-120"/>
                        </a:rPr>
                        <a:t>With Metronome</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002F2C"/>
                    </a:solidFill>
                  </a:tcPr>
                </a:tc>
                <a:tc>
                  <a:txBody>
                    <a:bodyPr/>
                    <a:lstStyle/>
                    <a:p>
                      <a:pPr indent="0" marL="0">
                        <a:buNone/>
                      </a:pPr>
                      <a:r>
                        <a:rPr lang="en-US" sz="950" b="1" dirty="0">
                          <a:solidFill>
                            <a:srgbClr val="FFFFFF"/>
                          </a:solidFill>
                          <a:latin typeface="Inter" pitchFamily="34" charset="0"/>
                          <a:ea typeface="Inter" pitchFamily="34" charset="-122"/>
                          <a:cs typeface="Inter" pitchFamily="34" charset="-120"/>
                        </a:rPr>
                        <a:t>In the demo</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002F2C"/>
                    </a:solidFill>
                  </a:tcPr>
                </a:tc>
              </a:tr>
              <a:tr h="731520">
                <a:tc>
                  <a:txBody>
                    <a:bodyPr/>
                    <a:lstStyle/>
                    <a:p>
                      <a:pPr indent="0" marL="0">
                        <a:buNone/>
                      </a:pPr>
                      <a:r>
                        <a:rPr lang="en-US" sz="950" b="1" dirty="0">
                          <a:solidFill>
                            <a:srgbClr val="0D171A"/>
                          </a:solidFill>
                          <a:latin typeface="Inter" pitchFamily="34" charset="0"/>
                          <a:ea typeface="Inter" pitchFamily="34" charset="-122"/>
                          <a:cs typeface="Inter" pitchFamily="34" charset="-120"/>
                        </a:rPr>
                        <a:t>Two teams and weeks per machine type</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dirty="0">
                          <a:solidFill>
                            <a:srgbClr val="0D171A"/>
                          </a:solidFill>
                          <a:latin typeface="Inter" pitchFamily="34" charset="0"/>
                          <a:ea typeface="Inter" pitchFamily="34" charset="-122"/>
                          <a:cs typeface="Inter" pitchFamily="34" charset="-120"/>
                        </a:rPr>
                        <a:t>Hardware is a pricing dimension: a new GPU is one rate, scheduled ahead or backdated to launch day. Discounts, commits and % fees follow automatically.</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b="1" dirty="0">
                          <a:solidFill>
                            <a:srgbClr val="125B49"/>
                          </a:solidFill>
                          <a:latin typeface="Inter" pitchFamily="34" charset="0"/>
                          <a:ea typeface="Inter" pitchFamily="34" charset="-122"/>
                          <a:cs typeface="Inter" pitchFamily="34" charset="-120"/>
                        </a:rPr>
                        <a:t>Launch Nvidia L40S live</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786384">
                <a:tc>
                  <a:txBody>
                    <a:bodyPr/>
                    <a:lstStyle/>
                    <a:p>
                      <a:pPr indent="0" marL="0">
                        <a:buNone/>
                      </a:pPr>
                      <a:r>
                        <a:rPr lang="en-US" sz="950" b="1" dirty="0">
                          <a:solidFill>
                            <a:srgbClr val="0D171A"/>
                          </a:solidFill>
                          <a:latin typeface="Inter" pitchFamily="34" charset="0"/>
                          <a:ea typeface="Inter" pitchFamily="34" charset="-122"/>
                          <a:cs typeface="Inter" pitchFamily="34" charset="-120"/>
                        </a:rPr>
                        <a:t>Trial credit checked once a day: up to ~$500 of GPU time per user</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dirty="0">
                          <a:solidFill>
                            <a:srgbClr val="0D171A"/>
                          </a:solidFill>
                          <a:latin typeface="Inter" pitchFamily="34" charset="0"/>
                          <a:ea typeface="Inter" pitchFamily="34" charset="-122"/>
                          <a:cs typeface="Inter" pitchFamily="34" charset="-120"/>
                        </a:rPr>
                        <a:t>$10 trial credit, valid 30 days. Balances update as usage lands; alerts fire within ~5 min by webhook (~$2 on the same GPU). One rule covers every sign-up.</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b="1" dirty="0">
                          <a:solidFill>
                            <a:srgbClr val="125B49"/>
                          </a:solidFill>
                          <a:latin typeface="Inter" pitchFamily="34" charset="0"/>
                          <a:ea typeface="Inter" pitchFamily="34" charset="-122"/>
                          <a:cs typeface="Inter" pitchFamily="34" charset="-120"/>
                        </a:rPr>
                        <a:t>Ada’s trial: used up and flagged</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621792">
                <a:tc>
                  <a:txBody>
                    <a:bodyPr/>
                    <a:lstStyle/>
                    <a:p>
                      <a:pPr indent="0" marL="0">
                        <a:buNone/>
                      </a:pPr>
                      <a:r>
                        <a:rPr lang="en-US" sz="950" b="1" dirty="0">
                          <a:solidFill>
                            <a:srgbClr val="0D171A"/>
                          </a:solidFill>
                          <a:latin typeface="Inter" pitchFamily="34" charset="0"/>
                          <a:ea typeface="Inter" pitchFamily="34" charset="-122"/>
                          <a:cs typeface="Inter" pitchFamily="34" charset="-120"/>
                        </a:rPr>
                        <a:t>No fixed or % fees, so no support tiers</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dirty="0">
                          <a:solidFill>
                            <a:srgbClr val="0D171A"/>
                          </a:solidFill>
                          <a:latin typeface="Inter" pitchFamily="34" charset="0"/>
                          <a:ea typeface="Inter" pitchFamily="34" charset="-122"/>
                          <a:cs typeface="Inter" pitchFamily="34" charset="-120"/>
                        </a:rPr>
                        <a:t>Subscription product: Pro Support at $500/month. Composite product: Enterprise Support at 10% of compute.</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b="1" dirty="0">
                          <a:solidFill>
                            <a:srgbClr val="125B49"/>
                          </a:solidFill>
                          <a:latin typeface="Inter" pitchFamily="34" charset="0"/>
                          <a:ea typeface="Inter" pitchFamily="34" charset="-122"/>
                          <a:cs typeface="Inter" pitchFamily="34" charset="-120"/>
                        </a:rPr>
                        <a:t>Brightframe and Northwind invoices</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731520">
                <a:tc>
                  <a:txBody>
                    <a:bodyPr/>
                    <a:lstStyle/>
                    <a:p>
                      <a:pPr indent="0" marL="0">
                        <a:buNone/>
                      </a:pPr>
                      <a:r>
                        <a:rPr lang="en-US" sz="950" b="1" dirty="0">
                          <a:solidFill>
                            <a:srgbClr val="0D171A"/>
                          </a:solidFill>
                          <a:latin typeface="Inter" pitchFamily="34" charset="0"/>
                          <a:ea typeface="Inter" pitchFamily="34" charset="-122"/>
                          <a:cs typeface="Inter" pitchFamily="34" charset="-120"/>
                        </a:rPr>
                        <a:t>An engineer pulls commit data</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dirty="0">
                          <a:solidFill>
                            <a:srgbClr val="0D171A"/>
                          </a:solidFill>
                          <a:latin typeface="Inter" pitchFamily="34" charset="0"/>
                          <a:ea typeface="Inter" pitchFamily="34" charset="-122"/>
                          <a:cs typeface="Inter" pitchFamily="34" charset="-120"/>
                        </a:rPr>
                        <a:t>Prepaid or postpaid commits, negotiated discount, live balance and ledger, embeddable dashboard, commit alerts, Salesforce sync.</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50" b="1" dirty="0">
                          <a:solidFill>
                            <a:srgbClr val="125B49"/>
                          </a:solidFill>
                          <a:latin typeface="Inter" pitchFamily="34" charset="0"/>
                          <a:ea typeface="Inter" pitchFamily="34" charset="-122"/>
                          <a:cs typeface="Inter" pitchFamily="34" charset="-120"/>
                        </a:rPr>
                        <a:t>Northwind (prepaid) or Kepler (postpaid)</a:t>
                      </a:r>
                      <a:endParaRPr lang="en-US" sz="950" dirty="0">
                        <a:latin typeface="Inter" charset="0"/>
                        <a:ea typeface="Inter" charset="0"/>
                        <a:cs typeface="Inter" charset="0"/>
                      </a:endParaRPr>
                    </a:p>
                  </a:txBody>
                  <a:tcPr marL="91440" marR="91440" marT="54864" marB="54864"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2920" y="457200"/>
            <a:ext cx="2651760" cy="219456"/>
          </a:xfrm>
          <a:prstGeom prst="rect">
            <a:avLst/>
          </a:prstGeom>
        </p:spPr>
      </p:pic>
      <p:sp>
        <p:nvSpPr>
          <p:cNvPr id="3" name="Text 0"/>
          <p:cNvSpPr txBox="1"/>
          <p:nvPr/>
        </p:nvSpPr>
        <p:spPr>
          <a:xfrm>
            <a:off x="502920" y="1298448"/>
            <a:ext cx="4206240" cy="228600"/>
          </a:xfrm>
          <a:prstGeom prst="rect">
            <a:avLst/>
          </a:prstGeom>
          <a:noFill/>
          <a:ln/>
        </p:spPr>
        <p:txBody>
          <a:bodyPr wrap="square" lIns="0" tIns="0" rIns="0" bIns="0" rtlCol="0" anchor="t"/>
          <a:lstStyle/>
          <a:p>
            <a:pPr indent="0" marL="0">
              <a:buNone/>
            </a:pPr>
            <a:r>
              <a:rPr lang="en-US" sz="1000" b="1" spc="200" kern="0" dirty="0">
                <a:solidFill>
                  <a:srgbClr val="C3EE8F"/>
                </a:solidFill>
                <a:latin typeface="Inter" pitchFamily="34" charset="0"/>
                <a:ea typeface="Inter" pitchFamily="34" charset="-122"/>
                <a:cs typeface="Inter" pitchFamily="34" charset="-120"/>
              </a:rPr>
              <a:t>LIVE DEMO  ·  30 MIN</a:t>
            </a:r>
            <a:endParaRPr lang="en-US" sz="1000" dirty="0"/>
          </a:p>
        </p:txBody>
      </p:sp>
      <p:sp>
        <p:nvSpPr>
          <p:cNvPr id="4" name="Text 0"/>
          <p:cNvSpPr/>
          <p:nvPr>
            <p:ph idx="100" type="title" hasCustomPrompt="1"/>
          </p:nvPr>
        </p:nvSpPr>
        <p:spPr>
          <a:xfrm>
            <a:off x="502920" y="1645920"/>
            <a:ext cx="4480560" cy="1645920"/>
          </a:xfrm>
          <a:prstGeom prst="rect">
            <a:avLst/>
          </a:prstGeom>
          <a:noFill/>
          <a:ln/>
        </p:spPr>
        <p:txBody>
          <a:bodyPr wrap="square" lIns="0" tIns="0" rIns="0" bIns="0" rtlCol="0" anchor="t"/>
          <a:lstStyle/>
          <a:p>
            <a:pPr algn="l" indent="0" marL="0">
              <a:buNone/>
            </a:pPr>
            <a:r>
              <a:rPr lang="en-US" sz="3200" dirty="0">
                <a:solidFill>
                  <a:srgbClr val="FFFFFF"/>
                </a:solidFill>
                <a:latin typeface="Inter" pitchFamily="34" charset="0"/>
                <a:ea typeface="Inter" pitchFamily="34" charset="-122"/>
                <a:cs typeface="Inter" pitchFamily="34" charset="-120"/>
              </a:rPr>
              <a:t>Replicate’s pricing, running in Metronome</a:t>
            </a:r>
            <a:endParaRPr lang="en-US" sz="3200" dirty="0"/>
          </a:p>
        </p:txBody>
      </p:sp>
      <p:sp>
        <p:nvSpPr>
          <p:cNvPr id="5" name="Text 2"/>
          <p:cNvSpPr txBox="1"/>
          <p:nvPr/>
        </p:nvSpPr>
        <p:spPr>
          <a:xfrm>
            <a:off x="502920" y="3200400"/>
            <a:ext cx="4206240" cy="274320"/>
          </a:xfrm>
          <a:prstGeom prst="rect">
            <a:avLst/>
          </a:prstGeom>
          <a:noFill/>
          <a:ln/>
        </p:spPr>
        <p:txBody>
          <a:bodyPr wrap="square" lIns="0" tIns="0" rIns="0" bIns="0" rtlCol="0" anchor="t"/>
          <a:lstStyle/>
          <a:p>
            <a:pPr indent="0" marL="0">
              <a:buNone/>
            </a:pPr>
            <a:r>
              <a:rPr lang="en-US" sz="1100" b="1" dirty="0">
                <a:solidFill>
                  <a:srgbClr val="EEF3EF"/>
                </a:solidFill>
                <a:latin typeface="Inter" pitchFamily="34" charset="0"/>
                <a:ea typeface="Inter" pitchFamily="34" charset="-122"/>
                <a:cs typeface="Inter" pitchFamily="34" charset="-120"/>
              </a:rPr>
              <a:t>Four customers on one rate card</a:t>
            </a:r>
            <a:endParaRPr lang="en-US" sz="1100" dirty="0"/>
          </a:p>
        </p:txBody>
      </p:sp>
      <p:sp>
        <p:nvSpPr>
          <p:cNvPr id="6" name="Shape 3"/>
          <p:cNvSpPr/>
          <p:nvPr/>
        </p:nvSpPr>
        <p:spPr>
          <a:xfrm>
            <a:off x="530352" y="3602736"/>
            <a:ext cx="91440" cy="91440"/>
          </a:xfrm>
          <a:prstGeom prst="ellipse">
            <a:avLst/>
          </a:prstGeom>
          <a:solidFill>
            <a:srgbClr val="C3EE8F"/>
          </a:solidFill>
          <a:ln w="12700">
            <a:solidFill>
              <a:srgbClr val="C3EE8F"/>
            </a:solidFill>
            <a:prstDash val="solid"/>
          </a:ln>
        </p:spPr>
      </p:sp>
      <p:sp>
        <p:nvSpPr>
          <p:cNvPr id="7" name="Text 4"/>
          <p:cNvSpPr txBox="1"/>
          <p:nvPr/>
        </p:nvSpPr>
        <p:spPr>
          <a:xfrm>
            <a:off x="731520" y="3547872"/>
            <a:ext cx="3931920" cy="237744"/>
          </a:xfrm>
          <a:prstGeom prst="rect">
            <a:avLst/>
          </a:prstGeom>
          <a:noFill/>
          <a:ln/>
        </p:spPr>
        <p:txBody>
          <a:bodyPr wrap="square" lIns="0" tIns="0" rIns="0" bIns="0" rtlCol="0" anchor="t"/>
          <a:lstStyle/>
          <a:p>
            <a:pPr indent="0" marL="0">
              <a:buNone/>
            </a:pPr>
            <a:r>
              <a:rPr lang="en-US" sz="1000" dirty="0">
                <a:solidFill>
                  <a:srgbClr val="A9BDB6"/>
                </a:solidFill>
                <a:latin typeface="Inter" pitchFamily="34" charset="0"/>
                <a:ea typeface="Inter" pitchFamily="34" charset="-122"/>
                <a:cs typeface="Inter" pitchFamily="34" charset="-120"/>
              </a:rPr>
              <a:t>Ada Okafor · free trial</a:t>
            </a:r>
            <a:endParaRPr lang="en-US" sz="1000" dirty="0"/>
          </a:p>
        </p:txBody>
      </p:sp>
      <p:sp>
        <p:nvSpPr>
          <p:cNvPr id="8" name="Shape 5"/>
          <p:cNvSpPr/>
          <p:nvPr/>
        </p:nvSpPr>
        <p:spPr>
          <a:xfrm>
            <a:off x="530352" y="3895344"/>
            <a:ext cx="91440" cy="91440"/>
          </a:xfrm>
          <a:prstGeom prst="ellipse">
            <a:avLst/>
          </a:prstGeom>
          <a:solidFill>
            <a:srgbClr val="C3EE8F"/>
          </a:solidFill>
          <a:ln w="12700">
            <a:solidFill>
              <a:srgbClr val="C3EE8F"/>
            </a:solidFill>
            <a:prstDash val="solid"/>
          </a:ln>
        </p:spPr>
      </p:sp>
      <p:sp>
        <p:nvSpPr>
          <p:cNvPr id="9" name="Text 6"/>
          <p:cNvSpPr txBox="1"/>
          <p:nvPr/>
        </p:nvSpPr>
        <p:spPr>
          <a:xfrm>
            <a:off x="731520" y="3840480"/>
            <a:ext cx="3931920" cy="237744"/>
          </a:xfrm>
          <a:prstGeom prst="rect">
            <a:avLst/>
          </a:prstGeom>
          <a:noFill/>
          <a:ln/>
        </p:spPr>
        <p:txBody>
          <a:bodyPr wrap="square" lIns="0" tIns="0" rIns="0" bIns="0" rtlCol="0" anchor="t"/>
          <a:lstStyle/>
          <a:p>
            <a:pPr indent="0" marL="0">
              <a:buNone/>
            </a:pPr>
            <a:r>
              <a:rPr lang="en-US" sz="1000" dirty="0">
                <a:solidFill>
                  <a:srgbClr val="A9BDB6"/>
                </a:solidFill>
                <a:latin typeface="Inter" pitchFamily="34" charset="0"/>
                <a:ea typeface="Inter" pitchFamily="34" charset="-122"/>
                <a:cs typeface="Inter" pitchFamily="34" charset="-120"/>
              </a:rPr>
              <a:t>Brightframe AI · pay-as-you-go + Pro Support</a:t>
            </a:r>
            <a:endParaRPr lang="en-US" sz="1000" dirty="0"/>
          </a:p>
        </p:txBody>
      </p:sp>
      <p:sp>
        <p:nvSpPr>
          <p:cNvPr id="10" name="Shape 7"/>
          <p:cNvSpPr/>
          <p:nvPr/>
        </p:nvSpPr>
        <p:spPr>
          <a:xfrm>
            <a:off x="530352" y="4187952"/>
            <a:ext cx="91440" cy="91440"/>
          </a:xfrm>
          <a:prstGeom prst="ellipse">
            <a:avLst/>
          </a:prstGeom>
          <a:solidFill>
            <a:srgbClr val="C3EE8F"/>
          </a:solidFill>
          <a:ln w="12700">
            <a:solidFill>
              <a:srgbClr val="C3EE8F"/>
            </a:solidFill>
            <a:prstDash val="solid"/>
          </a:ln>
        </p:spPr>
      </p:sp>
      <p:sp>
        <p:nvSpPr>
          <p:cNvPr id="11" name="Text 8"/>
          <p:cNvSpPr txBox="1"/>
          <p:nvPr/>
        </p:nvSpPr>
        <p:spPr>
          <a:xfrm>
            <a:off x="731520" y="4133088"/>
            <a:ext cx="3931920" cy="237744"/>
          </a:xfrm>
          <a:prstGeom prst="rect">
            <a:avLst/>
          </a:prstGeom>
          <a:noFill/>
          <a:ln/>
        </p:spPr>
        <p:txBody>
          <a:bodyPr wrap="square" lIns="0" tIns="0" rIns="0" bIns="0" rtlCol="0" anchor="t"/>
          <a:lstStyle/>
          <a:p>
            <a:pPr indent="0" marL="0">
              <a:buNone/>
            </a:pPr>
            <a:r>
              <a:rPr lang="en-US" sz="1000" dirty="0">
                <a:solidFill>
                  <a:srgbClr val="A9BDB6"/>
                </a:solidFill>
                <a:latin typeface="Inter" pitchFamily="34" charset="0"/>
                <a:ea typeface="Inter" pitchFamily="34" charset="-122"/>
                <a:cs typeface="Inter" pitchFamily="34" charset="-120"/>
              </a:rPr>
              <a:t>Northwind Media · $100k prepaid commit</a:t>
            </a:r>
            <a:endParaRPr lang="en-US" sz="1000" dirty="0"/>
          </a:p>
        </p:txBody>
      </p:sp>
      <p:sp>
        <p:nvSpPr>
          <p:cNvPr id="12" name="Shape 9"/>
          <p:cNvSpPr/>
          <p:nvPr/>
        </p:nvSpPr>
        <p:spPr>
          <a:xfrm>
            <a:off x="530352" y="4480560"/>
            <a:ext cx="91440" cy="91440"/>
          </a:xfrm>
          <a:prstGeom prst="ellipse">
            <a:avLst/>
          </a:prstGeom>
          <a:solidFill>
            <a:srgbClr val="C3EE8F"/>
          </a:solidFill>
          <a:ln w="12700">
            <a:solidFill>
              <a:srgbClr val="C3EE8F"/>
            </a:solidFill>
            <a:prstDash val="solid"/>
          </a:ln>
        </p:spPr>
      </p:sp>
      <p:sp>
        <p:nvSpPr>
          <p:cNvPr id="13" name="Text 10"/>
          <p:cNvSpPr txBox="1"/>
          <p:nvPr/>
        </p:nvSpPr>
        <p:spPr>
          <a:xfrm>
            <a:off x="731520" y="4425696"/>
            <a:ext cx="3931920" cy="237744"/>
          </a:xfrm>
          <a:prstGeom prst="rect">
            <a:avLst/>
          </a:prstGeom>
          <a:noFill/>
          <a:ln/>
        </p:spPr>
        <p:txBody>
          <a:bodyPr wrap="square" lIns="0" tIns="0" rIns="0" bIns="0" rtlCol="0" anchor="t"/>
          <a:lstStyle/>
          <a:p>
            <a:pPr indent="0" marL="0">
              <a:buNone/>
            </a:pPr>
            <a:r>
              <a:rPr lang="en-US" sz="1000" dirty="0">
                <a:solidFill>
                  <a:srgbClr val="A9BDB6"/>
                </a:solidFill>
                <a:latin typeface="Inter" pitchFamily="34" charset="0"/>
                <a:ea typeface="Inter" pitchFamily="34" charset="-122"/>
                <a:cs typeface="Inter" pitchFamily="34" charset="-120"/>
              </a:rPr>
              <a:t>Kepler Games · $100k postpaid commit</a:t>
            </a:r>
            <a:endParaRPr lang="en-US" sz="1000" dirty="0"/>
          </a:p>
        </p:txBody>
      </p:sp>
      <p:sp>
        <p:nvSpPr>
          <p:cNvPr id="14" name="Shape 11"/>
          <p:cNvSpPr/>
          <p:nvPr/>
        </p:nvSpPr>
        <p:spPr>
          <a:xfrm>
            <a:off x="5074920" y="868680"/>
            <a:ext cx="3657600" cy="512064"/>
          </a:xfrm>
          <a:prstGeom prst="roundRect">
            <a:avLst>
              <a:gd name="adj" fmla="val 14286"/>
            </a:avLst>
          </a:prstGeom>
          <a:solidFill>
            <a:srgbClr val="003834"/>
          </a:solidFill>
          <a:ln w="12700">
            <a:solidFill>
              <a:srgbClr val="003834"/>
            </a:solidFill>
            <a:prstDash val="solid"/>
          </a:ln>
        </p:spPr>
      </p:sp>
      <p:sp>
        <p:nvSpPr>
          <p:cNvPr id="15" name="Text 12"/>
          <p:cNvSpPr txBox="1"/>
          <p:nvPr/>
        </p:nvSpPr>
        <p:spPr>
          <a:xfrm>
            <a:off x="5212080" y="868680"/>
            <a:ext cx="320040" cy="512064"/>
          </a:xfrm>
          <a:prstGeom prst="rect">
            <a:avLst/>
          </a:prstGeom>
          <a:noFill/>
          <a:ln/>
        </p:spPr>
        <p:txBody>
          <a:bodyPr wrap="square" lIns="0" tIns="0" rIns="0" bIns="0" rtlCol="0" anchor="ctr"/>
          <a:lstStyle/>
          <a:p>
            <a:pPr indent="0" marL="0">
              <a:buNone/>
            </a:pPr>
            <a:r>
              <a:rPr lang="en-US" sz="1600" b="1" dirty="0">
                <a:solidFill>
                  <a:srgbClr val="C3EE8F"/>
                </a:solidFill>
                <a:latin typeface="Inter" pitchFamily="34" charset="0"/>
                <a:ea typeface="Inter" pitchFamily="34" charset="-122"/>
                <a:cs typeface="Inter" pitchFamily="34" charset="-120"/>
              </a:rPr>
              <a:t>0</a:t>
            </a:r>
            <a:endParaRPr lang="en-US" sz="1600" dirty="0"/>
          </a:p>
        </p:txBody>
      </p:sp>
      <p:sp>
        <p:nvSpPr>
          <p:cNvPr id="16" name="Text 13"/>
          <p:cNvSpPr txBox="1"/>
          <p:nvPr/>
        </p:nvSpPr>
        <p:spPr>
          <a:xfrm>
            <a:off x="5577840" y="868680"/>
            <a:ext cx="2514600" cy="51206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The model: one event, every price</a:t>
            </a:r>
            <a:endParaRPr lang="en-US" sz="1150" dirty="0"/>
          </a:p>
        </p:txBody>
      </p:sp>
      <p:sp>
        <p:nvSpPr>
          <p:cNvPr id="17" name="Text 14"/>
          <p:cNvSpPr txBox="1"/>
          <p:nvPr/>
        </p:nvSpPr>
        <p:spPr>
          <a:xfrm>
            <a:off x="8092440" y="868680"/>
            <a:ext cx="548640" cy="512064"/>
          </a:xfrm>
          <a:prstGeom prst="rect">
            <a:avLst/>
          </a:prstGeom>
          <a:noFill/>
          <a:ln/>
        </p:spPr>
        <p:txBody>
          <a:bodyPr wrap="square" lIns="0" tIns="0" rIns="0" bIns="0" rtlCol="0" anchor="ctr"/>
          <a:lstStyle/>
          <a:p>
            <a:pPr algn="r" indent="0" marL="0">
              <a:buNone/>
            </a:pPr>
            <a:r>
              <a:rPr lang="en-US" sz="950" dirty="0">
                <a:solidFill>
                  <a:srgbClr val="A9BDB6"/>
                </a:solidFill>
                <a:latin typeface="Inter" pitchFamily="34" charset="0"/>
                <a:ea typeface="Inter" pitchFamily="34" charset="-122"/>
                <a:cs typeface="Inter" pitchFamily="34" charset="-120"/>
              </a:rPr>
              <a:t>2 min</a:t>
            </a:r>
            <a:endParaRPr lang="en-US" sz="950" dirty="0"/>
          </a:p>
        </p:txBody>
      </p:sp>
      <p:sp>
        <p:nvSpPr>
          <p:cNvPr id="18" name="Shape 15"/>
          <p:cNvSpPr/>
          <p:nvPr/>
        </p:nvSpPr>
        <p:spPr>
          <a:xfrm>
            <a:off x="5074920" y="1490472"/>
            <a:ext cx="3657600" cy="512064"/>
          </a:xfrm>
          <a:prstGeom prst="roundRect">
            <a:avLst>
              <a:gd name="adj" fmla="val 14286"/>
            </a:avLst>
          </a:prstGeom>
          <a:solidFill>
            <a:srgbClr val="003834"/>
          </a:solidFill>
          <a:ln w="12700">
            <a:solidFill>
              <a:srgbClr val="003834"/>
            </a:solidFill>
            <a:prstDash val="solid"/>
          </a:ln>
        </p:spPr>
      </p:sp>
      <p:sp>
        <p:nvSpPr>
          <p:cNvPr id="19" name="Text 16"/>
          <p:cNvSpPr txBox="1"/>
          <p:nvPr/>
        </p:nvSpPr>
        <p:spPr>
          <a:xfrm>
            <a:off x="5212080" y="1490472"/>
            <a:ext cx="320040" cy="512064"/>
          </a:xfrm>
          <a:prstGeom prst="rect">
            <a:avLst/>
          </a:prstGeom>
          <a:noFill/>
          <a:ln/>
        </p:spPr>
        <p:txBody>
          <a:bodyPr wrap="square" lIns="0" tIns="0" rIns="0" bIns="0" rtlCol="0" anchor="ctr"/>
          <a:lstStyle/>
          <a:p>
            <a:pPr indent="0" marL="0">
              <a:buNone/>
            </a:pPr>
            <a:r>
              <a:rPr lang="en-US" sz="1600" b="1" dirty="0">
                <a:solidFill>
                  <a:srgbClr val="C3EE8F"/>
                </a:solidFill>
                <a:latin typeface="Inter" pitchFamily="34" charset="0"/>
                <a:ea typeface="Inter" pitchFamily="34" charset="-122"/>
                <a:cs typeface="Inter" pitchFamily="34" charset="-120"/>
              </a:rPr>
              <a:t>1</a:t>
            </a:r>
            <a:endParaRPr lang="en-US" sz="1600" dirty="0"/>
          </a:p>
        </p:txBody>
      </p:sp>
      <p:sp>
        <p:nvSpPr>
          <p:cNvPr id="20" name="Text 17"/>
          <p:cNvSpPr txBox="1"/>
          <p:nvPr/>
        </p:nvSpPr>
        <p:spPr>
          <a:xfrm>
            <a:off x="5577840" y="1490472"/>
            <a:ext cx="2514600" cy="51206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 new GPU is a rate, not a project</a:t>
            </a:r>
            <a:endParaRPr lang="en-US" sz="1150" dirty="0"/>
          </a:p>
        </p:txBody>
      </p:sp>
      <p:sp>
        <p:nvSpPr>
          <p:cNvPr id="21" name="Text 18"/>
          <p:cNvSpPr txBox="1"/>
          <p:nvPr/>
        </p:nvSpPr>
        <p:spPr>
          <a:xfrm>
            <a:off x="8092440" y="1490472"/>
            <a:ext cx="548640" cy="512064"/>
          </a:xfrm>
          <a:prstGeom prst="rect">
            <a:avLst/>
          </a:prstGeom>
          <a:noFill/>
          <a:ln/>
        </p:spPr>
        <p:txBody>
          <a:bodyPr wrap="square" lIns="0" tIns="0" rIns="0" bIns="0" rtlCol="0" anchor="ctr"/>
          <a:lstStyle/>
          <a:p>
            <a:pPr algn="r" indent="0" marL="0">
              <a:buNone/>
            </a:pPr>
            <a:r>
              <a:rPr lang="en-US" sz="950" dirty="0">
                <a:solidFill>
                  <a:srgbClr val="A9BDB6"/>
                </a:solidFill>
                <a:latin typeface="Inter" pitchFamily="34" charset="0"/>
                <a:ea typeface="Inter" pitchFamily="34" charset="-122"/>
                <a:cs typeface="Inter" pitchFamily="34" charset="-120"/>
              </a:rPr>
              <a:t>7 min</a:t>
            </a:r>
            <a:endParaRPr lang="en-US" sz="950" dirty="0"/>
          </a:p>
        </p:txBody>
      </p:sp>
      <p:sp>
        <p:nvSpPr>
          <p:cNvPr id="22" name="Shape 19"/>
          <p:cNvSpPr/>
          <p:nvPr/>
        </p:nvSpPr>
        <p:spPr>
          <a:xfrm>
            <a:off x="5074920" y="2112264"/>
            <a:ext cx="3657600" cy="512064"/>
          </a:xfrm>
          <a:prstGeom prst="roundRect">
            <a:avLst>
              <a:gd name="adj" fmla="val 14286"/>
            </a:avLst>
          </a:prstGeom>
          <a:solidFill>
            <a:srgbClr val="003834"/>
          </a:solidFill>
          <a:ln w="12700">
            <a:solidFill>
              <a:srgbClr val="003834"/>
            </a:solidFill>
            <a:prstDash val="solid"/>
          </a:ln>
        </p:spPr>
      </p:sp>
      <p:sp>
        <p:nvSpPr>
          <p:cNvPr id="23" name="Text 20"/>
          <p:cNvSpPr txBox="1"/>
          <p:nvPr/>
        </p:nvSpPr>
        <p:spPr>
          <a:xfrm>
            <a:off x="5212080" y="2112264"/>
            <a:ext cx="320040" cy="512064"/>
          </a:xfrm>
          <a:prstGeom prst="rect">
            <a:avLst/>
          </a:prstGeom>
          <a:noFill/>
          <a:ln/>
        </p:spPr>
        <p:txBody>
          <a:bodyPr wrap="square" lIns="0" tIns="0" rIns="0" bIns="0" rtlCol="0" anchor="ctr"/>
          <a:lstStyle/>
          <a:p>
            <a:pPr indent="0" marL="0">
              <a:buNone/>
            </a:pPr>
            <a:r>
              <a:rPr lang="en-US" sz="1600" b="1" dirty="0">
                <a:solidFill>
                  <a:srgbClr val="C3EE8F"/>
                </a:solidFill>
                <a:latin typeface="Inter" pitchFamily="34" charset="0"/>
                <a:ea typeface="Inter" pitchFamily="34" charset="-122"/>
                <a:cs typeface="Inter" pitchFamily="34" charset="-120"/>
              </a:rPr>
              <a:t>2</a:t>
            </a:r>
            <a:endParaRPr lang="en-US" sz="1600" dirty="0"/>
          </a:p>
        </p:txBody>
      </p:sp>
      <p:sp>
        <p:nvSpPr>
          <p:cNvPr id="24" name="Text 21"/>
          <p:cNvSpPr txBox="1"/>
          <p:nvPr/>
        </p:nvSpPr>
        <p:spPr>
          <a:xfrm>
            <a:off x="5577840" y="2112264"/>
            <a:ext cx="2514600" cy="51206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 card-free trial that can’t leak</a:t>
            </a:r>
            <a:endParaRPr lang="en-US" sz="1150" dirty="0"/>
          </a:p>
        </p:txBody>
      </p:sp>
      <p:sp>
        <p:nvSpPr>
          <p:cNvPr id="25" name="Text 22"/>
          <p:cNvSpPr txBox="1"/>
          <p:nvPr/>
        </p:nvSpPr>
        <p:spPr>
          <a:xfrm>
            <a:off x="8092440" y="2112264"/>
            <a:ext cx="548640" cy="512064"/>
          </a:xfrm>
          <a:prstGeom prst="rect">
            <a:avLst/>
          </a:prstGeom>
          <a:noFill/>
          <a:ln/>
        </p:spPr>
        <p:txBody>
          <a:bodyPr wrap="square" lIns="0" tIns="0" rIns="0" bIns="0" rtlCol="0" anchor="ctr"/>
          <a:lstStyle/>
          <a:p>
            <a:pPr algn="r" indent="0" marL="0">
              <a:buNone/>
            </a:pPr>
            <a:r>
              <a:rPr lang="en-US" sz="950" dirty="0">
                <a:solidFill>
                  <a:srgbClr val="A9BDB6"/>
                </a:solidFill>
                <a:latin typeface="Inter" pitchFamily="34" charset="0"/>
                <a:ea typeface="Inter" pitchFamily="34" charset="-122"/>
                <a:cs typeface="Inter" pitchFamily="34" charset="-120"/>
              </a:rPr>
              <a:t>6 min</a:t>
            </a:r>
            <a:endParaRPr lang="en-US" sz="950" dirty="0"/>
          </a:p>
        </p:txBody>
      </p:sp>
      <p:sp>
        <p:nvSpPr>
          <p:cNvPr id="26" name="Shape 23"/>
          <p:cNvSpPr/>
          <p:nvPr/>
        </p:nvSpPr>
        <p:spPr>
          <a:xfrm>
            <a:off x="5074920" y="2734056"/>
            <a:ext cx="3657600" cy="512064"/>
          </a:xfrm>
          <a:prstGeom prst="roundRect">
            <a:avLst>
              <a:gd name="adj" fmla="val 14286"/>
            </a:avLst>
          </a:prstGeom>
          <a:solidFill>
            <a:srgbClr val="003834"/>
          </a:solidFill>
          <a:ln w="12700">
            <a:solidFill>
              <a:srgbClr val="003834"/>
            </a:solidFill>
            <a:prstDash val="solid"/>
          </a:ln>
        </p:spPr>
      </p:sp>
      <p:sp>
        <p:nvSpPr>
          <p:cNvPr id="27" name="Text 24"/>
          <p:cNvSpPr txBox="1"/>
          <p:nvPr/>
        </p:nvSpPr>
        <p:spPr>
          <a:xfrm>
            <a:off x="5212080" y="2734056"/>
            <a:ext cx="320040" cy="512064"/>
          </a:xfrm>
          <a:prstGeom prst="rect">
            <a:avLst/>
          </a:prstGeom>
          <a:noFill/>
          <a:ln/>
        </p:spPr>
        <p:txBody>
          <a:bodyPr wrap="square" lIns="0" tIns="0" rIns="0" bIns="0" rtlCol="0" anchor="ctr"/>
          <a:lstStyle/>
          <a:p>
            <a:pPr indent="0" marL="0">
              <a:buNone/>
            </a:pPr>
            <a:r>
              <a:rPr lang="en-US" sz="1600" b="1" dirty="0">
                <a:solidFill>
                  <a:srgbClr val="C3EE8F"/>
                </a:solidFill>
                <a:latin typeface="Inter" pitchFamily="34" charset="0"/>
                <a:ea typeface="Inter" pitchFamily="34" charset="-122"/>
                <a:cs typeface="Inter" pitchFamily="34" charset="-120"/>
              </a:rPr>
              <a:t>3</a:t>
            </a:r>
            <a:endParaRPr lang="en-US" sz="1600" dirty="0"/>
          </a:p>
        </p:txBody>
      </p:sp>
      <p:sp>
        <p:nvSpPr>
          <p:cNvPr id="28" name="Text 25"/>
          <p:cNvSpPr txBox="1"/>
          <p:nvPr/>
        </p:nvSpPr>
        <p:spPr>
          <a:xfrm>
            <a:off x="5577840" y="2734056"/>
            <a:ext cx="2514600" cy="51206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Support tiers you can sell</a:t>
            </a:r>
            <a:endParaRPr lang="en-US" sz="1150" dirty="0"/>
          </a:p>
        </p:txBody>
      </p:sp>
      <p:sp>
        <p:nvSpPr>
          <p:cNvPr id="29" name="Text 26"/>
          <p:cNvSpPr txBox="1"/>
          <p:nvPr/>
        </p:nvSpPr>
        <p:spPr>
          <a:xfrm>
            <a:off x="8092440" y="2734056"/>
            <a:ext cx="548640" cy="512064"/>
          </a:xfrm>
          <a:prstGeom prst="rect">
            <a:avLst/>
          </a:prstGeom>
          <a:noFill/>
          <a:ln/>
        </p:spPr>
        <p:txBody>
          <a:bodyPr wrap="square" lIns="0" tIns="0" rIns="0" bIns="0" rtlCol="0" anchor="ctr"/>
          <a:lstStyle/>
          <a:p>
            <a:pPr algn="r" indent="0" marL="0">
              <a:buNone/>
            </a:pPr>
            <a:r>
              <a:rPr lang="en-US" sz="950" dirty="0">
                <a:solidFill>
                  <a:srgbClr val="A9BDB6"/>
                </a:solidFill>
                <a:latin typeface="Inter" pitchFamily="34" charset="0"/>
                <a:ea typeface="Inter" pitchFamily="34" charset="-122"/>
                <a:cs typeface="Inter" pitchFamily="34" charset="-120"/>
              </a:rPr>
              <a:t>5 min</a:t>
            </a:r>
            <a:endParaRPr lang="en-US" sz="950" dirty="0"/>
          </a:p>
        </p:txBody>
      </p:sp>
      <p:sp>
        <p:nvSpPr>
          <p:cNvPr id="30" name="Shape 27"/>
          <p:cNvSpPr/>
          <p:nvPr/>
        </p:nvSpPr>
        <p:spPr>
          <a:xfrm>
            <a:off x="5074920" y="3355848"/>
            <a:ext cx="3657600" cy="512064"/>
          </a:xfrm>
          <a:prstGeom prst="roundRect">
            <a:avLst>
              <a:gd name="adj" fmla="val 14286"/>
            </a:avLst>
          </a:prstGeom>
          <a:solidFill>
            <a:srgbClr val="003834"/>
          </a:solidFill>
          <a:ln w="12700">
            <a:solidFill>
              <a:srgbClr val="003834"/>
            </a:solidFill>
            <a:prstDash val="solid"/>
          </a:ln>
        </p:spPr>
      </p:sp>
      <p:sp>
        <p:nvSpPr>
          <p:cNvPr id="31" name="Text 28"/>
          <p:cNvSpPr txBox="1"/>
          <p:nvPr/>
        </p:nvSpPr>
        <p:spPr>
          <a:xfrm>
            <a:off x="5212080" y="3355848"/>
            <a:ext cx="320040" cy="512064"/>
          </a:xfrm>
          <a:prstGeom prst="rect">
            <a:avLst/>
          </a:prstGeom>
          <a:noFill/>
          <a:ln/>
        </p:spPr>
        <p:txBody>
          <a:bodyPr wrap="square" lIns="0" tIns="0" rIns="0" bIns="0" rtlCol="0" anchor="ctr"/>
          <a:lstStyle/>
          <a:p>
            <a:pPr indent="0" marL="0">
              <a:buNone/>
            </a:pPr>
            <a:r>
              <a:rPr lang="en-US" sz="1600" b="1" dirty="0">
                <a:solidFill>
                  <a:srgbClr val="C3EE8F"/>
                </a:solidFill>
                <a:latin typeface="Inter" pitchFamily="34" charset="0"/>
                <a:ea typeface="Inter" pitchFamily="34" charset="-122"/>
                <a:cs typeface="Inter" pitchFamily="34" charset="-120"/>
              </a:rPr>
              <a:t>4</a:t>
            </a:r>
            <a:endParaRPr lang="en-US" sz="1600" dirty="0"/>
          </a:p>
        </p:txBody>
      </p:sp>
      <p:sp>
        <p:nvSpPr>
          <p:cNvPr id="32" name="Text 29"/>
          <p:cNvSpPr txBox="1"/>
          <p:nvPr/>
        </p:nvSpPr>
        <p:spPr>
          <a:xfrm>
            <a:off x="5577840" y="3355848"/>
            <a:ext cx="2514600" cy="51206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Where am I on my commit?</a:t>
            </a:r>
            <a:endParaRPr lang="en-US" sz="1150" dirty="0"/>
          </a:p>
        </p:txBody>
      </p:sp>
      <p:sp>
        <p:nvSpPr>
          <p:cNvPr id="33" name="Text 30"/>
          <p:cNvSpPr txBox="1"/>
          <p:nvPr/>
        </p:nvSpPr>
        <p:spPr>
          <a:xfrm>
            <a:off x="8092440" y="3355848"/>
            <a:ext cx="548640" cy="512064"/>
          </a:xfrm>
          <a:prstGeom prst="rect">
            <a:avLst/>
          </a:prstGeom>
          <a:noFill/>
          <a:ln/>
        </p:spPr>
        <p:txBody>
          <a:bodyPr wrap="square" lIns="0" tIns="0" rIns="0" bIns="0" rtlCol="0" anchor="ctr"/>
          <a:lstStyle/>
          <a:p>
            <a:pPr algn="r" indent="0" marL="0">
              <a:buNone/>
            </a:pPr>
            <a:r>
              <a:rPr lang="en-US" sz="950" dirty="0">
                <a:solidFill>
                  <a:srgbClr val="A9BDB6"/>
                </a:solidFill>
                <a:latin typeface="Inter" pitchFamily="34" charset="0"/>
                <a:ea typeface="Inter" pitchFamily="34" charset="-122"/>
                <a:cs typeface="Inter" pitchFamily="34" charset="-120"/>
              </a:rPr>
              <a:t>7 min</a:t>
            </a:r>
            <a:endParaRPr lang="en-US" sz="950" dirty="0"/>
          </a:p>
        </p:txBody>
      </p:sp>
      <p:sp>
        <p:nvSpPr>
          <p:cNvPr id="34" name="Shape 31"/>
          <p:cNvSpPr/>
          <p:nvPr/>
        </p:nvSpPr>
        <p:spPr>
          <a:xfrm>
            <a:off x="5074920" y="3977640"/>
            <a:ext cx="3657600" cy="512064"/>
          </a:xfrm>
          <a:prstGeom prst="roundRect">
            <a:avLst>
              <a:gd name="adj" fmla="val 14286"/>
            </a:avLst>
          </a:prstGeom>
          <a:solidFill>
            <a:srgbClr val="003834"/>
          </a:solidFill>
          <a:ln w="12700">
            <a:solidFill>
              <a:srgbClr val="003834"/>
            </a:solidFill>
            <a:prstDash val="solid"/>
          </a:ln>
        </p:spPr>
      </p:sp>
      <p:sp>
        <p:nvSpPr>
          <p:cNvPr id="35" name="Text 32"/>
          <p:cNvSpPr txBox="1"/>
          <p:nvPr/>
        </p:nvSpPr>
        <p:spPr>
          <a:xfrm>
            <a:off x="5212080" y="3977640"/>
            <a:ext cx="320040" cy="512064"/>
          </a:xfrm>
          <a:prstGeom prst="rect">
            <a:avLst/>
          </a:prstGeom>
          <a:noFill/>
          <a:ln/>
        </p:spPr>
        <p:txBody>
          <a:bodyPr wrap="square" lIns="0" tIns="0" rIns="0" bIns="0" rtlCol="0" anchor="ctr"/>
          <a:lstStyle/>
          <a:p>
            <a:pPr indent="0" marL="0">
              <a:buNone/>
            </a:pPr>
            <a:r>
              <a:rPr lang="en-US" sz="1600" b="1" dirty="0">
                <a:solidFill>
                  <a:srgbClr val="C3EE8F"/>
                </a:solidFill>
                <a:latin typeface="Inter" pitchFamily="34" charset="0"/>
                <a:ea typeface="Inter" pitchFamily="34" charset="-122"/>
                <a:cs typeface="Inter" pitchFamily="34" charset="-120"/>
              </a:rPr>
              <a:t>5</a:t>
            </a:r>
            <a:endParaRPr lang="en-US" sz="1600" dirty="0"/>
          </a:p>
        </p:txBody>
      </p:sp>
      <p:sp>
        <p:nvSpPr>
          <p:cNvPr id="36" name="Text 33"/>
          <p:cNvSpPr txBox="1"/>
          <p:nvPr/>
        </p:nvSpPr>
        <p:spPr>
          <a:xfrm>
            <a:off x="5577840" y="3977640"/>
            <a:ext cx="2514600" cy="512064"/>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Fits your quote-to-cash</a:t>
            </a:r>
            <a:endParaRPr lang="en-US" sz="1150" dirty="0"/>
          </a:p>
        </p:txBody>
      </p:sp>
      <p:sp>
        <p:nvSpPr>
          <p:cNvPr id="37" name="Text 34"/>
          <p:cNvSpPr txBox="1"/>
          <p:nvPr/>
        </p:nvSpPr>
        <p:spPr>
          <a:xfrm>
            <a:off x="8092440" y="3977640"/>
            <a:ext cx="548640" cy="512064"/>
          </a:xfrm>
          <a:prstGeom prst="rect">
            <a:avLst/>
          </a:prstGeom>
          <a:noFill/>
          <a:ln/>
        </p:spPr>
        <p:txBody>
          <a:bodyPr wrap="square" lIns="0" tIns="0" rIns="0" bIns="0" rtlCol="0" anchor="ctr"/>
          <a:lstStyle/>
          <a:p>
            <a:pPr algn="r" indent="0" marL="0">
              <a:buNone/>
            </a:pPr>
            <a:r>
              <a:rPr lang="en-US" sz="950" dirty="0">
                <a:solidFill>
                  <a:srgbClr val="A9BDB6"/>
                </a:solidFill>
                <a:latin typeface="Inter" pitchFamily="34" charset="0"/>
                <a:ea typeface="Inter" pitchFamily="34" charset="-122"/>
                <a:cs typeface="Inter" pitchFamily="34" charset="-120"/>
              </a:rPr>
              <a:t>3 min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NEXT STEPS</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A 4-week path to a confident decision</a:t>
            </a:r>
            <a:endParaRPr lang="en-US" sz="2400" dirty="0"/>
          </a:p>
        </p:txBody>
      </p:sp>
      <p:sp>
        <p:nvSpPr>
          <p:cNvPr id="4" name="Shape 2"/>
          <p:cNvSpPr/>
          <p:nvPr/>
        </p:nvSpPr>
        <p:spPr>
          <a:xfrm>
            <a:off x="457200" y="1207008"/>
            <a:ext cx="3383280" cy="2743200"/>
          </a:xfrm>
          <a:prstGeom prst="roundRect">
            <a:avLst>
              <a:gd name="adj" fmla="val 2667"/>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5" name="Text 3"/>
          <p:cNvSpPr txBox="1"/>
          <p:nvPr/>
        </p:nvSpPr>
        <p:spPr>
          <a:xfrm>
            <a:off x="685800" y="1371600"/>
            <a:ext cx="3017520" cy="274320"/>
          </a:xfrm>
          <a:prstGeom prst="rect">
            <a:avLst/>
          </a:prstGeom>
          <a:noFill/>
          <a:ln/>
        </p:spPr>
        <p:txBody>
          <a:bodyPr wrap="square" lIns="0" tIns="0" rIns="0" bIns="0" rtlCol="0" anchor="t"/>
          <a:lstStyle/>
          <a:p>
            <a:pPr indent="0" marL="0">
              <a:buNone/>
            </a:pPr>
            <a:r>
              <a:rPr lang="en-US" sz="1300" b="1" dirty="0">
                <a:solidFill>
                  <a:srgbClr val="0D171A"/>
                </a:solidFill>
                <a:latin typeface="Inter" pitchFamily="34" charset="0"/>
                <a:ea typeface="Inter" pitchFamily="34" charset="-122"/>
                <a:cs typeface="Inter" pitchFamily="34" charset="-120"/>
              </a:rPr>
              <a:t>What you saw today</a:t>
            </a:r>
            <a:endParaRPr lang="en-US" sz="1300" dirty="0"/>
          </a:p>
        </p:txBody>
      </p:sp>
      <p:sp>
        <p:nvSpPr>
          <p:cNvPr id="6" name="Shape 4"/>
          <p:cNvSpPr/>
          <p:nvPr/>
        </p:nvSpPr>
        <p:spPr>
          <a:xfrm>
            <a:off x="685800" y="1810512"/>
            <a:ext cx="292608" cy="292608"/>
          </a:xfrm>
          <a:prstGeom prst="ellipse">
            <a:avLst/>
          </a:prstGeom>
          <a:solidFill>
            <a:srgbClr val="C3EE8F"/>
          </a:solidFill>
          <a:ln w="12700">
            <a:solidFill>
              <a:srgbClr val="C3EE8F"/>
            </a:solidFill>
            <a:prstDash val="solid"/>
          </a:ln>
        </p:spPr>
      </p:sp>
      <p:pic>
        <p:nvPicPr>
          <p:cNvPr id="7" name="Image 0" descr="preencoded.png">    </p:cNvPr>
          <p:cNvPicPr>
            <a:picLocks noChangeAspect="1"/>
          </p:cNvPicPr>
          <p:nvPr/>
        </p:nvPicPr>
        <p:blipFill>
          <a:blip r:embed="rId1"/>
          <a:stretch>
            <a:fillRect/>
          </a:stretch>
        </p:blipFill>
        <p:spPr>
          <a:xfrm>
            <a:off x="758952" y="1883664"/>
            <a:ext cx="146304" cy="146304"/>
          </a:xfrm>
          <a:prstGeom prst="rect">
            <a:avLst/>
          </a:prstGeom>
        </p:spPr>
      </p:pic>
      <p:sp>
        <p:nvSpPr>
          <p:cNvPr id="8" name="Text 5"/>
          <p:cNvSpPr txBox="1"/>
          <p:nvPr/>
        </p:nvSpPr>
        <p:spPr>
          <a:xfrm>
            <a:off x="1097280" y="1828800"/>
            <a:ext cx="2606040" cy="365760"/>
          </a:xfrm>
          <a:prstGeom prst="rect">
            <a:avLst/>
          </a:prstGeom>
          <a:noFill/>
          <a:ln/>
        </p:spPr>
        <p:txBody>
          <a:bodyPr wrap="square" lIns="0" tIns="0" rIns="0" bIns="0" rtlCol="0" anchor="t"/>
          <a:lstStyle/>
          <a:p>
            <a:pPr indent="0" marL="0">
              <a:buNone/>
            </a:pPr>
            <a:r>
              <a:rPr lang="en-US" sz="1100" dirty="0">
                <a:solidFill>
                  <a:srgbClr val="0D171A"/>
                </a:solidFill>
                <a:latin typeface="Inter" pitchFamily="34" charset="0"/>
                <a:ea typeface="Inter" pitchFamily="34" charset="-122"/>
                <a:cs typeface="Inter" pitchFamily="34" charset="-120"/>
              </a:rPr>
              <a:t>A new GPU priced with one rate</a:t>
            </a:r>
            <a:endParaRPr lang="en-US" sz="1100" dirty="0"/>
          </a:p>
        </p:txBody>
      </p:sp>
      <p:sp>
        <p:nvSpPr>
          <p:cNvPr id="9" name="Shape 6"/>
          <p:cNvSpPr/>
          <p:nvPr/>
        </p:nvSpPr>
        <p:spPr>
          <a:xfrm>
            <a:off x="685800" y="2322576"/>
            <a:ext cx="292608" cy="292608"/>
          </a:xfrm>
          <a:prstGeom prst="ellipse">
            <a:avLst/>
          </a:prstGeom>
          <a:solidFill>
            <a:srgbClr val="C3EE8F"/>
          </a:solidFill>
          <a:ln w="12700">
            <a:solidFill>
              <a:srgbClr val="C3EE8F"/>
            </a:solidFill>
            <a:prstDash val="solid"/>
          </a:ln>
        </p:spPr>
      </p:sp>
      <p:pic>
        <p:nvPicPr>
          <p:cNvPr id="10" name="Image 1" descr="preencoded.png">    </p:cNvPr>
          <p:cNvPicPr>
            <a:picLocks noChangeAspect="1"/>
          </p:cNvPicPr>
          <p:nvPr/>
        </p:nvPicPr>
        <p:blipFill>
          <a:blip r:embed="rId2"/>
          <a:stretch>
            <a:fillRect/>
          </a:stretch>
        </p:blipFill>
        <p:spPr>
          <a:xfrm>
            <a:off x="758952" y="2395728"/>
            <a:ext cx="146304" cy="146304"/>
          </a:xfrm>
          <a:prstGeom prst="rect">
            <a:avLst/>
          </a:prstGeom>
        </p:spPr>
      </p:pic>
      <p:sp>
        <p:nvSpPr>
          <p:cNvPr id="11" name="Text 7"/>
          <p:cNvSpPr txBox="1"/>
          <p:nvPr/>
        </p:nvSpPr>
        <p:spPr>
          <a:xfrm>
            <a:off x="1097280" y="2340864"/>
            <a:ext cx="2606040" cy="365760"/>
          </a:xfrm>
          <a:prstGeom prst="rect">
            <a:avLst/>
          </a:prstGeom>
          <a:noFill/>
          <a:ln/>
        </p:spPr>
        <p:txBody>
          <a:bodyPr wrap="square" lIns="0" tIns="0" rIns="0" bIns="0" rtlCol="0" anchor="t"/>
          <a:lstStyle/>
          <a:p>
            <a:pPr indent="0" marL="0">
              <a:buNone/>
            </a:pPr>
            <a:r>
              <a:rPr lang="en-US" sz="1100" dirty="0">
                <a:solidFill>
                  <a:srgbClr val="0D171A"/>
                </a:solidFill>
                <a:latin typeface="Inter" pitchFamily="34" charset="0"/>
                <a:ea typeface="Inter" pitchFamily="34" charset="-122"/>
                <a:cs typeface="Inter" pitchFamily="34" charset="-120"/>
              </a:rPr>
              <a:t>Trial overage flagged in minutes, not a day</a:t>
            </a:r>
            <a:endParaRPr lang="en-US" sz="1100" dirty="0"/>
          </a:p>
        </p:txBody>
      </p:sp>
      <p:sp>
        <p:nvSpPr>
          <p:cNvPr id="12" name="Shape 8"/>
          <p:cNvSpPr/>
          <p:nvPr/>
        </p:nvSpPr>
        <p:spPr>
          <a:xfrm>
            <a:off x="685800" y="2834640"/>
            <a:ext cx="292608" cy="292608"/>
          </a:xfrm>
          <a:prstGeom prst="ellipse">
            <a:avLst/>
          </a:prstGeom>
          <a:solidFill>
            <a:srgbClr val="C3EE8F"/>
          </a:solidFill>
          <a:ln w="12700">
            <a:solidFill>
              <a:srgbClr val="C3EE8F"/>
            </a:solidFill>
            <a:prstDash val="solid"/>
          </a:ln>
        </p:spPr>
      </p:sp>
      <p:pic>
        <p:nvPicPr>
          <p:cNvPr id="13" name="Image 2" descr="preencoded.png">    </p:cNvPr>
          <p:cNvPicPr>
            <a:picLocks noChangeAspect="1"/>
          </p:cNvPicPr>
          <p:nvPr/>
        </p:nvPicPr>
        <p:blipFill>
          <a:blip r:embed="rId3"/>
          <a:stretch>
            <a:fillRect/>
          </a:stretch>
        </p:blipFill>
        <p:spPr>
          <a:xfrm>
            <a:off x="758952" y="2907792"/>
            <a:ext cx="146304" cy="146304"/>
          </a:xfrm>
          <a:prstGeom prst="rect">
            <a:avLst/>
          </a:prstGeom>
        </p:spPr>
      </p:pic>
      <p:sp>
        <p:nvSpPr>
          <p:cNvPr id="14" name="Text 9"/>
          <p:cNvSpPr txBox="1"/>
          <p:nvPr/>
        </p:nvSpPr>
        <p:spPr>
          <a:xfrm>
            <a:off x="1097280" y="2852928"/>
            <a:ext cx="2606040" cy="365760"/>
          </a:xfrm>
          <a:prstGeom prst="rect">
            <a:avLst/>
          </a:prstGeom>
          <a:noFill/>
          <a:ln/>
        </p:spPr>
        <p:txBody>
          <a:bodyPr wrap="square" lIns="0" tIns="0" rIns="0" bIns="0" rtlCol="0" anchor="t"/>
          <a:lstStyle/>
          <a:p>
            <a:pPr indent="0" marL="0">
              <a:buNone/>
            </a:pPr>
            <a:r>
              <a:rPr lang="en-US" sz="1100" dirty="0">
                <a:solidFill>
                  <a:srgbClr val="0D171A"/>
                </a:solidFill>
                <a:latin typeface="Inter" pitchFamily="34" charset="0"/>
                <a:ea typeface="Inter" pitchFamily="34" charset="-122"/>
                <a:cs typeface="Inter" pitchFamily="34" charset="-120"/>
              </a:rPr>
              <a:t>Fixed and % support tiers on real invoices</a:t>
            </a:r>
            <a:endParaRPr lang="en-US" sz="1100" dirty="0"/>
          </a:p>
        </p:txBody>
      </p:sp>
      <p:sp>
        <p:nvSpPr>
          <p:cNvPr id="15" name="Shape 10"/>
          <p:cNvSpPr/>
          <p:nvPr/>
        </p:nvSpPr>
        <p:spPr>
          <a:xfrm>
            <a:off x="685800" y="3346704"/>
            <a:ext cx="292608" cy="292608"/>
          </a:xfrm>
          <a:prstGeom prst="ellipse">
            <a:avLst/>
          </a:prstGeom>
          <a:solidFill>
            <a:srgbClr val="C3EE8F"/>
          </a:solidFill>
          <a:ln w="12700">
            <a:solidFill>
              <a:srgbClr val="C3EE8F"/>
            </a:solidFill>
            <a:prstDash val="solid"/>
          </a:ln>
        </p:spPr>
      </p:sp>
      <p:pic>
        <p:nvPicPr>
          <p:cNvPr id="16" name="Image 3" descr="preencoded.png">    </p:cNvPr>
          <p:cNvPicPr>
            <a:picLocks noChangeAspect="1"/>
          </p:cNvPicPr>
          <p:nvPr/>
        </p:nvPicPr>
        <p:blipFill>
          <a:blip r:embed="rId4"/>
          <a:stretch>
            <a:fillRect/>
          </a:stretch>
        </p:blipFill>
        <p:spPr>
          <a:xfrm>
            <a:off x="758952" y="3419856"/>
            <a:ext cx="146304" cy="146304"/>
          </a:xfrm>
          <a:prstGeom prst="rect">
            <a:avLst/>
          </a:prstGeom>
        </p:spPr>
      </p:pic>
      <p:sp>
        <p:nvSpPr>
          <p:cNvPr id="17" name="Text 11"/>
          <p:cNvSpPr txBox="1"/>
          <p:nvPr/>
        </p:nvSpPr>
        <p:spPr>
          <a:xfrm>
            <a:off x="1097280" y="3364992"/>
            <a:ext cx="2606040" cy="365760"/>
          </a:xfrm>
          <a:prstGeom prst="rect">
            <a:avLst/>
          </a:prstGeom>
          <a:noFill/>
          <a:ln/>
        </p:spPr>
        <p:txBody>
          <a:bodyPr wrap="square" lIns="0" tIns="0" rIns="0" bIns="0" rtlCol="0" anchor="t"/>
          <a:lstStyle/>
          <a:p>
            <a:pPr indent="0" marL="0">
              <a:buNone/>
            </a:pPr>
            <a:r>
              <a:rPr lang="en-US" sz="1100" dirty="0">
                <a:solidFill>
                  <a:srgbClr val="0D171A"/>
                </a:solidFill>
                <a:latin typeface="Inter" pitchFamily="34" charset="0"/>
                <a:ea typeface="Inter" pitchFamily="34" charset="-122"/>
                <a:cs typeface="Inter" pitchFamily="34" charset="-120"/>
              </a:rPr>
              <a:t>Commit balances visible to customers and sales</a:t>
            </a:r>
            <a:endParaRPr lang="en-US" sz="1100" dirty="0"/>
          </a:p>
        </p:txBody>
      </p:sp>
      <p:sp>
        <p:nvSpPr>
          <p:cNvPr id="18" name="Shape 12"/>
          <p:cNvSpPr/>
          <p:nvPr/>
        </p:nvSpPr>
        <p:spPr>
          <a:xfrm>
            <a:off x="4069080" y="1207008"/>
            <a:ext cx="4617720" cy="822960"/>
          </a:xfrm>
          <a:prstGeom prst="roundRect">
            <a:avLst>
              <a:gd name="adj" fmla="val 8889"/>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9" name="Shape 13"/>
          <p:cNvSpPr/>
          <p:nvPr/>
        </p:nvSpPr>
        <p:spPr>
          <a:xfrm>
            <a:off x="4251960" y="1389888"/>
            <a:ext cx="868680" cy="256032"/>
          </a:xfrm>
          <a:prstGeom prst="roundRect">
            <a:avLst>
              <a:gd name="adj" fmla="val 50000"/>
            </a:avLst>
          </a:prstGeom>
          <a:solidFill>
            <a:srgbClr val="C3EE8F"/>
          </a:solidFill>
          <a:ln w="12700">
            <a:solidFill>
              <a:srgbClr val="C3EE8F"/>
            </a:solidFill>
            <a:prstDash val="solid"/>
          </a:ln>
        </p:spPr>
      </p:sp>
      <p:sp>
        <p:nvSpPr>
          <p:cNvPr id="20" name="Text 14"/>
          <p:cNvSpPr txBox="1"/>
          <p:nvPr/>
        </p:nvSpPr>
        <p:spPr>
          <a:xfrm>
            <a:off x="4251960" y="1389888"/>
            <a:ext cx="868680" cy="256032"/>
          </a:xfrm>
          <a:prstGeom prst="rect">
            <a:avLst/>
          </a:prstGeom>
          <a:noFill/>
          <a:ln/>
        </p:spPr>
        <p:txBody>
          <a:bodyPr wrap="square" lIns="0" tIns="0" rIns="0" bIns="0" rtlCol="0" anchor="ctr"/>
          <a:lstStyle/>
          <a:p>
            <a:pPr algn="ctr" indent="0" marL="0">
              <a:buNone/>
            </a:pPr>
            <a:r>
              <a:rPr lang="en-US" sz="900" b="1" dirty="0">
                <a:solidFill>
                  <a:srgbClr val="0D171A"/>
                </a:solidFill>
                <a:latin typeface="Inter" pitchFamily="34" charset="0"/>
                <a:ea typeface="Inter" pitchFamily="34" charset="-122"/>
                <a:cs typeface="Inter" pitchFamily="34" charset="-120"/>
              </a:rPr>
              <a:t>Week 1</a:t>
            </a:r>
            <a:endParaRPr lang="en-US" sz="900" dirty="0"/>
          </a:p>
        </p:txBody>
      </p:sp>
      <p:sp>
        <p:nvSpPr>
          <p:cNvPr id="21" name="Text 15"/>
          <p:cNvSpPr txBox="1"/>
          <p:nvPr/>
        </p:nvSpPr>
        <p:spPr>
          <a:xfrm>
            <a:off x="5257800" y="1316736"/>
            <a:ext cx="3291840" cy="256032"/>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Technical deep-dive</a:t>
            </a:r>
            <a:endParaRPr lang="en-US" sz="1200" dirty="0"/>
          </a:p>
        </p:txBody>
      </p:sp>
      <p:sp>
        <p:nvSpPr>
          <p:cNvPr id="22" name="Text 16"/>
          <p:cNvSpPr txBox="1"/>
          <p:nvPr/>
        </p:nvSpPr>
        <p:spPr>
          <a:xfrm>
            <a:off x="5257800" y="1591056"/>
            <a:ext cx="3291840" cy="384048"/>
          </a:xfrm>
          <a:prstGeom prst="rect">
            <a:avLst/>
          </a:prstGeom>
          <a:noFill/>
          <a:ln/>
        </p:spPr>
        <p:txBody>
          <a:bodyPr wrap="square" lIns="0" tIns="0" rIns="0" bIns="0" rtlCol="0" anchor="t"/>
          <a:lstStyle/>
          <a:p>
            <a:pPr indent="0" marL="0">
              <a:buNone/>
            </a:pPr>
            <a:r>
              <a:rPr lang="en-US" sz="900" dirty="0">
                <a:solidFill>
                  <a:srgbClr val="565F5F"/>
                </a:solidFill>
                <a:latin typeface="Inter" pitchFamily="34" charset="0"/>
                <a:ea typeface="Inter" pitchFamily="34" charset="-122"/>
                <a:cs typeface="Inter" pitchFamily="34" charset="-120"/>
              </a:rPr>
              <a:t>Event schema (seconds, hardware, model), entitlement webhooks, Stripe, NetSuite and Salesforce mapping</a:t>
            </a:r>
            <a:endParaRPr lang="en-US" sz="900" dirty="0"/>
          </a:p>
        </p:txBody>
      </p:sp>
      <p:sp>
        <p:nvSpPr>
          <p:cNvPr id="23" name="Shape 17"/>
          <p:cNvSpPr/>
          <p:nvPr/>
        </p:nvSpPr>
        <p:spPr>
          <a:xfrm>
            <a:off x="4069080" y="2139696"/>
            <a:ext cx="4617720" cy="822960"/>
          </a:xfrm>
          <a:prstGeom prst="roundRect">
            <a:avLst>
              <a:gd name="adj" fmla="val 8889"/>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24" name="Shape 18"/>
          <p:cNvSpPr/>
          <p:nvPr/>
        </p:nvSpPr>
        <p:spPr>
          <a:xfrm>
            <a:off x="4251960" y="2322576"/>
            <a:ext cx="868680" cy="256032"/>
          </a:xfrm>
          <a:prstGeom prst="roundRect">
            <a:avLst>
              <a:gd name="adj" fmla="val 50000"/>
            </a:avLst>
          </a:prstGeom>
          <a:solidFill>
            <a:srgbClr val="C3EE8F"/>
          </a:solidFill>
          <a:ln w="12700">
            <a:solidFill>
              <a:srgbClr val="C3EE8F"/>
            </a:solidFill>
            <a:prstDash val="solid"/>
          </a:ln>
        </p:spPr>
      </p:sp>
      <p:sp>
        <p:nvSpPr>
          <p:cNvPr id="25" name="Text 19"/>
          <p:cNvSpPr txBox="1"/>
          <p:nvPr/>
        </p:nvSpPr>
        <p:spPr>
          <a:xfrm>
            <a:off x="4251960" y="2322576"/>
            <a:ext cx="868680" cy="256032"/>
          </a:xfrm>
          <a:prstGeom prst="rect">
            <a:avLst/>
          </a:prstGeom>
          <a:noFill/>
          <a:ln/>
        </p:spPr>
        <p:txBody>
          <a:bodyPr wrap="square" lIns="0" tIns="0" rIns="0" bIns="0" rtlCol="0" anchor="ctr"/>
          <a:lstStyle/>
          <a:p>
            <a:pPr algn="ctr" indent="0" marL="0">
              <a:buNone/>
            </a:pPr>
            <a:r>
              <a:rPr lang="en-US" sz="900" b="1" dirty="0">
                <a:solidFill>
                  <a:srgbClr val="0D171A"/>
                </a:solidFill>
                <a:latin typeface="Inter" pitchFamily="34" charset="0"/>
                <a:ea typeface="Inter" pitchFamily="34" charset="-122"/>
                <a:cs typeface="Inter" pitchFamily="34" charset="-120"/>
              </a:rPr>
              <a:t>Weeks 2–3</a:t>
            </a:r>
            <a:endParaRPr lang="en-US" sz="900" dirty="0"/>
          </a:p>
        </p:txBody>
      </p:sp>
      <p:sp>
        <p:nvSpPr>
          <p:cNvPr id="26" name="Text 20"/>
          <p:cNvSpPr txBox="1"/>
          <p:nvPr/>
        </p:nvSpPr>
        <p:spPr>
          <a:xfrm>
            <a:off x="5257800" y="2249424"/>
            <a:ext cx="3291840" cy="256032"/>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Pilot on your data</a:t>
            </a:r>
            <a:endParaRPr lang="en-US" sz="1200" dirty="0"/>
          </a:p>
        </p:txBody>
      </p:sp>
      <p:sp>
        <p:nvSpPr>
          <p:cNvPr id="27" name="Text 21"/>
          <p:cNvSpPr txBox="1"/>
          <p:nvPr/>
        </p:nvSpPr>
        <p:spPr>
          <a:xfrm>
            <a:off x="5257800" y="2523744"/>
            <a:ext cx="3291840" cy="384048"/>
          </a:xfrm>
          <a:prstGeom prst="rect">
            <a:avLst/>
          </a:prstGeom>
          <a:noFill/>
          <a:ln/>
        </p:spPr>
        <p:txBody>
          <a:bodyPr wrap="square" lIns="0" tIns="0" rIns="0" bIns="0" rtlCol="0" anchor="t"/>
          <a:lstStyle/>
          <a:p>
            <a:pPr indent="0" marL="0">
              <a:buNone/>
            </a:pPr>
            <a:r>
              <a:rPr lang="en-US" sz="900" dirty="0">
                <a:solidFill>
                  <a:srgbClr val="565F5F"/>
                </a:solidFill>
                <a:latin typeface="Inter" pitchFamily="34" charset="0"/>
                <a:ea typeface="Inter" pitchFamily="34" charset="-122"/>
                <a:cs typeface="Inter" pitchFamily="34" charset="-120"/>
              </a:rPr>
              <a:t>Replay a day of real compute events in a sandbox, mirror one enterprise contract, launch one GPU</a:t>
            </a:r>
            <a:endParaRPr lang="en-US" sz="900" dirty="0"/>
          </a:p>
        </p:txBody>
      </p:sp>
      <p:sp>
        <p:nvSpPr>
          <p:cNvPr id="28" name="Shape 22"/>
          <p:cNvSpPr/>
          <p:nvPr/>
        </p:nvSpPr>
        <p:spPr>
          <a:xfrm>
            <a:off x="4069080" y="3072384"/>
            <a:ext cx="4617720" cy="822960"/>
          </a:xfrm>
          <a:prstGeom prst="roundRect">
            <a:avLst>
              <a:gd name="adj" fmla="val 8889"/>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29" name="Shape 23"/>
          <p:cNvSpPr/>
          <p:nvPr/>
        </p:nvSpPr>
        <p:spPr>
          <a:xfrm>
            <a:off x="4251960" y="3255264"/>
            <a:ext cx="868680" cy="256032"/>
          </a:xfrm>
          <a:prstGeom prst="roundRect">
            <a:avLst>
              <a:gd name="adj" fmla="val 50000"/>
            </a:avLst>
          </a:prstGeom>
          <a:solidFill>
            <a:srgbClr val="C3EE8F"/>
          </a:solidFill>
          <a:ln w="12700">
            <a:solidFill>
              <a:srgbClr val="C3EE8F"/>
            </a:solidFill>
            <a:prstDash val="solid"/>
          </a:ln>
        </p:spPr>
      </p:sp>
      <p:sp>
        <p:nvSpPr>
          <p:cNvPr id="30" name="Text 24"/>
          <p:cNvSpPr txBox="1"/>
          <p:nvPr/>
        </p:nvSpPr>
        <p:spPr>
          <a:xfrm>
            <a:off x="4251960" y="3255264"/>
            <a:ext cx="868680" cy="256032"/>
          </a:xfrm>
          <a:prstGeom prst="rect">
            <a:avLst/>
          </a:prstGeom>
          <a:noFill/>
          <a:ln/>
        </p:spPr>
        <p:txBody>
          <a:bodyPr wrap="square" lIns="0" tIns="0" rIns="0" bIns="0" rtlCol="0" anchor="ctr"/>
          <a:lstStyle/>
          <a:p>
            <a:pPr algn="ctr" indent="0" marL="0">
              <a:buNone/>
            </a:pPr>
            <a:r>
              <a:rPr lang="en-US" sz="900" b="1" dirty="0">
                <a:solidFill>
                  <a:srgbClr val="0D171A"/>
                </a:solidFill>
                <a:latin typeface="Inter" pitchFamily="34" charset="0"/>
                <a:ea typeface="Inter" pitchFamily="34" charset="-122"/>
                <a:cs typeface="Inter" pitchFamily="34" charset="-120"/>
              </a:rPr>
              <a:t>Week 4</a:t>
            </a:r>
            <a:endParaRPr lang="en-US" sz="900" dirty="0"/>
          </a:p>
        </p:txBody>
      </p:sp>
      <p:sp>
        <p:nvSpPr>
          <p:cNvPr id="31" name="Text 25"/>
          <p:cNvSpPr txBox="1"/>
          <p:nvPr/>
        </p:nvSpPr>
        <p:spPr>
          <a:xfrm>
            <a:off x="5257800" y="3182112"/>
            <a:ext cx="3291840" cy="256032"/>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Success review</a:t>
            </a:r>
            <a:endParaRPr lang="en-US" sz="1200" dirty="0"/>
          </a:p>
        </p:txBody>
      </p:sp>
      <p:sp>
        <p:nvSpPr>
          <p:cNvPr id="32" name="Text 26"/>
          <p:cNvSpPr txBox="1"/>
          <p:nvPr/>
        </p:nvSpPr>
        <p:spPr>
          <a:xfrm>
            <a:off x="5257800" y="3456432"/>
            <a:ext cx="3291840" cy="384048"/>
          </a:xfrm>
          <a:prstGeom prst="rect">
            <a:avLst/>
          </a:prstGeom>
          <a:noFill/>
          <a:ln/>
        </p:spPr>
        <p:txBody>
          <a:bodyPr wrap="square" lIns="0" tIns="0" rIns="0" bIns="0" rtlCol="0" anchor="t"/>
          <a:lstStyle/>
          <a:p>
            <a:pPr indent="0" marL="0">
              <a:buNone/>
            </a:pPr>
            <a:r>
              <a:rPr lang="en-US" sz="900" dirty="0">
                <a:solidFill>
                  <a:srgbClr val="565F5F"/>
                </a:solidFill>
                <a:latin typeface="Inter" pitchFamily="34" charset="0"/>
                <a:ea typeface="Inter" pitchFamily="34" charset="-122"/>
                <a:cs typeface="Inter" pitchFamily="34" charset="-120"/>
              </a:rPr>
              <a:t>A GPU priced in under a day · trial overage caught in minutes · one commit dashboard live → proposal</a:t>
            </a:r>
            <a:endParaRPr lang="en-US" sz="900" dirty="0"/>
          </a:p>
        </p:txBody>
      </p:sp>
      <p:sp>
        <p:nvSpPr>
          <p:cNvPr id="33" name="Shape 27"/>
          <p:cNvSpPr/>
          <p:nvPr/>
        </p:nvSpPr>
        <p:spPr>
          <a:xfrm>
            <a:off x="457200" y="4069080"/>
            <a:ext cx="8229600" cy="530352"/>
          </a:xfrm>
          <a:prstGeom prst="roundRect">
            <a:avLst>
              <a:gd name="adj" fmla="val 13793"/>
            </a:avLst>
          </a:prstGeom>
          <a:solidFill>
            <a:srgbClr val="F1FFD0"/>
          </a:solidFill>
          <a:ln w="9525">
            <a:solidFill>
              <a:srgbClr val="DAF6AF"/>
            </a:solidFill>
            <a:prstDash val="solid"/>
          </a:ln>
        </p:spPr>
      </p:sp>
      <p:sp>
        <p:nvSpPr>
          <p:cNvPr id="34" name="Text 28"/>
          <p:cNvSpPr txBox="1"/>
          <p:nvPr/>
        </p:nvSpPr>
        <p:spPr>
          <a:xfrm>
            <a:off x="658368" y="4069080"/>
            <a:ext cx="7863840" cy="530352"/>
          </a:xfrm>
          <a:prstGeom prst="rect">
            <a:avLst/>
          </a:prstGeom>
          <a:noFill/>
          <a:ln/>
        </p:spPr>
        <p:txBody>
          <a:bodyPr wrap="square" lIns="0" tIns="0" rIns="0" bIns="0" rtlCol="0" anchor="ctr"/>
          <a:lstStyle/>
          <a:p>
            <a:pPr indent="0" marL="0">
              <a:buNone/>
            </a:pPr>
            <a:r>
              <a:rPr lang="en-US" sz="1000" b="1" dirty="0">
                <a:solidFill>
                  <a:srgbClr val="0D171A"/>
                </a:solidFill>
                <a:latin typeface="Inter" pitchFamily="34" charset="0"/>
                <a:ea typeface="Inter" pitchFamily="34" charset="-122"/>
                <a:cs typeface="Inter" pitchFamily="34" charset="-120"/>
              </a:rPr>
              <a:t>To confirm with you: </a:t>
            </a:r>
            <a:pPr indent="0" marL="0">
              <a:buNone/>
            </a:pPr>
            <a:r>
              <a:rPr lang="en-US" sz="1000" dirty="0">
                <a:solidFill>
                  <a:srgbClr val="0D171A"/>
                </a:solidFill>
                <a:latin typeface="Inter" pitchFamily="34" charset="0"/>
                <a:ea typeface="Inter" pitchFamily="34" charset="-122"/>
                <a:cs typeface="Inter" pitchFamily="34" charset="-120"/>
              </a:rPr>
              <a:t>prepaid or postpaid commits?  ·  trial credit amount and abuse rate?  ·  support tier pricing?  ·  NetSuite for billing, or revenue only?</a:t>
            </a:r>
            <a:endParaRPr lang="en-US" sz="100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APPENDIX  ·  IF ASKED</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Option: prepaid credits with auto-recharge</a:t>
            </a:r>
            <a:endParaRPr lang="en-US" sz="2400" dirty="0"/>
          </a:p>
        </p:txBody>
      </p:sp>
      <p:sp>
        <p:nvSpPr>
          <p:cNvPr id="4" name="Shape 2"/>
          <p:cNvSpPr/>
          <p:nvPr/>
        </p:nvSpPr>
        <p:spPr>
          <a:xfrm>
            <a:off x="457200" y="1207008"/>
            <a:ext cx="4023360" cy="2514600"/>
          </a:xfrm>
          <a:prstGeom prst="roundRect">
            <a:avLst>
              <a:gd name="adj" fmla="val 2909"/>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5" name="Text 3"/>
          <p:cNvSpPr txBox="1"/>
          <p:nvPr/>
        </p:nvSpPr>
        <p:spPr>
          <a:xfrm>
            <a:off x="685800" y="1371600"/>
            <a:ext cx="3657600" cy="274320"/>
          </a:xfrm>
          <a:prstGeom prst="rect">
            <a:avLst/>
          </a:prstGeom>
          <a:noFill/>
          <a:ln/>
        </p:spPr>
        <p:txBody>
          <a:bodyPr wrap="square" lIns="0" tIns="0" rIns="0" bIns="0" rtlCol="0" anchor="t"/>
          <a:lstStyle/>
          <a:p>
            <a:pPr indent="0" marL="0">
              <a:buNone/>
            </a:pPr>
            <a:r>
              <a:rPr lang="en-US" sz="1300" b="1" dirty="0">
                <a:solidFill>
                  <a:srgbClr val="0D171A"/>
                </a:solidFill>
                <a:latin typeface="Inter" pitchFamily="34" charset="0"/>
                <a:ea typeface="Inter" pitchFamily="34" charset="-122"/>
                <a:cs typeface="Inter" pitchFamily="34" charset="-120"/>
              </a:rPr>
              <a:t>The standard among your competitors</a:t>
            </a:r>
            <a:endParaRPr lang="en-US" sz="1300" dirty="0"/>
          </a:p>
        </p:txBody>
      </p:sp>
      <p:sp>
        <p:nvSpPr>
          <p:cNvPr id="6" name="Text 4"/>
          <p:cNvSpPr txBox="1"/>
          <p:nvPr/>
        </p:nvSpPr>
        <p:spPr>
          <a:xfrm>
            <a:off x="685800" y="1828800"/>
            <a:ext cx="3657600" cy="237744"/>
          </a:xfrm>
          <a:prstGeom prst="rect">
            <a:avLst/>
          </a:prstGeom>
          <a:noFill/>
          <a:ln/>
        </p:spPr>
        <p:txBody>
          <a:bodyPr wrap="square" lIns="0" tIns="0" rIns="0" bIns="0" rtlCol="0" anchor="t"/>
          <a:lstStyle/>
          <a:p>
            <a:pPr indent="0" marL="0">
              <a:buNone/>
            </a:pPr>
            <a:r>
              <a:rPr lang="en-US" sz="1150" b="1" dirty="0">
                <a:solidFill>
                  <a:srgbClr val="125B49"/>
                </a:solidFill>
                <a:latin typeface="Inter" pitchFamily="34" charset="0"/>
                <a:ea typeface="Inter" pitchFamily="34" charset="-122"/>
                <a:cs typeface="Inter" pitchFamily="34" charset="-120"/>
              </a:rPr>
              <a:t>Together AI</a:t>
            </a:r>
            <a:endParaRPr lang="en-US" sz="1150" dirty="0"/>
          </a:p>
        </p:txBody>
      </p:sp>
      <p:sp>
        <p:nvSpPr>
          <p:cNvPr id="7" name="Text 5"/>
          <p:cNvSpPr txBox="1"/>
          <p:nvPr/>
        </p:nvSpPr>
        <p:spPr>
          <a:xfrm>
            <a:off x="685800" y="2075688"/>
            <a:ext cx="3657600" cy="274320"/>
          </a:xfrm>
          <a:prstGeom prst="rect">
            <a:avLst/>
          </a:prstGeom>
          <a:noFill/>
          <a:ln/>
        </p:spPr>
        <p:txBody>
          <a:bodyPr wrap="square" lIns="0" tIns="0" rIns="0" bIns="0" rtlCol="0" anchor="t"/>
          <a:lstStyle/>
          <a:p>
            <a:pPr indent="0" marL="0">
              <a:buNone/>
            </a:pPr>
            <a:r>
              <a:rPr lang="en-US" sz="1000" dirty="0">
                <a:solidFill>
                  <a:srgbClr val="0D171A"/>
                </a:solidFill>
                <a:latin typeface="Inter" pitchFamily="34" charset="0"/>
                <a:ea typeface="Inter" pitchFamily="34" charset="-122"/>
                <a:cs typeface="Inter" pitchFamily="34" charset="-120"/>
              </a:rPr>
              <a:t>prepaid credits, $5 minimum, auto-recharge; no free trial</a:t>
            </a:r>
            <a:endParaRPr lang="en-US" sz="1000" dirty="0"/>
          </a:p>
        </p:txBody>
      </p:sp>
      <p:sp>
        <p:nvSpPr>
          <p:cNvPr id="8" name="Text 6"/>
          <p:cNvSpPr txBox="1"/>
          <p:nvPr/>
        </p:nvSpPr>
        <p:spPr>
          <a:xfrm>
            <a:off x="685800" y="2487168"/>
            <a:ext cx="3657600" cy="237744"/>
          </a:xfrm>
          <a:prstGeom prst="rect">
            <a:avLst/>
          </a:prstGeom>
          <a:noFill/>
          <a:ln/>
        </p:spPr>
        <p:txBody>
          <a:bodyPr wrap="square" lIns="0" tIns="0" rIns="0" bIns="0" rtlCol="0" anchor="t"/>
          <a:lstStyle/>
          <a:p>
            <a:pPr indent="0" marL="0">
              <a:buNone/>
            </a:pPr>
            <a:r>
              <a:rPr lang="en-US" sz="1150" b="1" dirty="0">
                <a:solidFill>
                  <a:srgbClr val="125B49"/>
                </a:solidFill>
                <a:latin typeface="Inter" pitchFamily="34" charset="0"/>
                <a:ea typeface="Inter" pitchFamily="34" charset="-122"/>
                <a:cs typeface="Inter" pitchFamily="34" charset="-120"/>
              </a:rPr>
              <a:t>Fireworks AI</a:t>
            </a:r>
            <a:endParaRPr lang="en-US" sz="1150" dirty="0"/>
          </a:p>
        </p:txBody>
      </p:sp>
      <p:sp>
        <p:nvSpPr>
          <p:cNvPr id="9" name="Text 7"/>
          <p:cNvSpPr txBox="1"/>
          <p:nvPr/>
        </p:nvSpPr>
        <p:spPr>
          <a:xfrm>
            <a:off x="685800" y="2734056"/>
            <a:ext cx="3657600" cy="274320"/>
          </a:xfrm>
          <a:prstGeom prst="rect">
            <a:avLst/>
          </a:prstGeom>
          <a:noFill/>
          <a:ln/>
        </p:spPr>
        <p:txBody>
          <a:bodyPr wrap="square" lIns="0" tIns="0" rIns="0" bIns="0" rtlCol="0" anchor="t"/>
          <a:lstStyle/>
          <a:p>
            <a:pPr indent="0" marL="0">
              <a:buNone/>
            </a:pPr>
            <a:r>
              <a:rPr lang="en-US" sz="1000" dirty="0">
                <a:solidFill>
                  <a:srgbClr val="0D171A"/>
                </a:solidFill>
                <a:latin typeface="Inter" pitchFamily="34" charset="0"/>
                <a:ea typeface="Inter" pitchFamily="34" charset="-122"/>
                <a:cs typeface="Inter" pitchFamily="34" charset="-120"/>
              </a:rPr>
              <a:t>every self-serve account prepaid since Jul 1, 2026; auto reload</a:t>
            </a:r>
            <a:endParaRPr lang="en-US" sz="1000" dirty="0"/>
          </a:p>
        </p:txBody>
      </p:sp>
      <p:sp>
        <p:nvSpPr>
          <p:cNvPr id="10" name="Text 8"/>
          <p:cNvSpPr txBox="1"/>
          <p:nvPr/>
        </p:nvSpPr>
        <p:spPr>
          <a:xfrm>
            <a:off x="685800" y="3145536"/>
            <a:ext cx="3657600" cy="237744"/>
          </a:xfrm>
          <a:prstGeom prst="rect">
            <a:avLst/>
          </a:prstGeom>
          <a:noFill/>
          <a:ln/>
        </p:spPr>
        <p:txBody>
          <a:bodyPr wrap="square" lIns="0" tIns="0" rIns="0" bIns="0" rtlCol="0" anchor="t"/>
          <a:lstStyle/>
          <a:p>
            <a:pPr indent="0" marL="0">
              <a:buNone/>
            </a:pPr>
            <a:r>
              <a:rPr lang="en-US" sz="1150" b="1" dirty="0">
                <a:solidFill>
                  <a:srgbClr val="125B49"/>
                </a:solidFill>
                <a:latin typeface="Inter" pitchFamily="34" charset="0"/>
                <a:ea typeface="Inter" pitchFamily="34" charset="-122"/>
                <a:cs typeface="Inter" pitchFamily="34" charset="-120"/>
              </a:rPr>
              <a:t>OpenAI API</a:t>
            </a:r>
            <a:endParaRPr lang="en-US" sz="1150" dirty="0"/>
          </a:p>
        </p:txBody>
      </p:sp>
      <p:sp>
        <p:nvSpPr>
          <p:cNvPr id="11" name="Text 9"/>
          <p:cNvSpPr txBox="1"/>
          <p:nvPr/>
        </p:nvSpPr>
        <p:spPr>
          <a:xfrm>
            <a:off x="685800" y="3392424"/>
            <a:ext cx="3657600" cy="274320"/>
          </a:xfrm>
          <a:prstGeom prst="rect">
            <a:avLst/>
          </a:prstGeom>
          <a:noFill/>
          <a:ln/>
        </p:spPr>
        <p:txBody>
          <a:bodyPr wrap="square" lIns="0" tIns="0" rIns="0" bIns="0" rtlCol="0" anchor="t"/>
          <a:lstStyle/>
          <a:p>
            <a:pPr indent="0" marL="0">
              <a:buNone/>
            </a:pPr>
            <a:r>
              <a:rPr lang="en-US" sz="1000" dirty="0">
                <a:solidFill>
                  <a:srgbClr val="0D171A"/>
                </a:solidFill>
                <a:latin typeface="Inter" pitchFamily="34" charset="0"/>
                <a:ea typeface="Inter" pitchFamily="34" charset="-122"/>
                <a:cs typeface="Inter" pitchFamily="34" charset="-120"/>
              </a:rPr>
              <a:t>prepaid billing with auto-reload</a:t>
            </a:r>
            <a:endParaRPr lang="en-US" sz="1000" dirty="0"/>
          </a:p>
        </p:txBody>
      </p:sp>
      <p:sp>
        <p:nvSpPr>
          <p:cNvPr id="12" name="Shape 10"/>
          <p:cNvSpPr/>
          <p:nvPr/>
        </p:nvSpPr>
        <p:spPr>
          <a:xfrm>
            <a:off x="4663440" y="1207008"/>
            <a:ext cx="4023360" cy="2514600"/>
          </a:xfrm>
          <a:prstGeom prst="roundRect">
            <a:avLst>
              <a:gd name="adj" fmla="val 2909"/>
            </a:avLst>
          </a:prstGeom>
          <a:solidFill>
            <a:srgbClr val="F1FFD0"/>
          </a:solidFill>
          <a:ln w="9525">
            <a:solidFill>
              <a:srgbClr val="DAF6AF"/>
            </a:solidFill>
            <a:prstDash val="solid"/>
          </a:ln>
          <a:effectLst>
            <a:outerShdw sx="100000" sy="100000" kx="0" ky="0" algn="bl" rotWithShape="0" blurRad="76200" dist="19050" dir="5400000">
              <a:srgbClr val="0D171A">
                <a:alpha val="8000"/>
              </a:srgbClr>
            </a:outerShdw>
          </a:effectLst>
        </p:spPr>
      </p:sp>
      <p:sp>
        <p:nvSpPr>
          <p:cNvPr id="13" name="Text 11"/>
          <p:cNvSpPr txBox="1"/>
          <p:nvPr/>
        </p:nvSpPr>
        <p:spPr>
          <a:xfrm>
            <a:off x="4892040" y="1371600"/>
            <a:ext cx="3657600" cy="274320"/>
          </a:xfrm>
          <a:prstGeom prst="rect">
            <a:avLst/>
          </a:prstGeom>
          <a:noFill/>
          <a:ln/>
        </p:spPr>
        <p:txBody>
          <a:bodyPr wrap="square" lIns="0" tIns="0" rIns="0" bIns="0" rtlCol="0" anchor="t"/>
          <a:lstStyle/>
          <a:p>
            <a:pPr indent="0" marL="0">
              <a:buNone/>
            </a:pPr>
            <a:r>
              <a:rPr lang="en-US" sz="1300" b="1" dirty="0">
                <a:solidFill>
                  <a:srgbClr val="0D171A"/>
                </a:solidFill>
                <a:latin typeface="Inter" pitchFamily="34" charset="0"/>
                <a:ea typeface="Inter" pitchFamily="34" charset="-122"/>
                <a:cs typeface="Inter" pitchFamily="34" charset="-120"/>
              </a:rPr>
              <a:t>How it runs in Metronome</a:t>
            </a:r>
            <a:endParaRPr lang="en-US" sz="1300" dirty="0"/>
          </a:p>
        </p:txBody>
      </p:sp>
      <p:sp>
        <p:nvSpPr>
          <p:cNvPr id="14" name="Text 12"/>
          <p:cNvSpPr txBox="1"/>
          <p:nvPr/>
        </p:nvSpPr>
        <p:spPr>
          <a:xfrm>
            <a:off x="4846320" y="1783080"/>
            <a:ext cx="3657600" cy="20116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0D171A"/>
                </a:solidFill>
                <a:latin typeface="Inter" pitchFamily="34" charset="0"/>
                <a:ea typeface="Inter" pitchFamily="34" charset="-122"/>
                <a:cs typeface="Inter" pitchFamily="34" charset="-120"/>
              </a:rPr>
              <a:t>Keep the card-free trial credit as the front door</a:t>
            </a:r>
            <a:endParaRPr lang="en-US" sz="1050" dirty="0"/>
          </a:p>
          <a:p>
            <a:pPr marL="342900" indent="-342900">
              <a:spcAft>
                <a:spcPts val="600"/>
              </a:spcAft>
              <a:buSzPct val="100000"/>
              <a:buChar char="•"/>
            </a:pPr>
            <a:r>
              <a:rPr lang="en-US" sz="1050" dirty="0">
                <a:solidFill>
                  <a:srgbClr val="0D171A"/>
                </a:solidFill>
                <a:latin typeface="Inter" pitchFamily="34" charset="0"/>
                <a:ea typeface="Inter" pitchFamily="34" charset="-122"/>
                <a:cs typeface="Inter" pitchFamily="34" charset="-120"/>
              </a:rPr>
              <a:t>Convert to a prepaid commit, released only when the Stripe payment succeeds (payment gate)</a:t>
            </a:r>
            <a:endParaRPr lang="en-US" sz="1050" dirty="0"/>
          </a:p>
          <a:p>
            <a:pPr marL="342900" indent="-342900">
              <a:spcAft>
                <a:spcPts val="600"/>
              </a:spcAft>
              <a:buSzPct val="100000"/>
              <a:buChar char="•"/>
            </a:pPr>
            <a:r>
              <a:rPr lang="en-US" sz="1050" dirty="0">
                <a:solidFill>
                  <a:srgbClr val="0D171A"/>
                </a:solidFill>
                <a:latin typeface="Inter" pitchFamily="34" charset="0"/>
                <a:ea typeface="Inter" pitchFamily="34" charset="-122"/>
                <a:cs typeface="Inter" pitchFamily="34" charset="-120"/>
              </a:rPr>
              <a:t>Auto-recharge: when the balance reaches a threshold, Metronome charges and tops it back up</a:t>
            </a:r>
            <a:endParaRPr lang="en-US" sz="1050" dirty="0"/>
          </a:p>
          <a:p>
            <a:pPr marL="342900" indent="-342900">
              <a:spcAft>
                <a:spcPts val="600"/>
              </a:spcAft>
              <a:buSzPct val="100000"/>
              <a:buChar char="•"/>
            </a:pPr>
            <a:r>
              <a:rPr lang="en-US" sz="1050" dirty="0">
                <a:solidFill>
                  <a:srgbClr val="0D171A"/>
                </a:solidFill>
                <a:latin typeface="Inter" pitchFamily="34" charset="0"/>
                <a:ea typeface="Inter" pitchFamily="34" charset="-122"/>
                <a:cs typeface="Inter" pitchFamily="34" charset="-120"/>
              </a:rPr>
              <a:t>A $0 balance alert tells your app to pause usage</a:t>
            </a:r>
            <a:endParaRPr lang="en-US" sz="1050" dirty="0"/>
          </a:p>
        </p:txBody>
      </p:sp>
      <p:sp>
        <p:nvSpPr>
          <p:cNvPr id="15" name="Text 13"/>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800" dirty="0">
                <a:solidFill>
                  <a:srgbClr val="6B726D"/>
                </a:solidFill>
                <a:latin typeface="Inter" pitchFamily="34" charset="0"/>
                <a:ea typeface="Inter" pitchFamily="34" charset="-122"/>
                <a:cs typeface="Inter" pitchFamily="34" charset="-120"/>
              </a:rPr>
              <a:t>Sources: Together AI docs; Fireworks blog “Billing migration to prepaid” (Jun 2026); OpenAI Help Center; Metronome docs “Set prepaid balance thresholds”, “Payment-gated commits”, “Free trials”.</a:t>
            </a:r>
            <a:endParaRPr lang="en-US" sz="80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APPENDIX  ·  QUESTIONS WE EXPECT</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Straight answers to the hard questions</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286000"/>
                <a:gridCol w="5943600"/>
              </a:tblGrid>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Why not keep building in-house?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Today one machine type costs two teams and weeks. Here it is one rate, and your engineers send usage once and go back to the product.</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Why not Stripe Billing alone?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Keep Stripe for collection. Metronome, now a Stripe product, adds complex usage pricing and custom enterprise contracts on top.</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Is it really real time?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Balances and draft invoices update as usage lands. Thresholds are evaluated at least every 3 min and fire within 5 min. The hard stop stays in your app.</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Salesforce is only daily?</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Yes, the sync is daily. Live numbers come from the API, webhooks and embedded dashboards.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What about NetSuite?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Public Beta. NetSuite either bills enterprise contracts or receives Stripe-billed invoices for revenue, up to 25,000 arrears invoices/month.</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Can it take our volume?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Up to 110,000 events/s (5,000/s by default, raised on request), 100 events per call, 34-day dedupe and backfill window.</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We’re part of Cloudflare now</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Replicate’s API and brand continue. Metronome supports several Stripe accounts (multi-entity) and custom pricing units, so it fits either path.</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D171A"/>
                          </a:solidFill>
                          <a:latin typeface="Inter" pitchFamily="34" charset="0"/>
                          <a:ea typeface="Inter" pitchFamily="34" charset="-122"/>
                          <a:cs typeface="Inter" pitchFamily="34" charset="-120"/>
                        </a:rPr>
                        <a:t>Existing commits and balances?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Import existing contracts and invoices, and carry open balances with manual ledger entries.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201168"/>
          </a:xfrm>
          <a:prstGeom prst="rect">
            <a:avLst/>
          </a:prstGeom>
          <a:noFill/>
          <a:ln/>
        </p:spPr>
        <p:txBody>
          <a:bodyPr wrap="square" lIns="0" tIns="0" rIns="0" bIns="0" rtlCol="0" anchor="t"/>
          <a:lstStyle/>
          <a:p>
            <a:pPr indent="0" marL="0">
              <a:buNone/>
            </a:pPr>
            <a:r>
              <a:rPr lang="en-US" sz="900" b="1" spc="150" kern="0" dirty="0">
                <a:solidFill>
                  <a:srgbClr val="6B726D"/>
                </a:solidFill>
                <a:latin typeface="Inter" pitchFamily="34" charset="0"/>
                <a:ea typeface="Inter" pitchFamily="34" charset="-122"/>
                <a:cs typeface="Inter" pitchFamily="34" charset="-120"/>
              </a:rPr>
              <a:t>APPENDIX  ·  SOURCES</a:t>
            </a:r>
            <a:endParaRPr lang="en-US" sz="900" dirty="0"/>
          </a:p>
        </p:txBody>
      </p:sp>
      <p:sp>
        <p:nvSpPr>
          <p:cNvPr id="3" name="Text 0"/>
          <p:cNvSpPr/>
          <p:nvPr>
            <p:ph idx="100" type="title" hasCustomPrompt="1"/>
          </p:nvPr>
        </p:nvSpPr>
        <p:spPr>
          <a:xfrm>
            <a:off x="457200" y="475488"/>
            <a:ext cx="8229600" cy="548640"/>
          </a:xfrm>
          <a:prstGeom prst="rect">
            <a:avLst/>
          </a:prstGeom>
          <a:noFill/>
          <a:ln/>
        </p:spPr>
        <p:txBody>
          <a:bodyPr wrap="square" lIns="0" tIns="0" rIns="0" bIns="0" rtlCol="0" anchor="t"/>
          <a:lstStyle/>
          <a:p>
            <a:pPr algn="l" indent="0" marL="0">
              <a:buNone/>
            </a:pPr>
            <a:r>
              <a:rPr lang="en-US" sz="2400" dirty="0">
                <a:solidFill>
                  <a:srgbClr val="0D171A"/>
                </a:solidFill>
                <a:latin typeface="Inter" pitchFamily="34" charset="0"/>
                <a:ea typeface="Inter" pitchFamily="34" charset="-122"/>
                <a:cs typeface="Inter" pitchFamily="34" charset="-120"/>
              </a:rPr>
              <a:t>Every capability shown is documented</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6583680"/>
              </a:tblGrid>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New machine type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Create and manage rate cards · Create products (pricing group keys) · Launch new pricing</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GPU-hour pricing</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Billing for provisioned throughput (seconds → hours conversion)</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Trial</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Free trials · Implement a free trial · Threshold notifications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Support tiers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Create products (subscription, composite) · Define subscription pricing</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Commits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Launch an enterprise commit model · Apply credits and commits · Offer discounts on commits</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Visibility</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Build API-powered customer dashboards · Track the remaining balance of a credit or commit</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Quote-to-cash</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Invoice with Stripe · Integrate with NetSuite · Sync into Salesforce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25B49"/>
                          </a:solidFill>
                          <a:latin typeface="Inter" pitchFamily="34" charset="0"/>
                          <a:ea typeface="Inter" pitchFamily="34" charset="-122"/>
                          <a:cs typeface="Inter" pitchFamily="34" charset="-120"/>
                        </a:rPr>
                        <a:t>Scale</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c>
                  <a:txBody>
                    <a:bodyPr/>
                    <a:lstStyle/>
                    <a:p>
                      <a:pPr indent="0" marL="0">
                        <a:buNone/>
                      </a:pPr>
                      <a:r>
                        <a:rPr lang="en-US" sz="900" dirty="0">
                          <a:solidFill>
                            <a:srgbClr val="0D171A"/>
                          </a:solidFill>
                          <a:latin typeface="Inter" pitchFamily="34" charset="0"/>
                          <a:ea typeface="Inter" pitchFamily="34" charset="-122"/>
                          <a:cs typeface="Inter" pitchFamily="34" charset="-120"/>
                        </a:rPr>
                        <a:t>Usage events at scale · Send usage events to /ingest</a:t>
                      </a:r>
                      <a:endParaRPr lang="en-US" sz="900" dirty="0">
                        <a:latin typeface="Inter" charset="0"/>
                        <a:ea typeface="Inter" charset="0"/>
                        <a:cs typeface="Inter" charset="0"/>
                      </a:endParaRPr>
                    </a:p>
                  </a:txBody>
                  <a:tcPr marL="91440" marR="91440" marT="36576" marB="36576" anchor="ctr">
                    <a:lnL w="9525" cap="flat" cmpd="sng" algn="ctr">
                      <a:solidFill>
                        <a:srgbClr val="E5E7DD"/>
                      </a:solidFill>
                      <a:prstDash val="solid"/>
                      <a:round/>
                      <a:headEnd type="none" w="med" len="med"/>
                      <a:tailEnd type="none" w="med" len="med"/>
                    </a:lnL>
                    <a:lnR w="9525" cap="flat" cmpd="sng" algn="ctr">
                      <a:solidFill>
                        <a:srgbClr val="E5E7DD"/>
                      </a:solidFill>
                      <a:prstDash val="solid"/>
                      <a:round/>
                      <a:headEnd type="none" w="med" len="med"/>
                      <a:tailEnd type="none" w="med" len="med"/>
                    </a:lnR>
                    <a:lnT w="9525" cap="flat" cmpd="sng" algn="ctr">
                      <a:solidFill>
                        <a:srgbClr val="E5E7DD"/>
                      </a:solidFill>
                      <a:prstDash val="solid"/>
                      <a:round/>
                      <a:headEnd type="none" w="med" len="med"/>
                      <a:tailEnd type="none" w="med" len="med"/>
                    </a:lnT>
                    <a:lnB w="9525" cap="flat" cmpd="sng" algn="ctr">
                      <a:solidFill>
                        <a:srgbClr val="E5E7D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850" dirty="0">
                <a:solidFill>
                  <a:srgbClr val="6B726D"/>
                </a:solidFill>
                <a:latin typeface="Inter" pitchFamily="34" charset="0"/>
                <a:ea typeface="Inter" pitchFamily="34" charset="-122"/>
                <a:cs typeface="Inter" pitchFamily="34" charset="-120"/>
              </a:rPr>
              <a:t>All at docs.metronome.com. Business facts: Replicate Series B statement (Dec 2023), Cloudflare blog (Nov 2025), replicate.com/pricing, Stripe newsroom (Jan 2026), Together AI docs, Fireworks blog (Jun 2026), OpenAI Help Center.</a:t>
            </a:r>
            <a:endParaRPr lang="en-US" sz="850" dirty="0"/>
          </a:p>
        </p:txBody>
      </p:sp>
      <p:sp>
        <p:nvSpPr>
          <p:cNvPr id="25" name="Slide Number Placeholder 0"/>
          <p:cNvSpPr>
            <a:spLocks noGrp="1"/>
          </p:cNvSpPr>
          <p:nvPr>
            <p:ph type="sldNum" sz="quarter" idx="4294967295"/>
          </p:nvPr>
        </p:nvSpPr>
        <p:spPr>
          <a:xfrm>
            <a:off x="8321040" y="4791456"/>
            <a:ext cx="365760" cy="182880"/>
          </a:xfrm>
          <a:prstGeom prst="rect">
            <a:avLst/>
          </a:prstGeom>
          <a:extLst>
            <a:ext uri="{C572A759-6A51-4108-AA02-DFA0A04FC94B}">
              <ma14:wrappingTextBoxFlag xmlns:ma14="http://schemas.microsoft.com/office/mac/drawingml/2011/main" val="0"/>
            </a:ext>
          </a:extLst>
        </p:spPr>
        <p:txBody>
          <a:bodyPr/>
          <a:lstStyle>
            <a:lvl1pPr>
              <a:defRPr sz="750">
                <a:solidFill>
                  <a:srgbClr val="6B726D"/>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Metronome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Replicate x Metronome: real-time billing for real-time inference</dc:title>
  <dc:subject>PptxGenJS Presentation</dc:subject>
  <dc:creator>Rania Benman</dc:creator>
  <cp:lastModifiedBy>Rania Benman</cp:lastModifiedBy>
  <cp:revision>1</cp:revision>
  <dcterms:created xsi:type="dcterms:W3CDTF">2026-10-14T23:55:59Z</dcterms:created>
  <dcterms:modified xsi:type="dcterms:W3CDTF">2026-10-14T23:55:59Z</dcterms:modified>
</cp:coreProperties>
</file>