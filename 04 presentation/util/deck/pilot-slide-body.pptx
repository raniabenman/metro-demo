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Close with a concrete, low-risk ask: a 3-week pilot on Replicate's own events that proves each blocker is solved and ends in a dated go/no-go. It answers "how do we get started?" and turns the demo into a decision.
EMPHASIZE: Each week proves blockers on their own data, with a measurable criterion: trial exhaustion reaches their app within ~5 minutes (week 1); customer and AE see the commit balance without an engineer, with Pro and Enterprise Support on the invoice (week 2); their own team prices the next GPU in under an hour (week 3). Week 3 ends with the go/no-go review and our proposal.
TONE: Confident and collaborative. This is an ask, not a pitch: slow down, ask the questions, then stop talking.
TIMING: 2 minutes, after the demo.
TALK TRACK: "You've seen your four blockers handled on sample data. Our ask: three weeks to prove it on yours, in a sandbox, with nothing in production. Week 1 is your self-serve trial: your compute events, live or a replayed day, your real trial terms, and the alert wired to your app. Week 2, we re-create one signed enterprise deal with its ramp, discount and rollover, add your support tiers, and show the balance in your product and in Salesforce. Week 3, your team adds the next GPU on its own, and we meet for a go/no-go."
ASK THEM: The four "To confirm with you" questions. Then: "Can we set the kickoff and go/no-go dates now? Who joins from platform engineering, RevOps, finance and pricing?"
IF ASKED: Why ~5 minutes and not seconds? Thresholds are evaluated at least every 3 minutes and fire within 5 minutes of the usage being ingested; the hard stop stays in your app (docs: "Manage your customer lifecycle with Metronome notifications"). Our engineers are busy? Week 1 can start from a replayed day of events (34-day backfill window); live streaming can follow. Salesforce is not real time? The sync is daily and has to be switched on for the pilot account; live numbers come from the API, webhooks and the embedded dashboard. Ramps, discounts and rollover: docs "Launch an enterprise commit model" and "Manage contract lifecycle transitions". What does it cost? The proposal comes with the go/no-go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BF8"/>
        </a:solidFill>
      </p:bgPr>
    </p:bg>
    <p:spTree>
      <p:nvGrpSpPr>
        <p:cNvPr id="1" name=""/>
        <p:cNvGrpSpPr/>
        <p:nvPr/>
      </p:nvGrpSpPr>
      <p:grpSpPr>
        <a:xfrm>
          <a:off x="0" y="0"/>
          <a:ext cx="0" cy="0"/>
          <a:chOff x="0" y="0"/>
          <a:chExt cx="0" cy="0"/>
        </a:xfrm>
      </p:grpSpPr>
      <p:sp>
        <p:nvSpPr>
          <p:cNvPr id="2" name="Pilot label: what"/>
          <p:cNvSpPr txBox="1"/>
          <p:nvPr/>
        </p:nvSpPr>
        <p:spPr>
          <a:xfrm>
            <a:off x="1810512" y="1207008"/>
            <a:ext cx="3886200" cy="164592"/>
          </a:xfrm>
          <a:prstGeom prst="rect">
            <a:avLst/>
          </a:prstGeom>
          <a:noFill/>
          <a:ln/>
        </p:spPr>
        <p:txBody>
          <a:bodyPr wrap="square" lIns="0" tIns="0" rIns="0" bIns="0" rtlCol="0" anchor="t"/>
          <a:lstStyle/>
          <a:p>
            <a:pPr indent="0" marL="0">
              <a:buNone/>
            </a:pPr>
            <a:r>
              <a:rPr lang="en-US" sz="800" b="1" spc="100" kern="0" dirty="0">
                <a:solidFill>
                  <a:srgbClr val="6B726D"/>
                </a:solidFill>
                <a:latin typeface="Inter" pitchFamily="34" charset="0"/>
                <a:ea typeface="Inter" pitchFamily="34" charset="-122"/>
                <a:cs typeface="Inter" pitchFamily="34" charset="-120"/>
              </a:rPr>
              <a:t>WHAT WE DO TOGETHER, ON YOUR DATA</a:t>
            </a:r>
            <a:endParaRPr lang="en-US" sz="800" dirty="0"/>
          </a:p>
        </p:txBody>
      </p:sp>
      <p:sp>
        <p:nvSpPr>
          <p:cNvPr id="3" name="Pilot label: success"/>
          <p:cNvSpPr txBox="1"/>
          <p:nvPr/>
        </p:nvSpPr>
        <p:spPr>
          <a:xfrm>
            <a:off x="5806440" y="1207008"/>
            <a:ext cx="2743200" cy="164592"/>
          </a:xfrm>
          <a:prstGeom prst="rect">
            <a:avLst/>
          </a:prstGeom>
          <a:noFill/>
          <a:ln/>
        </p:spPr>
        <p:txBody>
          <a:bodyPr wrap="square" lIns="0" tIns="0" rIns="0" bIns="0" rtlCol="0" anchor="t"/>
          <a:lstStyle/>
          <a:p>
            <a:pPr indent="0" marL="0">
              <a:buNone/>
            </a:pPr>
            <a:r>
              <a:rPr lang="en-US" sz="800" b="1" spc="100" kern="0" dirty="0">
                <a:solidFill>
                  <a:srgbClr val="6B726D"/>
                </a:solidFill>
                <a:latin typeface="Inter" pitchFamily="34" charset="0"/>
                <a:ea typeface="Inter" pitchFamily="34" charset="-122"/>
                <a:cs typeface="Inter" pitchFamily="34" charset="-120"/>
              </a:rPr>
              <a:t>SUCCESS CRITERION</a:t>
            </a:r>
            <a:endParaRPr lang="en-US" sz="800" dirty="0"/>
          </a:p>
        </p:txBody>
      </p:sp>
      <p:sp>
        <p:nvSpPr>
          <p:cNvPr id="4" name="Pilot W1 card"/>
          <p:cNvSpPr/>
          <p:nvPr/>
        </p:nvSpPr>
        <p:spPr>
          <a:xfrm>
            <a:off x="457200" y="1426464"/>
            <a:ext cx="8229600" cy="786384"/>
          </a:xfrm>
          <a:prstGeom prst="roundRect">
            <a:avLst>
              <a:gd name="adj" fmla="val 9302"/>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5" name="Pilot W1 pill"/>
          <p:cNvSpPr/>
          <p:nvPr/>
        </p:nvSpPr>
        <p:spPr>
          <a:xfrm>
            <a:off x="621792" y="1682496"/>
            <a:ext cx="1005840" cy="274320"/>
          </a:xfrm>
          <a:prstGeom prst="roundRect">
            <a:avLst>
              <a:gd name="adj" fmla="val 50000"/>
            </a:avLst>
          </a:prstGeom>
          <a:solidFill>
            <a:srgbClr val="C3EE8F"/>
          </a:solidFill>
          <a:ln w="12700">
            <a:solidFill>
              <a:srgbClr val="C3EE8F"/>
            </a:solidFill>
            <a:prstDash val="solid"/>
          </a:ln>
        </p:spPr>
      </p:sp>
      <p:sp>
        <p:nvSpPr>
          <p:cNvPr id="6" name="Pilot W1 pill text"/>
          <p:cNvSpPr txBox="1"/>
          <p:nvPr/>
        </p:nvSpPr>
        <p:spPr>
          <a:xfrm>
            <a:off x="621792" y="1682496"/>
            <a:ext cx="1005840" cy="274320"/>
          </a:xfrm>
          <a:prstGeom prst="rect">
            <a:avLst/>
          </a:prstGeom>
          <a:noFill/>
          <a:ln/>
        </p:spPr>
        <p:txBody>
          <a:bodyPr wrap="square" lIns="0" tIns="0" rIns="0" bIns="0" rtlCol="0" anchor="ctr"/>
          <a:lstStyle/>
          <a:p>
            <a:pPr algn="ctr" indent="0" marL="0">
              <a:buNone/>
            </a:pPr>
            <a:r>
              <a:rPr lang="en-US" sz="1400" b="1" dirty="0">
                <a:solidFill>
                  <a:srgbClr val="125B49"/>
                </a:solidFill>
                <a:latin typeface="Inter" pitchFamily="34" charset="0"/>
                <a:ea typeface="Inter" pitchFamily="34" charset="-122"/>
                <a:cs typeface="Inter" pitchFamily="34" charset="-120"/>
              </a:rPr>
              <a:t>WEEK 1</a:t>
            </a:r>
            <a:endParaRPr lang="en-US" sz="1400" dirty="0"/>
          </a:p>
        </p:txBody>
      </p:sp>
      <p:sp>
        <p:nvSpPr>
          <p:cNvPr id="7" name="Pilot W1 title"/>
          <p:cNvSpPr txBox="1"/>
          <p:nvPr/>
        </p:nvSpPr>
        <p:spPr>
          <a:xfrm>
            <a:off x="1810512" y="1508760"/>
            <a:ext cx="3886200" cy="201168"/>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Self-serve trial, live</a:t>
            </a:r>
            <a:endParaRPr lang="en-US" sz="1200" dirty="0"/>
          </a:p>
        </p:txBody>
      </p:sp>
      <p:sp>
        <p:nvSpPr>
          <p:cNvPr id="8" name="Pilot W1 what"/>
          <p:cNvSpPr txBox="1"/>
          <p:nvPr/>
        </p:nvSpPr>
        <p:spPr>
          <a:xfrm>
            <a:off x="1810512" y="1728216"/>
            <a:ext cx="3886200" cy="283464"/>
          </a:xfrm>
          <a:prstGeom prst="rect">
            <a:avLst/>
          </a:prstGeom>
          <a:noFill/>
          <a:ln/>
        </p:spPr>
        <p:txBody>
          <a:bodyPr wrap="square" lIns="0" tIns="0" rIns="0" bIns="0" rtlCol="0" anchor="t"/>
          <a:lstStyle/>
          <a:p>
            <a:pPr indent="0" marL="0">
              <a:buNone/>
            </a:pPr>
            <a:r>
              <a:rPr lang="en-US" sz="900" dirty="0">
                <a:solidFill>
                  <a:srgbClr val="565F5F"/>
                </a:solidFill>
                <a:latin typeface="Inter" pitchFamily="34" charset="0"/>
                <a:ea typeface="Inter" pitchFamily="34" charset="-122"/>
                <a:cs typeface="Inter" pitchFamily="34" charset="-120"/>
              </a:rPr>
              <a:t>Your compute events flow into a sandbox (live, or a replayed day), with your real trial terms and alerts wired to your app.</a:t>
            </a:r>
            <a:endParaRPr lang="en-US" sz="900" dirty="0"/>
          </a:p>
        </p:txBody>
      </p:sp>
      <p:pic>
        <p:nvPicPr>
          <p:cNvPr id="9" name="Pilot W1 who icon" descr="preencoded.png">    </p:cNvPr>
          <p:cNvPicPr>
            <a:picLocks noChangeAspect="1"/>
          </p:cNvPicPr>
          <p:nvPr/>
        </p:nvPicPr>
        <p:blipFill>
          <a:blip r:embed="rId1"/>
          <a:stretch>
            <a:fillRect/>
          </a:stretch>
        </p:blipFill>
        <p:spPr>
          <a:xfrm>
            <a:off x="1810512" y="2029968"/>
            <a:ext cx="109728" cy="109728"/>
          </a:xfrm>
          <a:prstGeom prst="rect">
            <a:avLst/>
          </a:prstGeom>
        </p:spPr>
      </p:pic>
      <p:sp>
        <p:nvSpPr>
          <p:cNvPr id="10" name="Pilot W1 who"/>
          <p:cNvSpPr txBox="1"/>
          <p:nvPr/>
        </p:nvSpPr>
        <p:spPr>
          <a:xfrm>
            <a:off x="1965960" y="2011680"/>
            <a:ext cx="3730752" cy="146304"/>
          </a:xfrm>
          <a:prstGeom prst="rect">
            <a:avLst/>
          </a:prstGeom>
          <a:noFill/>
          <a:ln/>
        </p:spPr>
        <p:txBody>
          <a:bodyPr wrap="square" lIns="0" tIns="0" rIns="0" bIns="0" rtlCol="0" anchor="t"/>
          <a:lstStyle/>
          <a:p>
            <a:pPr indent="0" marL="0">
              <a:buNone/>
            </a:pPr>
            <a:r>
              <a:rPr lang="en-US" sz="800" b="1" dirty="0">
                <a:solidFill>
                  <a:srgbClr val="125B49"/>
                </a:solidFill>
                <a:latin typeface="Inter" pitchFamily="34" charset="0"/>
                <a:ea typeface="Inter" pitchFamily="34" charset="-122"/>
                <a:cs typeface="Inter" pitchFamily="34" charset="-120"/>
              </a:rPr>
              <a:t>With your platform engineers</a:t>
            </a:r>
            <a:endParaRPr lang="en-US" sz="800" dirty="0"/>
          </a:p>
        </p:txBody>
      </p:sp>
      <p:sp>
        <p:nvSpPr>
          <p:cNvPr id="11" name="Pilot W1 success panel"/>
          <p:cNvSpPr/>
          <p:nvPr/>
        </p:nvSpPr>
        <p:spPr>
          <a:xfrm>
            <a:off x="5806440" y="1517904"/>
            <a:ext cx="2743200" cy="603504"/>
          </a:xfrm>
          <a:prstGeom prst="roundRect">
            <a:avLst>
              <a:gd name="adj" fmla="val 9091"/>
            </a:avLst>
          </a:prstGeom>
          <a:solidFill>
            <a:srgbClr val="F1FFD0"/>
          </a:solidFill>
          <a:ln w="9525">
            <a:solidFill>
              <a:srgbClr val="DAF6AF"/>
            </a:solidFill>
            <a:prstDash val="solid"/>
          </a:ln>
        </p:spPr>
      </p:sp>
      <p:sp>
        <p:nvSpPr>
          <p:cNvPr id="12" name="Pilot W1 check bubble"/>
          <p:cNvSpPr/>
          <p:nvPr/>
        </p:nvSpPr>
        <p:spPr>
          <a:xfrm>
            <a:off x="5916168" y="1691640"/>
            <a:ext cx="256032" cy="256032"/>
          </a:xfrm>
          <a:prstGeom prst="ellipse">
            <a:avLst/>
          </a:prstGeom>
          <a:solidFill>
            <a:srgbClr val="C3EE8F"/>
          </a:solidFill>
          <a:ln w="12700">
            <a:solidFill>
              <a:srgbClr val="C3EE8F"/>
            </a:solidFill>
            <a:prstDash val="solid"/>
          </a:ln>
        </p:spPr>
      </p:sp>
      <p:pic>
        <p:nvPicPr>
          <p:cNvPr id="13" name="Pilot W1 check" descr="preencoded.png">    </p:cNvPr>
          <p:cNvPicPr>
            <a:picLocks noChangeAspect="1"/>
          </p:cNvPicPr>
          <p:nvPr/>
        </p:nvPicPr>
        <p:blipFill>
          <a:blip r:embed="rId2"/>
          <a:stretch>
            <a:fillRect/>
          </a:stretch>
        </p:blipFill>
        <p:spPr>
          <a:xfrm>
            <a:off x="5980176" y="1755648"/>
            <a:ext cx="128016" cy="128016"/>
          </a:xfrm>
          <a:prstGeom prst="rect">
            <a:avLst/>
          </a:prstGeom>
        </p:spPr>
      </p:pic>
      <p:sp>
        <p:nvSpPr>
          <p:cNvPr id="14" name="Pilot W1 success"/>
          <p:cNvSpPr txBox="1"/>
          <p:nvPr/>
        </p:nvSpPr>
        <p:spPr>
          <a:xfrm>
            <a:off x="6263640" y="1517904"/>
            <a:ext cx="2212848" cy="603504"/>
          </a:xfrm>
          <a:prstGeom prst="rect">
            <a:avLst/>
          </a:prstGeom>
          <a:noFill/>
          <a:ln/>
        </p:spPr>
        <p:txBody>
          <a:bodyPr wrap="square" lIns="0" tIns="0" rIns="0" bIns="0" rtlCol="0" anchor="ctr"/>
          <a:lstStyle/>
          <a:p>
            <a:pPr indent="0" marL="0">
              <a:buNone/>
            </a:pPr>
            <a:r>
              <a:rPr lang="en-US" sz="950" b="1" dirty="0">
                <a:solidFill>
                  <a:srgbClr val="125B49"/>
                </a:solidFill>
                <a:latin typeface="Inter" pitchFamily="34" charset="0"/>
                <a:ea typeface="Inter" pitchFamily="34" charset="-122"/>
                <a:cs typeface="Inter" pitchFamily="34" charset="-120"/>
              </a:rPr>
              <a:t>Trial exhaustion reaches your app within ~5 min, not a day</a:t>
            </a:r>
            <a:endParaRPr lang="en-US" sz="950" dirty="0"/>
          </a:p>
        </p:txBody>
      </p:sp>
      <p:sp>
        <p:nvSpPr>
          <p:cNvPr id="15" name="Pilot W2 card"/>
          <p:cNvSpPr/>
          <p:nvPr/>
        </p:nvSpPr>
        <p:spPr>
          <a:xfrm>
            <a:off x="457200" y="2286000"/>
            <a:ext cx="8229600" cy="786384"/>
          </a:xfrm>
          <a:prstGeom prst="roundRect">
            <a:avLst>
              <a:gd name="adj" fmla="val 9302"/>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16" name="Pilot W2 pill"/>
          <p:cNvSpPr/>
          <p:nvPr/>
        </p:nvSpPr>
        <p:spPr>
          <a:xfrm>
            <a:off x="621792" y="2542032"/>
            <a:ext cx="1005840" cy="274320"/>
          </a:xfrm>
          <a:prstGeom prst="roundRect">
            <a:avLst>
              <a:gd name="adj" fmla="val 50000"/>
            </a:avLst>
          </a:prstGeom>
          <a:solidFill>
            <a:srgbClr val="C3EE8F"/>
          </a:solidFill>
          <a:ln w="12700">
            <a:solidFill>
              <a:srgbClr val="C3EE8F"/>
            </a:solidFill>
            <a:prstDash val="solid"/>
          </a:ln>
        </p:spPr>
      </p:sp>
      <p:sp>
        <p:nvSpPr>
          <p:cNvPr id="17" name="Pilot W2 pill text"/>
          <p:cNvSpPr txBox="1"/>
          <p:nvPr/>
        </p:nvSpPr>
        <p:spPr>
          <a:xfrm>
            <a:off x="621792" y="2542032"/>
            <a:ext cx="1005840" cy="274320"/>
          </a:xfrm>
          <a:prstGeom prst="rect">
            <a:avLst/>
          </a:prstGeom>
          <a:noFill/>
          <a:ln/>
        </p:spPr>
        <p:txBody>
          <a:bodyPr wrap="square" lIns="0" tIns="0" rIns="0" bIns="0" rtlCol="0" anchor="ctr"/>
          <a:lstStyle/>
          <a:p>
            <a:pPr algn="ctr" indent="0" marL="0">
              <a:buNone/>
            </a:pPr>
            <a:r>
              <a:rPr lang="en-US" sz="1400" b="1" dirty="0">
                <a:solidFill>
                  <a:srgbClr val="125B49"/>
                </a:solidFill>
                <a:latin typeface="Inter" pitchFamily="34" charset="0"/>
                <a:ea typeface="Inter" pitchFamily="34" charset="-122"/>
                <a:cs typeface="Inter" pitchFamily="34" charset="-120"/>
              </a:rPr>
              <a:t>WEEK 2</a:t>
            </a:r>
            <a:endParaRPr lang="en-US" sz="1400" dirty="0"/>
          </a:p>
        </p:txBody>
      </p:sp>
      <p:sp>
        <p:nvSpPr>
          <p:cNvPr id="18" name="Pilot W2 title"/>
          <p:cNvSpPr txBox="1"/>
          <p:nvPr/>
        </p:nvSpPr>
        <p:spPr>
          <a:xfrm>
            <a:off x="1810512" y="2368296"/>
            <a:ext cx="3886200" cy="201168"/>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One enterprise deal, visible</a:t>
            </a:r>
            <a:endParaRPr lang="en-US" sz="1200" dirty="0"/>
          </a:p>
        </p:txBody>
      </p:sp>
      <p:sp>
        <p:nvSpPr>
          <p:cNvPr id="19" name="Pilot W2 what"/>
          <p:cNvSpPr txBox="1"/>
          <p:nvPr/>
        </p:nvSpPr>
        <p:spPr>
          <a:xfrm>
            <a:off x="1810512" y="2587752"/>
            <a:ext cx="3886200" cy="283464"/>
          </a:xfrm>
          <a:prstGeom prst="rect">
            <a:avLst/>
          </a:prstGeom>
          <a:noFill/>
          <a:ln/>
        </p:spPr>
        <p:txBody>
          <a:bodyPr wrap="square" lIns="0" tIns="0" rIns="0" bIns="0" rtlCol="0" anchor="t"/>
          <a:lstStyle/>
          <a:p>
            <a:pPr indent="0" marL="0">
              <a:buNone/>
            </a:pPr>
            <a:r>
              <a:rPr lang="en-US" sz="900" dirty="0">
                <a:solidFill>
                  <a:srgbClr val="565F5F"/>
                </a:solidFill>
                <a:latin typeface="Inter" pitchFamily="34" charset="0"/>
                <a:ea typeface="Inter" pitchFamily="34" charset="-122"/>
                <a:cs typeface="Inter" pitchFamily="34" charset="-120"/>
              </a:rPr>
              <a:t>Mirror one signed $100k / 3-year deal (ramp, discount, rollover) plus Pro and Enterprise Support, synced to Salesforce daily.</a:t>
            </a:r>
            <a:endParaRPr lang="en-US" sz="900" dirty="0"/>
          </a:p>
        </p:txBody>
      </p:sp>
      <p:pic>
        <p:nvPicPr>
          <p:cNvPr id="20" name="Pilot W2 who icon" descr="preencoded.png">    </p:cNvPr>
          <p:cNvPicPr>
            <a:picLocks noChangeAspect="1"/>
          </p:cNvPicPr>
          <p:nvPr/>
        </p:nvPicPr>
        <p:blipFill>
          <a:blip r:embed="rId3"/>
          <a:stretch>
            <a:fillRect/>
          </a:stretch>
        </p:blipFill>
        <p:spPr>
          <a:xfrm>
            <a:off x="1810512" y="2889504"/>
            <a:ext cx="109728" cy="109728"/>
          </a:xfrm>
          <a:prstGeom prst="rect">
            <a:avLst/>
          </a:prstGeom>
        </p:spPr>
      </p:pic>
      <p:sp>
        <p:nvSpPr>
          <p:cNvPr id="21" name="Pilot W2 who"/>
          <p:cNvSpPr txBox="1"/>
          <p:nvPr/>
        </p:nvSpPr>
        <p:spPr>
          <a:xfrm>
            <a:off x="1965960" y="2871216"/>
            <a:ext cx="3730752" cy="146304"/>
          </a:xfrm>
          <a:prstGeom prst="rect">
            <a:avLst/>
          </a:prstGeom>
          <a:noFill/>
          <a:ln/>
        </p:spPr>
        <p:txBody>
          <a:bodyPr wrap="square" lIns="0" tIns="0" rIns="0" bIns="0" rtlCol="0" anchor="t"/>
          <a:lstStyle/>
          <a:p>
            <a:pPr indent="0" marL="0">
              <a:buNone/>
            </a:pPr>
            <a:r>
              <a:rPr lang="en-US" sz="800" b="1" dirty="0">
                <a:solidFill>
                  <a:srgbClr val="125B49"/>
                </a:solidFill>
                <a:latin typeface="Inter" pitchFamily="34" charset="0"/>
                <a:ea typeface="Inter" pitchFamily="34" charset="-122"/>
                <a:cs typeface="Inter" pitchFamily="34" charset="-120"/>
              </a:rPr>
              <a:t>With RevOps and finance</a:t>
            </a:r>
            <a:endParaRPr lang="en-US" sz="800" dirty="0"/>
          </a:p>
        </p:txBody>
      </p:sp>
      <p:sp>
        <p:nvSpPr>
          <p:cNvPr id="22" name="Pilot W2 success panel"/>
          <p:cNvSpPr/>
          <p:nvPr/>
        </p:nvSpPr>
        <p:spPr>
          <a:xfrm>
            <a:off x="5806440" y="2377440"/>
            <a:ext cx="2743200" cy="603504"/>
          </a:xfrm>
          <a:prstGeom prst="roundRect">
            <a:avLst>
              <a:gd name="adj" fmla="val 9091"/>
            </a:avLst>
          </a:prstGeom>
          <a:solidFill>
            <a:srgbClr val="F1FFD0"/>
          </a:solidFill>
          <a:ln w="9525">
            <a:solidFill>
              <a:srgbClr val="DAF6AF"/>
            </a:solidFill>
            <a:prstDash val="solid"/>
          </a:ln>
        </p:spPr>
      </p:sp>
      <p:sp>
        <p:nvSpPr>
          <p:cNvPr id="23" name="Pilot W2 check bubble"/>
          <p:cNvSpPr/>
          <p:nvPr/>
        </p:nvSpPr>
        <p:spPr>
          <a:xfrm>
            <a:off x="5916168" y="2551176"/>
            <a:ext cx="256032" cy="256032"/>
          </a:xfrm>
          <a:prstGeom prst="ellipse">
            <a:avLst/>
          </a:prstGeom>
          <a:solidFill>
            <a:srgbClr val="C3EE8F"/>
          </a:solidFill>
          <a:ln w="12700">
            <a:solidFill>
              <a:srgbClr val="C3EE8F"/>
            </a:solidFill>
            <a:prstDash val="solid"/>
          </a:ln>
        </p:spPr>
      </p:sp>
      <p:pic>
        <p:nvPicPr>
          <p:cNvPr id="24" name="Pilot W2 check" descr="preencoded.png">    </p:cNvPr>
          <p:cNvPicPr>
            <a:picLocks noChangeAspect="1"/>
          </p:cNvPicPr>
          <p:nvPr/>
        </p:nvPicPr>
        <p:blipFill>
          <a:blip r:embed="rId4"/>
          <a:stretch>
            <a:fillRect/>
          </a:stretch>
        </p:blipFill>
        <p:spPr>
          <a:xfrm>
            <a:off x="5980176" y="2615184"/>
            <a:ext cx="128016" cy="128016"/>
          </a:xfrm>
          <a:prstGeom prst="rect">
            <a:avLst/>
          </a:prstGeom>
        </p:spPr>
      </p:pic>
      <p:sp>
        <p:nvSpPr>
          <p:cNvPr id="25" name="Pilot W2 success"/>
          <p:cNvSpPr txBox="1"/>
          <p:nvPr/>
        </p:nvSpPr>
        <p:spPr>
          <a:xfrm>
            <a:off x="6263640" y="2377440"/>
            <a:ext cx="2212848" cy="603504"/>
          </a:xfrm>
          <a:prstGeom prst="rect">
            <a:avLst/>
          </a:prstGeom>
          <a:noFill/>
          <a:ln/>
        </p:spPr>
        <p:txBody>
          <a:bodyPr wrap="square" lIns="0" tIns="0" rIns="0" bIns="0" rtlCol="0" anchor="ctr"/>
          <a:lstStyle/>
          <a:p>
            <a:pPr indent="0" marL="0">
              <a:buNone/>
            </a:pPr>
            <a:r>
              <a:rPr lang="en-US" sz="950" b="1" dirty="0">
                <a:solidFill>
                  <a:srgbClr val="125B49"/>
                </a:solidFill>
                <a:latin typeface="Inter" pitchFamily="34" charset="0"/>
                <a:ea typeface="Inter" pitchFamily="34" charset="-122"/>
                <a:cs typeface="Inter" pitchFamily="34" charset="-120"/>
              </a:rPr>
              <a:t>Customer and AE see the commit balance, no engineer needed</a:t>
            </a:r>
            <a:endParaRPr lang="en-US" sz="950" dirty="0"/>
          </a:p>
        </p:txBody>
      </p:sp>
      <p:sp>
        <p:nvSpPr>
          <p:cNvPr id="26" name="Pilot W3 card"/>
          <p:cNvSpPr/>
          <p:nvPr/>
        </p:nvSpPr>
        <p:spPr>
          <a:xfrm>
            <a:off x="457200" y="3145536"/>
            <a:ext cx="8229600" cy="786384"/>
          </a:xfrm>
          <a:prstGeom prst="roundRect">
            <a:avLst>
              <a:gd name="adj" fmla="val 9302"/>
            </a:avLst>
          </a:prstGeom>
          <a:solidFill>
            <a:srgbClr val="FFFFFF"/>
          </a:solidFill>
          <a:ln w="9525">
            <a:solidFill>
              <a:srgbClr val="E5E7DD"/>
            </a:solidFill>
            <a:prstDash val="solid"/>
          </a:ln>
          <a:effectLst>
            <a:outerShdw sx="100000" sy="100000" kx="0" ky="0" algn="bl" rotWithShape="0" blurRad="76200" dist="19050" dir="5400000">
              <a:srgbClr val="0D171A">
                <a:alpha val="8000"/>
              </a:srgbClr>
            </a:outerShdw>
          </a:effectLst>
        </p:spPr>
      </p:sp>
      <p:sp>
        <p:nvSpPr>
          <p:cNvPr id="27" name="Pilot W3 pill"/>
          <p:cNvSpPr/>
          <p:nvPr/>
        </p:nvSpPr>
        <p:spPr>
          <a:xfrm>
            <a:off x="621792" y="3401568"/>
            <a:ext cx="1005840" cy="274320"/>
          </a:xfrm>
          <a:prstGeom prst="roundRect">
            <a:avLst>
              <a:gd name="adj" fmla="val 50000"/>
            </a:avLst>
          </a:prstGeom>
          <a:solidFill>
            <a:srgbClr val="C3EE8F"/>
          </a:solidFill>
          <a:ln w="12700">
            <a:solidFill>
              <a:srgbClr val="C3EE8F"/>
            </a:solidFill>
            <a:prstDash val="solid"/>
          </a:ln>
        </p:spPr>
      </p:sp>
      <p:sp>
        <p:nvSpPr>
          <p:cNvPr id="28" name="Pilot W3 pill text"/>
          <p:cNvSpPr txBox="1"/>
          <p:nvPr/>
        </p:nvSpPr>
        <p:spPr>
          <a:xfrm>
            <a:off x="621792" y="3401568"/>
            <a:ext cx="1005840" cy="274320"/>
          </a:xfrm>
          <a:prstGeom prst="rect">
            <a:avLst/>
          </a:prstGeom>
          <a:noFill/>
          <a:ln/>
        </p:spPr>
        <p:txBody>
          <a:bodyPr wrap="square" lIns="0" tIns="0" rIns="0" bIns="0" rtlCol="0" anchor="ctr"/>
          <a:lstStyle/>
          <a:p>
            <a:pPr algn="ctr" indent="0" marL="0">
              <a:buNone/>
            </a:pPr>
            <a:r>
              <a:rPr lang="en-US" sz="1400" b="1" dirty="0">
                <a:solidFill>
                  <a:srgbClr val="125B49"/>
                </a:solidFill>
                <a:latin typeface="Inter" pitchFamily="34" charset="0"/>
                <a:ea typeface="Inter" pitchFamily="34" charset="-122"/>
                <a:cs typeface="Inter" pitchFamily="34" charset="-120"/>
              </a:rPr>
              <a:t>WEEK 3</a:t>
            </a:r>
            <a:endParaRPr lang="en-US" sz="1400" dirty="0"/>
          </a:p>
        </p:txBody>
      </p:sp>
      <p:sp>
        <p:nvSpPr>
          <p:cNvPr id="29" name="Pilot W3 title"/>
          <p:cNvSpPr txBox="1"/>
          <p:nvPr/>
        </p:nvSpPr>
        <p:spPr>
          <a:xfrm>
            <a:off x="1810512" y="3227832"/>
            <a:ext cx="3886200" cy="201168"/>
          </a:xfrm>
          <a:prstGeom prst="rect">
            <a:avLst/>
          </a:prstGeom>
          <a:noFill/>
          <a:ln/>
        </p:spPr>
        <p:txBody>
          <a:bodyPr wrap="square" lIns="0" tIns="0" rIns="0" bIns="0" rtlCol="0" anchor="t"/>
          <a:lstStyle/>
          <a:p>
            <a:pPr indent="0" marL="0">
              <a:buNone/>
            </a:pPr>
            <a:r>
              <a:rPr lang="en-US" sz="1200" b="1" dirty="0">
                <a:solidFill>
                  <a:srgbClr val="0D171A"/>
                </a:solidFill>
                <a:latin typeface="Inter" pitchFamily="34" charset="0"/>
                <a:ea typeface="Inter" pitchFamily="34" charset="-122"/>
                <a:cs typeface="Inter" pitchFamily="34" charset="-120"/>
              </a:rPr>
              <a:t>A new GPU as config, then decide</a:t>
            </a:r>
            <a:endParaRPr lang="en-US" sz="1200" dirty="0"/>
          </a:p>
        </p:txBody>
      </p:sp>
      <p:sp>
        <p:nvSpPr>
          <p:cNvPr id="30" name="Pilot W3 what"/>
          <p:cNvSpPr txBox="1"/>
          <p:nvPr/>
        </p:nvSpPr>
        <p:spPr>
          <a:xfrm>
            <a:off x="1810512" y="3447288"/>
            <a:ext cx="3886200" cy="283464"/>
          </a:xfrm>
          <a:prstGeom prst="rect">
            <a:avLst/>
          </a:prstGeom>
          <a:noFill/>
          <a:ln/>
        </p:spPr>
        <p:txBody>
          <a:bodyPr wrap="square" lIns="0" tIns="0" rIns="0" bIns="0" rtlCol="0" anchor="t"/>
          <a:lstStyle/>
          <a:p>
            <a:pPr indent="0" marL="0">
              <a:buNone/>
            </a:pPr>
            <a:r>
              <a:rPr lang="en-US" sz="900" dirty="0">
                <a:solidFill>
                  <a:srgbClr val="565F5F"/>
                </a:solidFill>
                <a:latin typeface="Inter" pitchFamily="34" charset="0"/>
                <a:ea typeface="Inter" pitchFamily="34" charset="-122"/>
                <a:cs typeface="Inter" pitchFamily="34" charset="-120"/>
              </a:rPr>
              <a:t>Your team adds your next machine type to the rate card on its own. End of week 3: go/no-go review, then our proposal.</a:t>
            </a:r>
            <a:endParaRPr lang="en-US" sz="900" dirty="0"/>
          </a:p>
        </p:txBody>
      </p:sp>
      <p:pic>
        <p:nvPicPr>
          <p:cNvPr id="31" name="Pilot W3 who icon" descr="preencoded.png">    </p:cNvPr>
          <p:cNvPicPr>
            <a:picLocks noChangeAspect="1"/>
          </p:cNvPicPr>
          <p:nvPr/>
        </p:nvPicPr>
        <p:blipFill>
          <a:blip r:embed="rId5"/>
          <a:stretch>
            <a:fillRect/>
          </a:stretch>
        </p:blipFill>
        <p:spPr>
          <a:xfrm>
            <a:off x="1810512" y="3749040"/>
            <a:ext cx="109728" cy="109728"/>
          </a:xfrm>
          <a:prstGeom prst="rect">
            <a:avLst/>
          </a:prstGeom>
        </p:spPr>
      </p:pic>
      <p:sp>
        <p:nvSpPr>
          <p:cNvPr id="32" name="Pilot W3 who"/>
          <p:cNvSpPr txBox="1"/>
          <p:nvPr/>
        </p:nvSpPr>
        <p:spPr>
          <a:xfrm>
            <a:off x="1965960" y="3730752"/>
            <a:ext cx="3730752" cy="146304"/>
          </a:xfrm>
          <a:prstGeom prst="rect">
            <a:avLst/>
          </a:prstGeom>
          <a:noFill/>
          <a:ln/>
        </p:spPr>
        <p:txBody>
          <a:bodyPr wrap="square" lIns="0" tIns="0" rIns="0" bIns="0" rtlCol="0" anchor="t"/>
          <a:lstStyle/>
          <a:p>
            <a:pPr indent="0" marL="0">
              <a:buNone/>
            </a:pPr>
            <a:r>
              <a:rPr lang="en-US" sz="800" b="1" dirty="0">
                <a:solidFill>
                  <a:srgbClr val="125B49"/>
                </a:solidFill>
                <a:latin typeface="Inter" pitchFamily="34" charset="0"/>
                <a:ea typeface="Inter" pitchFamily="34" charset="-122"/>
                <a:cs typeface="Inter" pitchFamily="34" charset="-120"/>
              </a:rPr>
              <a:t>With your pricing owner and decision makers</a:t>
            </a:r>
            <a:endParaRPr lang="en-US" sz="800" dirty="0"/>
          </a:p>
        </p:txBody>
      </p:sp>
      <p:sp>
        <p:nvSpPr>
          <p:cNvPr id="33" name="Pilot W3 success panel"/>
          <p:cNvSpPr/>
          <p:nvPr/>
        </p:nvSpPr>
        <p:spPr>
          <a:xfrm>
            <a:off x="5806440" y="3236976"/>
            <a:ext cx="2743200" cy="603504"/>
          </a:xfrm>
          <a:prstGeom prst="roundRect">
            <a:avLst>
              <a:gd name="adj" fmla="val 9091"/>
            </a:avLst>
          </a:prstGeom>
          <a:solidFill>
            <a:srgbClr val="F1FFD0"/>
          </a:solidFill>
          <a:ln w="9525">
            <a:solidFill>
              <a:srgbClr val="DAF6AF"/>
            </a:solidFill>
            <a:prstDash val="solid"/>
          </a:ln>
        </p:spPr>
      </p:sp>
      <p:sp>
        <p:nvSpPr>
          <p:cNvPr id="34" name="Pilot W3 check bubble"/>
          <p:cNvSpPr/>
          <p:nvPr/>
        </p:nvSpPr>
        <p:spPr>
          <a:xfrm>
            <a:off x="5916168" y="3410712"/>
            <a:ext cx="256032" cy="256032"/>
          </a:xfrm>
          <a:prstGeom prst="ellipse">
            <a:avLst/>
          </a:prstGeom>
          <a:solidFill>
            <a:srgbClr val="C3EE8F"/>
          </a:solidFill>
          <a:ln w="12700">
            <a:solidFill>
              <a:srgbClr val="C3EE8F"/>
            </a:solidFill>
            <a:prstDash val="solid"/>
          </a:ln>
        </p:spPr>
      </p:sp>
      <p:pic>
        <p:nvPicPr>
          <p:cNvPr id="35" name="Pilot W3 check" descr="preencoded.png">    </p:cNvPr>
          <p:cNvPicPr>
            <a:picLocks noChangeAspect="1"/>
          </p:cNvPicPr>
          <p:nvPr/>
        </p:nvPicPr>
        <p:blipFill>
          <a:blip r:embed="rId6"/>
          <a:stretch>
            <a:fillRect/>
          </a:stretch>
        </p:blipFill>
        <p:spPr>
          <a:xfrm>
            <a:off x="5980176" y="3474720"/>
            <a:ext cx="128016" cy="128016"/>
          </a:xfrm>
          <a:prstGeom prst="rect">
            <a:avLst/>
          </a:prstGeom>
        </p:spPr>
      </p:pic>
      <p:sp>
        <p:nvSpPr>
          <p:cNvPr id="36" name="Pilot W3 success"/>
          <p:cNvSpPr txBox="1"/>
          <p:nvPr/>
        </p:nvSpPr>
        <p:spPr>
          <a:xfrm>
            <a:off x="6263640" y="3236976"/>
            <a:ext cx="2212848" cy="603504"/>
          </a:xfrm>
          <a:prstGeom prst="rect">
            <a:avLst/>
          </a:prstGeom>
          <a:noFill/>
          <a:ln/>
        </p:spPr>
        <p:txBody>
          <a:bodyPr wrap="square" lIns="0" tIns="0" rIns="0" bIns="0" rtlCol="0" anchor="ctr"/>
          <a:lstStyle/>
          <a:p>
            <a:pPr indent="0" marL="0">
              <a:buNone/>
            </a:pPr>
            <a:r>
              <a:rPr lang="en-US" sz="950" b="1" dirty="0">
                <a:solidFill>
                  <a:srgbClr val="125B49"/>
                </a:solidFill>
                <a:latin typeface="Inter" pitchFamily="34" charset="0"/>
                <a:ea typeface="Inter" pitchFamily="34" charset="-122"/>
                <a:cs typeface="Inter" pitchFamily="34" charset="-120"/>
              </a:rPr>
              <a:t>New GPU priced by your team in under 1 hour, no code change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Metronome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 steps: 3-week scoped pilot (body only)</dc:title>
  <dc:subject>PptxGenJS Presentation</dc:subject>
  <dc:creator>Rania Benman</dc:creator>
  <cp:lastModifiedBy>Rania Benman</cp:lastModifiedBy>
  <cp:revision>1</cp:revision>
  <dcterms:created xsi:type="dcterms:W3CDTF">2026-10-15T16:55:55Z</dcterms:created>
  <dcterms:modified xsi:type="dcterms:W3CDTF">2026-10-15T16:55:55Z</dcterms:modified>
</cp:coreProperties>
</file>