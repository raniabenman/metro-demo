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Backup for credibility questions ("Who else runs on you?", "Will you be around?", "Can you take our volume?"). It shows that Metronome bills the AI leaders, is now part of Stripe, and runs at a scale far above one platform's needs.
EMPHASIZE: The OpenAI proof point mirrors their first blocker: OpenAI changes pricing in under an hour with no engineers, where Replicate needs two teams and weeks per machine type. Stripe is the same rail they already use for pay-as-you-go.
TONE: Factual and brief. Let the names speak; no overselling.
TIMING: 30 seconds, only if asked.
IF ASKED: Customer names: Metronome Series C release (25 Feb 2025) names OpenAI, Anthropic, Databricks, Confluent and NVIDIA, and 150M+ end users; Patrick Collison also named OpenAI, Anthropic and NVIDIA when Stripe announced the deal. "&lt; 1 hour": quote from OpenAI's Senior Manager of Revenue Operations in the OpenAI customer story on metronome.com. Stripe completed the acquisition on 14 Jan 2026 (Stripe newsroom). The $1B price is press-reported (Upstarts Media, 3 Dec 2025, eight sources); Stripe disclosed no terms, so always say "reported". Scale: docs "Usage events at scale" (up to 110,000 events per second, 5,000 by default and raised on request, billions of events per day). Inference platforms on metronome.com's logo wall (Oct 2026) include Hugging Face, Together AI and Anyscale.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metronome.com/customer-stories/open-ai" TargetMode="External"/><Relationship Id="rId9" Type="http://schemas.openxmlformats.org/officeDocument/2006/relationships/hyperlink" Target="https://www.businesswire.com/news/home/20250225320307/en/Metronome-Secures-%2450-Million-in-Series-C-Funding-to-Drive-Adoption-of-Usage-Based-Pricing-in-Software-and-AI" TargetMode="External"/><Relationship Id="rId10" Type="http://schemas.openxmlformats.org/officeDocument/2006/relationships/hyperlink" Target="https://www.upstartsmedia.com/p/scoop-stripe-pays-1-billion-for-metronome" TargetMode="External"/><Relationship Id="rId11" Type="http://schemas.openxmlformats.org/officeDocument/2006/relationships/hyperlink" Target="https://stripe.com/newsroom/news/stripe-completes-metronome-acquisition" TargetMode="External"/><Relationship Id="rId12" Type="http://schemas.openxmlformats.org/officeDocument/2006/relationships/hyperlink" Target="https://docs.metronome.com/guides/events/high-volume-ingestion" TargetMode="Externa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13" Type="http://schemas.openxmlformats.org/officeDocument/2006/relationships/slideLayout" Target="../slideLayouts/slideLayout1.xml"/><Relationship Id="rId14"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BF8"/>
        </a:solidFill>
      </p:bgPr>
    </p:bg>
    <p:spTree>
      <p:nvGrpSpPr>
        <p:cNvPr id="1" name=""/>
        <p:cNvGrpSpPr/>
        <p:nvPr/>
      </p:nvGrpSpPr>
      <p:grpSpPr>
        <a:xfrm>
          <a:off x="0" y="0"/>
          <a:ext cx="0" cy="0"/>
          <a:chOff x="0" y="0"/>
          <a:chExt cx="0" cy="0"/>
        </a:xfrm>
      </p:grpSpPr>
      <p:pic>
        <p:nvPicPr>
          <p:cNvPr id="2" name="Customer logo: OpenAI" descr="OpenAI logo">    </p:cNvPr>
          <p:cNvPicPr>
            <a:picLocks noChangeAspect="1"/>
          </p:cNvPicPr>
          <p:nvPr/>
        </p:nvPicPr>
        <p:blipFill>
          <a:blip r:embed="rId1"/>
          <a:stretch>
            <a:fillRect/>
          </a:stretch>
        </p:blipFill>
        <p:spPr>
          <a:xfrm>
            <a:off x="457200" y="657694"/>
            <a:ext cx="874277" cy="239091"/>
          </a:xfrm>
          <a:prstGeom prst="rect">
            <a:avLst/>
          </a:prstGeom>
        </p:spPr>
      </p:pic>
      <p:pic>
        <p:nvPicPr>
          <p:cNvPr id="3" name="Customer logo: Anthropic" descr="Anthropic logo">    </p:cNvPr>
          <p:cNvPicPr>
            <a:picLocks noChangeAspect="1"/>
          </p:cNvPicPr>
          <p:nvPr/>
        </p:nvPicPr>
        <p:blipFill>
          <a:blip r:embed="rId2"/>
          <a:stretch>
            <a:fillRect/>
          </a:stretch>
        </p:blipFill>
        <p:spPr>
          <a:xfrm>
            <a:off x="1692864" y="697860"/>
            <a:ext cx="1316651" cy="158760"/>
          </a:xfrm>
          <a:prstGeom prst="rect">
            <a:avLst/>
          </a:prstGeom>
        </p:spPr>
      </p:pic>
      <p:pic>
        <p:nvPicPr>
          <p:cNvPr id="4" name="Customer logo: NVIDIA" descr="NVIDIA logo">    </p:cNvPr>
          <p:cNvPicPr>
            <a:picLocks noChangeAspect="1"/>
          </p:cNvPicPr>
          <p:nvPr/>
        </p:nvPicPr>
        <p:blipFill>
          <a:blip r:embed="rId3"/>
          <a:stretch>
            <a:fillRect/>
          </a:stretch>
        </p:blipFill>
        <p:spPr>
          <a:xfrm>
            <a:off x="3370902" y="676278"/>
            <a:ext cx="1035199" cy="201924"/>
          </a:xfrm>
          <a:prstGeom prst="rect">
            <a:avLst/>
          </a:prstGeom>
        </p:spPr>
      </p:pic>
      <p:pic>
        <p:nvPicPr>
          <p:cNvPr id="5" name="Customer logo: Databricks" descr="Databricks logo">    </p:cNvPr>
          <p:cNvPicPr>
            <a:picLocks noChangeAspect="1"/>
          </p:cNvPicPr>
          <p:nvPr/>
        </p:nvPicPr>
        <p:blipFill>
          <a:blip r:embed="rId4"/>
          <a:stretch>
            <a:fillRect/>
          </a:stretch>
        </p:blipFill>
        <p:spPr>
          <a:xfrm>
            <a:off x="4767488" y="683914"/>
            <a:ext cx="1119907" cy="186651"/>
          </a:xfrm>
          <a:prstGeom prst="rect">
            <a:avLst/>
          </a:prstGeom>
        </p:spPr>
      </p:pic>
      <p:pic>
        <p:nvPicPr>
          <p:cNvPr id="6" name="Customer logo: Confluent" descr="Confluent logo">    </p:cNvPr>
          <p:cNvPicPr>
            <a:picLocks noChangeAspect="1"/>
          </p:cNvPicPr>
          <p:nvPr/>
        </p:nvPicPr>
        <p:blipFill>
          <a:blip r:embed="rId5"/>
          <a:stretch>
            <a:fillRect/>
          </a:stretch>
        </p:blipFill>
        <p:spPr>
          <a:xfrm>
            <a:off x="6248781" y="682806"/>
            <a:ext cx="1106764" cy="188868"/>
          </a:xfrm>
          <a:prstGeom prst="rect">
            <a:avLst/>
          </a:prstGeom>
        </p:spPr>
      </p:pic>
      <p:pic>
        <p:nvPicPr>
          <p:cNvPr id="7" name="Customer logo: Hugging Face" descr="Hugging Face logo">    </p:cNvPr>
          <p:cNvPicPr>
            <a:picLocks noChangeAspect="1"/>
          </p:cNvPicPr>
          <p:nvPr/>
        </p:nvPicPr>
        <p:blipFill>
          <a:blip r:embed="rId6"/>
          <a:stretch>
            <a:fillRect/>
          </a:stretch>
        </p:blipFill>
        <p:spPr>
          <a:xfrm>
            <a:off x="7716932" y="669477"/>
            <a:ext cx="969868" cy="215526"/>
          </a:xfrm>
          <a:prstGeom prst="rect">
            <a:avLst/>
          </a:prstGeom>
        </p:spPr>
      </p:pic>
      <p:sp>
        <p:nvSpPr>
          <p:cNvPr id="8" name="Stature divider"/>
          <p:cNvSpPr/>
          <p:nvPr/>
        </p:nvSpPr>
        <p:spPr>
          <a:xfrm>
            <a:off x="457200" y="1234440"/>
            <a:ext cx="8229600" cy="0"/>
          </a:xfrm>
          <a:prstGeom prst="line">
            <a:avLst/>
          </a:prstGeom>
          <a:noFill/>
          <a:ln w="12700">
            <a:solidFill>
              <a:srgbClr val="E5E7DD"/>
            </a:solidFill>
            <a:prstDash val="solid"/>
          </a:ln>
        </p:spPr>
      </p:sp>
      <p:sp>
        <p:nvSpPr>
          <p:cNvPr id="9" name="Stature stat 1"/>
          <p:cNvSpPr txBox="1"/>
          <p:nvPr/>
        </p:nvSpPr>
        <p:spPr>
          <a:xfrm>
            <a:off x="457200" y="1508760"/>
            <a:ext cx="2560320" cy="603504"/>
          </a:xfrm>
          <a:prstGeom prst="rect">
            <a:avLst/>
          </a:prstGeom>
          <a:noFill/>
          <a:ln/>
        </p:spPr>
        <p:txBody>
          <a:bodyPr wrap="square" lIns="0" tIns="0" rIns="0" bIns="0" rtlCol="0" anchor="t"/>
          <a:lstStyle/>
          <a:p>
            <a:pPr indent="0" marL="0">
              <a:buNone/>
            </a:pPr>
            <a:r>
              <a:rPr lang="en-US" sz="3600" b="1" dirty="0">
                <a:solidFill>
                  <a:srgbClr val="125B49"/>
                </a:solidFill>
                <a:latin typeface="Inter" pitchFamily="34" charset="0"/>
                <a:ea typeface="Inter" pitchFamily="34" charset="-122"/>
                <a:cs typeface="Inter" pitchFamily="34" charset="-120"/>
              </a:rPr>
              <a:t>&lt; 1 hour</a:t>
            </a:r>
            <a:endParaRPr lang="en-US" sz="3600" dirty="0"/>
          </a:p>
        </p:txBody>
      </p:sp>
      <p:sp>
        <p:nvSpPr>
          <p:cNvPr id="10" name="Stature stat 1 label"/>
          <p:cNvSpPr txBox="1"/>
          <p:nvPr/>
        </p:nvSpPr>
        <p:spPr>
          <a:xfrm>
            <a:off x="457200" y="2157984"/>
            <a:ext cx="2560320" cy="566928"/>
          </a:xfrm>
          <a:prstGeom prst="rect">
            <a:avLst/>
          </a:prstGeom>
          <a:noFill/>
          <a:ln/>
        </p:spPr>
        <p:txBody>
          <a:bodyPr wrap="square" lIns="0" tIns="0" rIns="0" bIns="0" rtlCol="0" anchor="t"/>
          <a:lstStyle/>
          <a:p>
            <a:pPr indent="0" marL="0">
              <a:buNone/>
            </a:pPr>
            <a:r>
              <a:rPr lang="en-US" sz="1000" dirty="0">
                <a:solidFill>
                  <a:srgbClr val="565F5F"/>
                </a:solidFill>
                <a:latin typeface="Inter" pitchFamily="34" charset="0"/>
                <a:ea typeface="Inter" pitchFamily="34" charset="-122"/>
                <a:cs typeface="Inter" pitchFamily="34" charset="-120"/>
              </a:rPr>
              <a:t>for OpenAI to change pricing in Metronome’s UI, with no engineering resources¹</a:t>
            </a:r>
            <a:endParaRPr lang="en-US" sz="1000" dirty="0"/>
          </a:p>
        </p:txBody>
      </p:sp>
      <p:sp>
        <p:nvSpPr>
          <p:cNvPr id="11" name="Stature stat 2"/>
          <p:cNvSpPr txBox="1"/>
          <p:nvPr/>
        </p:nvSpPr>
        <p:spPr>
          <a:xfrm>
            <a:off x="3291840" y="1508760"/>
            <a:ext cx="2560320" cy="603504"/>
          </a:xfrm>
          <a:prstGeom prst="rect">
            <a:avLst/>
          </a:prstGeom>
          <a:noFill/>
          <a:ln/>
        </p:spPr>
        <p:txBody>
          <a:bodyPr wrap="square" lIns="0" tIns="0" rIns="0" bIns="0" rtlCol="0" anchor="t"/>
          <a:lstStyle/>
          <a:p>
            <a:pPr indent="0" marL="0">
              <a:buNone/>
            </a:pPr>
            <a:r>
              <a:rPr lang="en-US" sz="3600" b="1" dirty="0">
                <a:solidFill>
                  <a:srgbClr val="125B49"/>
                </a:solidFill>
                <a:latin typeface="Inter" pitchFamily="34" charset="0"/>
                <a:ea typeface="Inter" pitchFamily="34" charset="-122"/>
                <a:cs typeface="Inter" pitchFamily="34" charset="-120"/>
              </a:rPr>
              <a:t>150M+</a:t>
            </a:r>
            <a:endParaRPr lang="en-US" sz="3600" dirty="0"/>
          </a:p>
        </p:txBody>
      </p:sp>
      <p:sp>
        <p:nvSpPr>
          <p:cNvPr id="12" name="Stature stat 2 label"/>
          <p:cNvSpPr txBox="1"/>
          <p:nvPr/>
        </p:nvSpPr>
        <p:spPr>
          <a:xfrm>
            <a:off x="3291840" y="2157984"/>
            <a:ext cx="2560320" cy="566928"/>
          </a:xfrm>
          <a:prstGeom prst="rect">
            <a:avLst/>
          </a:prstGeom>
          <a:noFill/>
          <a:ln/>
        </p:spPr>
        <p:txBody>
          <a:bodyPr wrap="square" lIns="0" tIns="0" rIns="0" bIns="0" rtlCol="0" anchor="t"/>
          <a:lstStyle/>
          <a:p>
            <a:pPr indent="0" marL="0">
              <a:buNone/>
            </a:pPr>
            <a:r>
              <a:rPr lang="en-US" sz="1000" dirty="0">
                <a:solidFill>
                  <a:srgbClr val="565F5F"/>
                </a:solidFill>
                <a:latin typeface="Inter" pitchFamily="34" charset="0"/>
                <a:ea typeface="Inter" pitchFamily="34" charset="-122"/>
                <a:cs typeface="Inter" pitchFamily="34" charset="-120"/>
              </a:rPr>
              <a:t>end users billed through Metronome, with billions in usage-based revenue processed²</a:t>
            </a:r>
            <a:endParaRPr lang="en-US" sz="1000" dirty="0"/>
          </a:p>
        </p:txBody>
      </p:sp>
      <p:sp>
        <p:nvSpPr>
          <p:cNvPr id="13" name="Stature column rule 1"/>
          <p:cNvSpPr/>
          <p:nvPr/>
        </p:nvSpPr>
        <p:spPr>
          <a:xfrm>
            <a:off x="3108960" y="1572768"/>
            <a:ext cx="0" cy="1097280"/>
          </a:xfrm>
          <a:prstGeom prst="line">
            <a:avLst/>
          </a:prstGeom>
          <a:noFill/>
          <a:ln w="12700">
            <a:solidFill>
              <a:srgbClr val="E5E7DD"/>
            </a:solidFill>
            <a:prstDash val="solid"/>
          </a:ln>
        </p:spPr>
      </p:sp>
      <p:sp>
        <p:nvSpPr>
          <p:cNvPr id="14" name="Stature stat 3"/>
          <p:cNvSpPr txBox="1"/>
          <p:nvPr/>
        </p:nvSpPr>
        <p:spPr>
          <a:xfrm>
            <a:off x="6126480" y="1508760"/>
            <a:ext cx="2560320" cy="603504"/>
          </a:xfrm>
          <a:prstGeom prst="rect">
            <a:avLst/>
          </a:prstGeom>
          <a:noFill/>
          <a:ln/>
        </p:spPr>
        <p:txBody>
          <a:bodyPr wrap="square" lIns="0" tIns="0" rIns="0" bIns="0" rtlCol="0" anchor="t"/>
          <a:lstStyle/>
          <a:p>
            <a:pPr indent="0" marL="0">
              <a:buNone/>
            </a:pPr>
            <a:r>
              <a:rPr lang="en-US" sz="3600" b="1" dirty="0">
                <a:solidFill>
                  <a:srgbClr val="125B49"/>
                </a:solidFill>
                <a:latin typeface="Inter" pitchFamily="34" charset="0"/>
                <a:ea typeface="Inter" pitchFamily="34" charset="-122"/>
                <a:cs typeface="Inter" pitchFamily="34" charset="-120"/>
              </a:rPr>
              <a:t>~$1B</a:t>
            </a:r>
            <a:endParaRPr lang="en-US" sz="3600" dirty="0"/>
          </a:p>
        </p:txBody>
      </p:sp>
      <p:sp>
        <p:nvSpPr>
          <p:cNvPr id="15" name="Stature stat 3 label"/>
          <p:cNvSpPr txBox="1"/>
          <p:nvPr/>
        </p:nvSpPr>
        <p:spPr>
          <a:xfrm>
            <a:off x="6126480" y="2157984"/>
            <a:ext cx="2560320" cy="566928"/>
          </a:xfrm>
          <a:prstGeom prst="rect">
            <a:avLst/>
          </a:prstGeom>
          <a:noFill/>
          <a:ln/>
        </p:spPr>
        <p:txBody>
          <a:bodyPr wrap="square" lIns="0" tIns="0" rIns="0" bIns="0" rtlCol="0" anchor="t"/>
          <a:lstStyle/>
          <a:p>
            <a:pPr indent="0" marL="0">
              <a:buNone/>
            </a:pPr>
            <a:r>
              <a:rPr lang="en-US" sz="1000" dirty="0">
                <a:solidFill>
                  <a:srgbClr val="565F5F"/>
                </a:solidFill>
                <a:latin typeface="Inter" pitchFamily="34" charset="0"/>
                <a:ea typeface="Inter" pitchFamily="34" charset="-122"/>
                <a:cs typeface="Inter" pitchFamily="34" charset="-120"/>
              </a:rPr>
              <a:t>Stripe’s acquisition of Metronome (reported), closed Jan 2026: the payments rail you already use for pay-as-you-go³</a:t>
            </a:r>
            <a:endParaRPr lang="en-US" sz="1000" dirty="0"/>
          </a:p>
        </p:txBody>
      </p:sp>
      <p:sp>
        <p:nvSpPr>
          <p:cNvPr id="16" name="Stature column rule 2"/>
          <p:cNvSpPr/>
          <p:nvPr/>
        </p:nvSpPr>
        <p:spPr>
          <a:xfrm>
            <a:off x="5943600" y="1572768"/>
            <a:ext cx="0" cy="1097280"/>
          </a:xfrm>
          <a:prstGeom prst="line">
            <a:avLst/>
          </a:prstGeom>
          <a:noFill/>
          <a:ln w="12700">
            <a:solidFill>
              <a:srgbClr val="E5E7DD"/>
            </a:solidFill>
            <a:prstDash val="solid"/>
          </a:ln>
        </p:spPr>
      </p:sp>
      <p:sp>
        <p:nvSpPr>
          <p:cNvPr id="17" name="Stature scale card"/>
          <p:cNvSpPr/>
          <p:nvPr/>
        </p:nvSpPr>
        <p:spPr>
          <a:xfrm>
            <a:off x="457200" y="3154680"/>
            <a:ext cx="8229600" cy="713232"/>
          </a:xfrm>
          <a:prstGeom prst="roundRect">
            <a:avLst>
              <a:gd name="adj" fmla="val 10256"/>
            </a:avLst>
          </a:prstGeom>
          <a:solidFill>
            <a:srgbClr val="F1FFD0"/>
          </a:solidFill>
          <a:ln w="9525">
            <a:solidFill>
              <a:srgbClr val="DAF6AF"/>
            </a:solidFill>
            <a:prstDash val="solid"/>
          </a:ln>
        </p:spPr>
      </p:sp>
      <p:sp>
        <p:nvSpPr>
          <p:cNvPr id="18" name="Stature scale bubble"/>
          <p:cNvSpPr/>
          <p:nvPr/>
        </p:nvSpPr>
        <p:spPr>
          <a:xfrm>
            <a:off x="685800" y="3319272"/>
            <a:ext cx="384048" cy="384048"/>
          </a:xfrm>
          <a:prstGeom prst="ellipse">
            <a:avLst/>
          </a:prstGeom>
          <a:solidFill>
            <a:srgbClr val="C3EE8F"/>
          </a:solidFill>
          <a:ln w="12700">
            <a:solidFill>
              <a:srgbClr val="C3EE8F"/>
            </a:solidFill>
            <a:prstDash val="solid"/>
          </a:ln>
        </p:spPr>
      </p:sp>
      <p:pic>
        <p:nvPicPr>
          <p:cNvPr id="19" name="Stature scale icon" descr="preencoded.png">    </p:cNvPr>
          <p:cNvPicPr>
            <a:picLocks noChangeAspect="1"/>
          </p:cNvPicPr>
          <p:nvPr/>
        </p:nvPicPr>
        <p:blipFill>
          <a:blip r:embed="rId7"/>
          <a:stretch>
            <a:fillRect/>
          </a:stretch>
        </p:blipFill>
        <p:spPr>
          <a:xfrm>
            <a:off x="781812" y="3415284"/>
            <a:ext cx="192024" cy="192024"/>
          </a:xfrm>
          <a:prstGeom prst="rect">
            <a:avLst/>
          </a:prstGeom>
        </p:spPr>
      </p:pic>
      <p:sp>
        <p:nvSpPr>
          <p:cNvPr id="20" name="Stature scale text"/>
          <p:cNvSpPr txBox="1"/>
          <p:nvPr/>
        </p:nvSpPr>
        <p:spPr>
          <a:xfrm>
            <a:off x="1280160" y="3154680"/>
            <a:ext cx="7223760" cy="713232"/>
          </a:xfrm>
          <a:prstGeom prst="rect">
            <a:avLst/>
          </a:prstGeom>
          <a:noFill/>
          <a:ln/>
        </p:spPr>
        <p:txBody>
          <a:bodyPr wrap="square" lIns="0" tIns="0" rIns="0" bIns="0" rtlCol="0" anchor="ctr"/>
          <a:lstStyle/>
          <a:p>
            <a:pPr indent="0" marL="0">
              <a:buNone/>
            </a:pPr>
            <a:r>
              <a:rPr lang="en-US" sz="1300" b="1" dirty="0">
                <a:solidFill>
                  <a:srgbClr val="0D171A"/>
                </a:solidFill>
                <a:latin typeface="Inter" pitchFamily="34" charset="0"/>
                <a:ea typeface="Inter" pitchFamily="34" charset="-122"/>
                <a:cs typeface="Inter" pitchFamily="34" charset="-120"/>
              </a:rPr>
              <a:t>Billions of usage events a day. </a:t>
            </a:r>
            <a:pPr indent="0" marL="0">
              <a:buNone/>
            </a:pPr>
            <a:r>
              <a:rPr lang="en-US" sz="1300" dirty="0">
                <a:solidFill>
                  <a:srgbClr val="0D171A"/>
                </a:solidFill>
                <a:latin typeface="Inter" pitchFamily="34" charset="0"/>
                <a:ea typeface="Inter" pitchFamily="34" charset="-122"/>
                <a:cs typeface="Inter" pitchFamily="34" charset="-120"/>
              </a:rPr>
              <a:t>Up to 110,000 events per second at ingest, with no pre-aggregation.⁴</a:t>
            </a:r>
            <a:endParaRPr lang="en-US" sz="1300" dirty="0"/>
          </a:p>
        </p:txBody>
      </p:sp>
      <p:sp>
        <p:nvSpPr>
          <p:cNvPr id="21" name="Stature sources"/>
          <p:cNvSpPr txBox="1"/>
          <p:nvPr/>
        </p:nvSpPr>
        <p:spPr>
          <a:xfrm>
            <a:off x="457200" y="4434840"/>
            <a:ext cx="8229600" cy="164592"/>
          </a:xfrm>
          <a:prstGeom prst="rect">
            <a:avLst/>
          </a:prstGeom>
          <a:noFill/>
          <a:ln/>
        </p:spPr>
        <p:txBody>
          <a:bodyPr wrap="square" lIns="0" tIns="0" rIns="0" bIns="0" rtlCol="0" anchor="t"/>
          <a:lstStyle/>
          <a:p>
            <a:pPr indent="0" marL="0">
              <a:buNone/>
            </a:pPr>
            <a:r>
              <a:rPr lang="en-US" sz="700" dirty="0">
                <a:solidFill>
                  <a:srgbClr val="6B726D"/>
                </a:solidFill>
                <a:latin typeface="Inter" pitchFamily="34" charset="0"/>
                <a:ea typeface="Inter" pitchFamily="34" charset="-122"/>
                <a:cs typeface="Inter" pitchFamily="34" charset="-120"/>
              </a:rPr>
              <a:t>¹ </a:t>
            </a:r>
            <a:pPr indent="0" marL="0">
              <a:buNone/>
            </a:pPr>
            <a:r>
              <a:rPr lang="en-US" sz="700" u="sng" dirty="0">
                <a:solidFill>
                  <a:srgbClr val="6B726D"/>
                </a:solidFill>
                <a:latin typeface="Inter" pitchFamily="34" charset="0"/>
                <a:ea typeface="Inter" pitchFamily="34" charset="-122"/>
                <a:cs typeface="Inter" pitchFamily="34" charset="-120"/>
                <a:hlinkClick r:id="rId8" invalidUrl="" action="" tgtFrame="" tooltip="" history="1" highlightClick="0" endSnd="0">
                  <a:extLst>
                    <a:ext uri="{A12FA001-AC4F-418D-AE19-62706E023703}">
                      <ahyp:hlinkClr xmlns:ahyp="http://schemas.microsoft.com/office/drawing/2018/hyperlinkcolor" val="tx"/>
                    </a:ext>
                  </a:extLst>
                </a:hlinkClick>
              </a:rPr>
              <a:t>Metronome customer story: OpenAI</a:t>
            </a:r>
            <a:pPr indent="0" marL="0">
              <a:buNone/>
            </a:pPr>
            <a:r>
              <a:rPr lang="en-US" sz="700" dirty="0">
                <a:solidFill>
                  <a:srgbClr val="6B726D"/>
                </a:solidFill>
                <a:latin typeface="Inter" pitchFamily="34" charset="0"/>
                <a:ea typeface="Inter" pitchFamily="34" charset="-122"/>
                <a:cs typeface="Inter" pitchFamily="34" charset="-120"/>
              </a:rPr>
              <a:t>   ² </a:t>
            </a:r>
            <a:pPr indent="0" marL="0">
              <a:buNone/>
            </a:pPr>
            <a:r>
              <a:rPr lang="en-US" sz="700" u="sng" dirty="0">
                <a:solidFill>
                  <a:srgbClr val="6B726D"/>
                </a:solidFill>
                <a:latin typeface="Inter" pitchFamily="34" charset="0"/>
                <a:ea typeface="Inter" pitchFamily="34" charset="-122"/>
                <a:cs typeface="Inter" pitchFamily="34" charset="-120"/>
                <a:hlinkClick r:id="rId9" invalidUrl="" action="" tgtFrame="" tooltip="" history="1" highlightClick="0" endSnd="0">
                  <a:extLst>
                    <a:ext uri="{A12FA001-AC4F-418D-AE19-62706E023703}">
                      <ahyp:hlinkClr xmlns:ahyp="http://schemas.microsoft.com/office/drawing/2018/hyperlinkcolor" val="tx"/>
                    </a:ext>
                  </a:extLst>
                </a:hlinkClick>
              </a:rPr>
              <a:t>Metronome Series C release (Feb 2025)</a:t>
            </a:r>
            <a:pPr indent="0" marL="0">
              <a:buNone/>
            </a:pPr>
            <a:r>
              <a:rPr lang="en-US" sz="700" dirty="0">
                <a:solidFill>
                  <a:srgbClr val="6B726D"/>
                </a:solidFill>
                <a:latin typeface="Inter" pitchFamily="34" charset="0"/>
                <a:ea typeface="Inter" pitchFamily="34" charset="-122"/>
                <a:cs typeface="Inter" pitchFamily="34" charset="-120"/>
              </a:rPr>
              <a:t>   ³ </a:t>
            </a:r>
            <a:pPr indent="0" marL="0">
              <a:buNone/>
            </a:pPr>
            <a:r>
              <a:rPr lang="en-US" sz="700" u="sng" dirty="0">
                <a:solidFill>
                  <a:srgbClr val="6B726D"/>
                </a:solidFill>
                <a:latin typeface="Inter" pitchFamily="34" charset="0"/>
                <a:ea typeface="Inter" pitchFamily="34" charset="-122"/>
                <a:cs typeface="Inter" pitchFamily="34" charset="-120"/>
                <a:hlinkClick r:id="rId10" invalidUrl="" action="" tgtFrame="" tooltip="" history="1" highlightClick="0" endSnd="0">
                  <a:extLst>
                    <a:ext uri="{A12FA001-AC4F-418D-AE19-62706E023703}">
                      <ahyp:hlinkClr xmlns:ahyp="http://schemas.microsoft.com/office/drawing/2018/hyperlinkcolor" val="tx"/>
                    </a:ext>
                  </a:extLst>
                </a:hlinkClick>
              </a:rPr>
              <a:t>Upstarts Media (Dec 2025)</a:t>
            </a:r>
            <a:pPr indent="0" marL="0">
              <a:buNone/>
            </a:pPr>
            <a:r>
              <a:rPr lang="en-US" sz="700" dirty="0">
                <a:solidFill>
                  <a:srgbClr val="6B726D"/>
                </a:solidFill>
                <a:latin typeface="Inter" pitchFamily="34" charset="0"/>
                <a:ea typeface="Inter" pitchFamily="34" charset="-122"/>
                <a:cs typeface="Inter" pitchFamily="34" charset="-120"/>
              </a:rPr>
              <a:t>; </a:t>
            </a:r>
            <a:pPr indent="0" marL="0">
              <a:buNone/>
            </a:pPr>
            <a:r>
              <a:rPr lang="en-US" sz="700" u="sng" dirty="0">
                <a:solidFill>
                  <a:srgbClr val="6B726D"/>
                </a:solidFill>
                <a:latin typeface="Inter" pitchFamily="34" charset="0"/>
                <a:ea typeface="Inter" pitchFamily="34" charset="-122"/>
                <a:cs typeface="Inter" pitchFamily="34" charset="-120"/>
                <a:hlinkClick r:id="rId11" invalidUrl="" action="" tgtFrame="" tooltip="" history="1" highlightClick="0" endSnd="0">
                  <a:extLst>
                    <a:ext uri="{A12FA001-AC4F-418D-AE19-62706E023703}">
                      <ahyp:hlinkClr xmlns:ahyp="http://schemas.microsoft.com/office/drawing/2018/hyperlinkcolor" val="tx"/>
                    </a:ext>
                  </a:extLst>
                </a:hlinkClick>
              </a:rPr>
              <a:t>Stripe newsroom (Jan 2026)</a:t>
            </a:r>
            <a:pPr indent="0" marL="0">
              <a:buNone/>
            </a:pPr>
            <a:r>
              <a:rPr lang="en-US" sz="700" dirty="0">
                <a:solidFill>
                  <a:srgbClr val="6B726D"/>
                </a:solidFill>
                <a:latin typeface="Inter" pitchFamily="34" charset="0"/>
                <a:ea typeface="Inter" pitchFamily="34" charset="-122"/>
                <a:cs typeface="Inter" pitchFamily="34" charset="-120"/>
              </a:rPr>
              <a:t>   ⁴ </a:t>
            </a:r>
            <a:pPr indent="0" marL="0">
              <a:buNone/>
            </a:pPr>
            <a:r>
              <a:rPr lang="en-US" sz="700" u="sng" dirty="0">
                <a:solidFill>
                  <a:srgbClr val="6B726D"/>
                </a:solidFill>
                <a:latin typeface="Inter" pitchFamily="34" charset="0"/>
                <a:ea typeface="Inter" pitchFamily="34" charset="-122"/>
                <a:cs typeface="Inter" pitchFamily="34" charset="-120"/>
                <a:hlinkClick r:id="rId12" invalidUrl="" action="" tgtFrame="" tooltip="" history="1" highlightClick="0" endSnd="0">
                  <a:extLst>
                    <a:ext uri="{A12FA001-AC4F-418D-AE19-62706E023703}">
                      <ahyp:hlinkClr xmlns:ahyp="http://schemas.microsoft.com/office/drawing/2018/hyperlinkcolor" val="tx"/>
                    </a:ext>
                  </a:extLst>
                </a:hlinkClick>
              </a:rPr>
              <a:t>Metronome docs, “Usage events at scale”</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Metronome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Appendix: who already runs on Metronome (body only)</dc:title>
  <dc:subject>PptxGenJS Presentation</dc:subject>
  <dc:creator>Rania Benman</dc:creator>
  <cp:lastModifiedBy>Rania Benman</cp:lastModifiedBy>
  <cp:revision>1</cp:revision>
  <dcterms:created xsi:type="dcterms:W3CDTF">2026-10-15T22:30:03Z</dcterms:created>
  <dcterms:modified xsi:type="dcterms:W3CDTF">2026-10-15T22:30:03Z</dcterms:modified>
</cp:coreProperties>
</file>