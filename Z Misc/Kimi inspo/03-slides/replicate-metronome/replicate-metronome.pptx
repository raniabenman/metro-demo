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notesMasterIdLst>
    <p:notesMasterId r:id="rId12"/>
  </p:notesMasterIdLst>
  <p:sldSz cx="12192000" cy="6858000" type="custom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/>
          <p:nvPr>
            <p:ph type="body" idx="1"/>
          </p:nvPr>
        </p:nvSpPr>
        <p:spPr/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PURPOSE: Set the frame in 45 seconds — this is a working session about Replicate's billing, not a vendor pitch. The title is the whole thesis: their GPU roadmap moves fast; billing must move at the same speed.</a:t>
            </a:r>
          </a:p>
          <a:p>
            <a:r>
              <a:rPr lang="en-US" sz="1200" noProof="1"/>
              <a:t>EMPHASIZE: Pause after the title line and let it land; then the agenda (10 min talk, 30 min demo, everything shown is config).</a:t>
            </a:r>
          </a:p>
          <a:p>
            <a:r>
              <a:rPr lang="en-US" sz="1200" noProof="1"/>
              <a:t>TONE: Confident, calm, peer-to-peer. No hype — senior engineers in the room.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PURPOSE: Show we did the homework — anchor Replicate's scale with their numbers before we talk about ourselves. Builds the right to have an opinion.</a:t>
            </a:r>
          </a:p>
          <a:p>
            <a:r>
              <a:rPr lang="en-US" sz="1200" noProof="1"/>
              <a:t>EMPHASIZE: The punchline on the right: "every run is a billing event." That sentence converts their growth story into the billing problem. Numbers are third-party estimates + their Series B post — say so out loud.</a:t>
            </a:r>
          </a:p>
          <a:p>
            <a:r>
              <a:rPr lang="en-US" sz="1200" noProof="1"/>
              <a:t>TONE: Admiring, factual. Genuinely complimentary about the business; precise about sources.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PURPOSE: The emotional low point of the deck — their four pains, in their own words, with the business cost attached. We read these back to them; heads should nod. This slide is the contract for the whole demo: every act answers one of these.</a:t>
            </a:r>
          </a:p>
          <a:p>
            <a:r>
              <a:rPr lang="en-US" sz="1200" noProof="1"/>
              <a:t>EMPHASIZE: Read each quote verbatim and attach the cost line. On #1, ask the discovery question: "Which two teams, and what does that calendar look like?" — then stop talking.</a:t>
            </a:r>
          </a:p>
          <a:p>
            <a:r>
              <a:rPr lang="en-US" sz="1200" noProof="1"/>
              <a:t>TONE: Empathetic, never gloating. These are the natural scars of a company growing this fast.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PURPOSE: Answer "what is Metronome and where does it sit in OUR stack?" in one diagram — the marketecture the agenda asks for. Left: their world (prediction service). Middle: Metronome as the rating &amp; contract engine. Right: the exact systems they named — Stripe, NetSuite, Salesforce.</a:t>
            </a:r>
          </a:p>
          <a:p>
            <a:r>
              <a:rPr lang="en-US" sz="1200" noProof="1"/>
              <a:t>EMPHASIZE: The arrow direction and the sentence "your engineers stop being the billing department." Point out Metronome is now part of Stripe — their existing paygo rail.</a:t>
            </a:r>
          </a:p>
          <a:p>
            <a:r>
              <a:rPr lang="en-US" sz="1200" noProof="1"/>
              <a:t>TONE: Clear, technical-but-plain. Slow down here; this is the mental model everything else hangs on.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PURPOSE: Belief. After the pain and the model, prove this is safe ground: the companies Replicate respects already run here, at volumes beyond Replicate's, and Stripe put $1B behind the platform.</a:t>
            </a:r>
          </a:p>
          <a:p>
            <a:r>
              <a:rPr lang="en-US" sz="1200" noProof="1"/>
              <a:t>EMPHASIZE: Two numbers only — "10+ pricing changes in 12 months" (OpenAI, the Pain #1 rebuttal) and the Stripe acquisition (their existing rail, de-risked). Name the peer logos slowly; NVIDIA is both their investor/supplier and a Metronome customer.</a:t>
            </a:r>
          </a:p>
          <a:p>
            <a:r>
              <a:rPr lang="en-US" sz="1200" noProof="1"/>
              <a:t>TONE: Understated. Let the names carry it; no chest-beating.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PURPOSE: The bridge slide — one table that maps every pain to the exact capability and to the demo act that proves it. This is the slide the customer judges "quality of content" on; it is also the safety net if the demo is interrupted.</a:t>
            </a:r>
          </a:p>
          <a:p>
            <a:r>
              <a:rPr lang="en-US" sz="1200" noProof="1"/>
              <a:t>EMPHASIZE: Row 1 and row 4 (their most-quoted pains). Preview the mapping in one breath per row; don't read cells.</a:t>
            </a:r>
          </a:p>
          <a:p>
            <a:r>
              <a:rPr lang="en-US" sz="1200" noProof="1"/>
              <a:t>TONE: Crisp, organized, brisk — this slide buys back time for the demo.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PURPOSE: The teaser that makes engineers lean forward before the demo: their actual pricing page on the left, the same thing as Metronome config on the right. The H100 point lands the whole Pain #1 argument before we even open the product.</a:t>
            </a:r>
          </a:p>
          <a:p>
            <a:r>
              <a:rPr lang="en-US" sz="1200" noProof="1"/>
              <a:t>EMPHASIZE: The caption — "machine type #8 became a rate row." If the room only remembers one sentence from the slides, this is it.</a:t>
            </a:r>
          </a:p>
          <a:p>
            <a:r>
              <a:rPr lang="en-US" sz="1200" noProof="1"/>
              <a:t>TONE: Playful confidence. This is the "ta-da" slide; enjoy it.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PURPOSE: The ask — a concrete, low-risk pilot with success criteria, so the meeting ends in a decision, not a "let's circle back." Scoped to the two flows that hurt most: the trial and one enterprise commit, in a sandbox, on their own event stream.</a:t>
            </a:r>
          </a:p>
          <a:p>
            <a:r>
              <a:rPr lang="en-US" sz="1200" noProof="1"/>
              <a:t>EMPHASIZE: The timeline (2–3 weeks) and the two success criteria — measurable, theirs. Ask directly: "Which pain do we make disappear first?"</a:t>
            </a:r>
          </a:p>
          <a:p>
            <a:r>
              <a:rPr lang="en-US" sz="1200" noProof="1"/>
              <a:t>TONE: Direct, warm, action-oriented. This is the close of the deck — no hedging.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PURPOSE: Close the slides and hand over to the demo with one question hanging in the air. Also the slide to return to at Q&amp;A.</a:t>
            </a:r>
          </a:p>
          <a:p>
            <a:r>
              <a:rPr lang="en-US" sz="1200" noProof="1"/>
              <a:t>EMPHASIZE: The question itself — ask it, then stop. Let them answer; their answer IS the pilot scope.</a:t>
            </a:r>
          </a:p>
          <a:p>
            <a:r>
              <a:rPr lang="en-US" sz="1200" noProof="1"/>
              <a:t>TONE: Quiet confidence, genuine curiosity. End of broadcast mode; beginning of working session.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techcrunch.com/2024/01/31/metronomes-usage-based-billing-software-finds-hit-in-ai-raises-43m-in-fresh-capital/" TargetMode="External"/><Relationship Id="rId4" Type="http://schemas.openxmlformats.org/officeDocument/2006/relationships/hyperlink" Target="https://stripe.com/blog/metronome-stripe-building-the-future-of-billing" TargetMode="External"/><Relationship Id="rId5" Type="http://schemas.openxmlformats.org/officeDocument/2006/relationships/hyperlink" Target="https://www.youtube.com/watch?v=S9BEPO-_PrY" TargetMode="Externa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_1.png"/><Relationship Id="rId3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E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914400" y="812800"/>
            <a:ext cx="812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 spc="300" kern="0">
                <a:solidFill>
                  <a:srgbClr val="B08D3E"/>
                </a:solidFill>
                <a:latin typeface="Arial"/>
                <a:ea typeface="Arial"/>
              </a:rPr>
              <a:t>METRONOME × REPLICATE · PARTNERSHIP SESSION</a:t>
            </a:r>
            <a:endParaRPr lang="en-US" sz="1300" noProof="1"/>
          </a:p>
        </p:txBody>
      </p:sp>
      <p:sp>
        <p:nvSpPr>
          <p:cNvPr id="3" name="rule-top"/>
          <p:cNvSpPr/>
          <p:nvPr/>
        </p:nvSpPr>
        <p:spPr>
          <a:xfrm>
            <a:off x="914400" y="1219200"/>
            <a:ext cx="711200" cy="38100"/>
          </a:xfrm>
          <a:prstGeom prst="rect">
            <a:avLst/>
          </a:prstGeom>
          <a:solidFill>
            <a:srgbClr val="B08D3E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914400" y="1905000"/>
            <a:ext cx="9906000" cy="228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2000"/>
              </a:lnSpc>
            </a:pPr>
            <a:r>
              <a:rPr lang="en-US" sz="5200" noProof="1">
                <a:solidFill>
                  <a:srgbClr val="F7F3E8"/>
                </a:solidFill>
                <a:latin typeface="Georgia"/>
                <a:ea typeface="Georgia"/>
              </a:rPr>
              <a:t>Billing that ships</a:t>
            </a:r>
            <a:endParaRPr lang="en-US" sz="5200" noProof="1"/>
          </a:p>
          <a:p>
            <a:pPr>
              <a:lnSpc>
                <a:spcPct val="112000"/>
              </a:lnSpc>
            </a:pPr>
            <a:r>
              <a:rPr lang="en-US" sz="5200" noProof="1">
                <a:solidFill>
                  <a:srgbClr val="F7F3E8"/>
                </a:solidFill>
                <a:latin typeface="Georgia"/>
                <a:ea typeface="Georgia"/>
              </a:rPr>
              <a:t>as fast as your GPUs.</a:t>
            </a:r>
            <a:endParaRPr lang="en-US" sz="5200" noProof="1"/>
          </a:p>
        </p:txBody>
      </p:sp>
      <p:sp>
        <p:nvSpPr>
          <p:cNvPr id="5" name="subtitle"/>
          <p:cNvSpPr txBox="1"/>
          <p:nvPr/>
        </p:nvSpPr>
        <p:spPr>
          <a:xfrm>
            <a:off x="914400" y="4267200"/>
            <a:ext cx="8890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700" noProof="1">
                <a:solidFill>
                  <a:srgbClr val="C9C4B4"/>
                </a:solidFill>
                <a:latin typeface="Arial"/>
                <a:ea typeface="Arial"/>
              </a:rPr>
              <a:t>Ten minutes of context, then thirty minutes inside your pricing,</a:t>
            </a:r>
            <a:endParaRPr lang="en-US" sz="1700" noProof="1"/>
          </a:p>
          <a:p>
            <a:pPr>
              <a:lnSpc>
                <a:spcPct val="155000"/>
              </a:lnSpc>
            </a:pPr>
            <a:r>
              <a:rPr lang="en-US" sz="1700" noProof="1">
                <a:solidFill>
                  <a:srgbClr val="C9C4B4"/>
                </a:solidFill>
                <a:latin typeface="Arial"/>
                <a:ea typeface="Arial"/>
              </a:rPr>
              <a:t>your free trial, and your enterprise contracts — running on Metronome.</a:t>
            </a:r>
            <a:endParaRPr lang="en-US" sz="1700" noProof="1"/>
          </a:p>
        </p:txBody>
      </p:sp>
      <p:sp>
        <p:nvSpPr>
          <p:cNvPr id="6" name="tick1"/>
          <p:cNvSpPr/>
          <p:nvPr/>
        </p:nvSpPr>
        <p:spPr>
          <a:xfrm>
            <a:off x="914400" y="5740400"/>
            <a:ext cx="25400" cy="152400"/>
          </a:xfrm>
          <a:prstGeom prst="rect">
            <a:avLst/>
          </a:prstGeom>
          <a:solidFill>
            <a:srgbClr val="B08D3E"/>
          </a:solidFill>
          <a:ln>
            <a:noFill/>
          </a:ln>
        </p:spPr>
      </p:sp>
      <p:sp>
        <p:nvSpPr>
          <p:cNvPr id="7" name="tick2"/>
          <p:cNvSpPr/>
          <p:nvPr/>
        </p:nvSpPr>
        <p:spPr>
          <a:xfrm>
            <a:off x="1016000" y="5664200"/>
            <a:ext cx="25400" cy="228600"/>
          </a:xfrm>
          <a:prstGeom prst="rect">
            <a:avLst/>
          </a:prstGeom>
          <a:solidFill>
            <a:srgbClr val="B08D3E"/>
          </a:solidFill>
          <a:ln>
            <a:noFill/>
          </a:ln>
        </p:spPr>
      </p:sp>
      <p:sp>
        <p:nvSpPr>
          <p:cNvPr id="8" name="tick3"/>
          <p:cNvSpPr/>
          <p:nvPr/>
        </p:nvSpPr>
        <p:spPr>
          <a:xfrm>
            <a:off x="1117600" y="5740400"/>
            <a:ext cx="25400" cy="152400"/>
          </a:xfrm>
          <a:prstGeom prst="rect">
            <a:avLst/>
          </a:prstGeom>
          <a:solidFill>
            <a:srgbClr val="B08D3E"/>
          </a:solidFill>
          <a:ln>
            <a:noFill/>
          </a:ln>
        </p:spPr>
      </p:sp>
      <p:sp>
        <p:nvSpPr>
          <p:cNvPr id="9" name="tick4"/>
          <p:cNvSpPr/>
          <p:nvPr/>
        </p:nvSpPr>
        <p:spPr>
          <a:xfrm>
            <a:off x="1219200" y="5600700"/>
            <a:ext cx="25400" cy="292100"/>
          </a:xfrm>
          <a:prstGeom prst="rect">
            <a:avLst/>
          </a:prstGeom>
          <a:solidFill>
            <a:srgbClr val="B08D3E"/>
          </a:solidFill>
          <a:ln>
            <a:noFill/>
          </a:ln>
        </p:spPr>
      </p:sp>
      <p:sp>
        <p:nvSpPr>
          <p:cNvPr id="10" name="tick5"/>
          <p:cNvSpPr/>
          <p:nvPr/>
        </p:nvSpPr>
        <p:spPr>
          <a:xfrm>
            <a:off x="1320800" y="5740400"/>
            <a:ext cx="25400" cy="152400"/>
          </a:xfrm>
          <a:prstGeom prst="rect">
            <a:avLst/>
          </a:prstGeom>
          <a:solidFill>
            <a:srgbClr val="B08D3E"/>
          </a:solidFill>
          <a:ln>
            <a:noFill/>
          </a:ln>
        </p:spPr>
      </p:sp>
      <p:sp>
        <p:nvSpPr>
          <p:cNvPr id="11" name="tick6"/>
          <p:cNvSpPr/>
          <p:nvPr/>
        </p:nvSpPr>
        <p:spPr>
          <a:xfrm>
            <a:off x="1422400" y="5689600"/>
            <a:ext cx="25400" cy="203200"/>
          </a:xfrm>
          <a:prstGeom prst="rect">
            <a:avLst/>
          </a:prstGeom>
          <a:solidFill>
            <a:srgbClr val="B08D3E"/>
          </a:solidFill>
          <a:ln>
            <a:noFill/>
          </a:ln>
        </p:spPr>
      </p:sp>
      <p:sp>
        <p:nvSpPr>
          <p:cNvPr id="12" name="tick7"/>
          <p:cNvSpPr/>
          <p:nvPr/>
        </p:nvSpPr>
        <p:spPr>
          <a:xfrm>
            <a:off x="1524000" y="5740400"/>
            <a:ext cx="25400" cy="152400"/>
          </a:xfrm>
          <a:prstGeom prst="rect">
            <a:avLst/>
          </a:prstGeom>
          <a:solidFill>
            <a:srgbClr val="B08D3E"/>
          </a:solidFill>
          <a:ln>
            <a:noFill/>
          </a:ln>
        </p:spPr>
      </p:sp>
      <p:sp>
        <p:nvSpPr>
          <p:cNvPr id="13" name="meta"/>
          <p:cNvSpPr txBox="1"/>
          <p:nvPr/>
        </p:nvSpPr>
        <p:spPr>
          <a:xfrm>
            <a:off x="1828800" y="56388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C9C4B4"/>
                </a:solidFill>
                <a:latin typeface="Arial"/>
                <a:ea typeface="Arial"/>
              </a:rPr>
              <a:t>Prepared by the Metronome strategy team · October 2026</a:t>
            </a:r>
            <a:endParaRPr lang="en-US" sz="12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914400" y="6096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 spc="300" kern="0">
                <a:solidFill>
                  <a:srgbClr val="B08D3E"/>
                </a:solidFill>
                <a:latin typeface="Arial"/>
                <a:ea typeface="Arial"/>
              </a:rPr>
              <a:t>WHY WE ARE HERE</a:t>
            </a:r>
            <a:endParaRPr lang="en-US" sz="1300" noProof="1"/>
          </a:p>
        </p:txBody>
      </p:sp>
      <p:sp>
        <p:nvSpPr>
          <p:cNvPr id="3" name="num1"/>
          <p:cNvSpPr txBox="1"/>
          <p:nvPr/>
        </p:nvSpPr>
        <p:spPr>
          <a:xfrm>
            <a:off x="914400" y="1371600"/>
            <a:ext cx="3810000" cy="1295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400" noProof="1">
                <a:solidFill>
                  <a:srgbClr val="123B2F"/>
                </a:solidFill>
                <a:latin typeface="Georgia"/>
                <a:ea typeface="Georgia"/>
              </a:rPr>
              <a:t>50k+</a:t>
            </a:r>
            <a:endParaRPr lang="en-US" sz="4400" noProof="1"/>
          </a:p>
        </p:txBody>
      </p:sp>
      <p:sp>
        <p:nvSpPr>
          <p:cNvPr id="4" name="num1cap"/>
          <p:cNvSpPr txBox="1"/>
          <p:nvPr/>
        </p:nvSpPr>
        <p:spPr>
          <a:xfrm>
            <a:off x="914400" y="21336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7C8778"/>
                </a:solidFill>
                <a:latin typeface="Arial"/>
                <a:ea typeface="Arial"/>
              </a:rPr>
              <a:t>open-source models behind one API</a:t>
            </a:r>
            <a:endParaRPr lang="en-US" sz="1100" noProof="1"/>
          </a:p>
        </p:txBody>
      </p:sp>
      <p:sp>
        <p:nvSpPr>
          <p:cNvPr id="5" name="rule1"/>
          <p:cNvSpPr/>
          <p:nvPr/>
        </p:nvSpPr>
        <p:spPr>
          <a:xfrm>
            <a:off x="914400" y="2641600"/>
            <a:ext cx="2794000" cy="12700"/>
          </a:xfrm>
          <a:prstGeom prst="rect">
            <a:avLst/>
          </a:prstGeom>
          <a:solidFill>
            <a:srgbClr val="D8D2C0"/>
          </a:solidFill>
          <a:ln>
            <a:noFill/>
          </a:ln>
        </p:spPr>
      </p:sp>
      <p:sp>
        <p:nvSpPr>
          <p:cNvPr id="6" name="num2"/>
          <p:cNvSpPr txBox="1"/>
          <p:nvPr/>
        </p:nvSpPr>
        <p:spPr>
          <a:xfrm>
            <a:off x="914400" y="2946400"/>
            <a:ext cx="3810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400" noProof="1">
                <a:solidFill>
                  <a:srgbClr val="123B2F"/>
                </a:solidFill>
                <a:latin typeface="Georgia"/>
                <a:ea typeface="Georgia"/>
              </a:rPr>
              <a:t>30,000</a:t>
            </a:r>
            <a:endParaRPr lang="en-US" sz="4400" noProof="1"/>
          </a:p>
        </p:txBody>
      </p:sp>
      <p:sp>
        <p:nvSpPr>
          <p:cNvPr id="7" name="num2cap"/>
          <p:cNvSpPr txBox="1"/>
          <p:nvPr/>
        </p:nvSpPr>
        <p:spPr>
          <a:xfrm>
            <a:off x="914400" y="37084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7C8778"/>
                </a:solidFill>
                <a:latin typeface="Arial"/>
                <a:ea typeface="Arial"/>
              </a:rPr>
              <a:t>paying customers — 2M+ developers signed up</a:t>
            </a:r>
            <a:endParaRPr lang="en-US" sz="1100" noProof="1"/>
          </a:p>
        </p:txBody>
      </p:sp>
      <p:sp>
        <p:nvSpPr>
          <p:cNvPr id="8" name="rule2"/>
          <p:cNvSpPr/>
          <p:nvPr/>
        </p:nvSpPr>
        <p:spPr>
          <a:xfrm>
            <a:off x="914400" y="4216400"/>
            <a:ext cx="2794000" cy="12700"/>
          </a:xfrm>
          <a:prstGeom prst="rect">
            <a:avLst/>
          </a:prstGeom>
          <a:solidFill>
            <a:srgbClr val="D8D2C0"/>
          </a:solidFill>
          <a:ln>
            <a:noFill/>
          </a:ln>
        </p:spPr>
      </p:sp>
      <p:sp>
        <p:nvSpPr>
          <p:cNvPr id="9" name="num3"/>
          <p:cNvSpPr txBox="1"/>
          <p:nvPr/>
        </p:nvSpPr>
        <p:spPr>
          <a:xfrm>
            <a:off x="914400" y="4521200"/>
            <a:ext cx="3810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400" noProof="1">
                <a:solidFill>
                  <a:srgbClr val="123B2F"/>
                </a:solidFill>
                <a:latin typeface="Georgia"/>
                <a:ea typeface="Georgia"/>
              </a:rPr>
              <a:t>$40M</a:t>
            </a:r>
            <a:endParaRPr lang="en-US" sz="4400" noProof="1"/>
          </a:p>
        </p:txBody>
      </p:sp>
      <p:sp>
        <p:nvSpPr>
          <p:cNvPr id="10" name="num3cap"/>
          <p:cNvSpPr txBox="1"/>
          <p:nvPr/>
        </p:nvSpPr>
        <p:spPr>
          <a:xfrm>
            <a:off x="914400" y="5283200"/>
            <a:ext cx="406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7C8778"/>
                </a:solidFill>
                <a:latin typeface="Arial"/>
                <a:ea typeface="Arial"/>
              </a:rPr>
              <a:t>Series B — a16z, NVIDIA, Sequoia, YC (Dec 2023)</a:t>
            </a:r>
            <a:endParaRPr lang="en-US" sz="1100" noProof="1"/>
          </a:p>
        </p:txBody>
      </p:sp>
      <p:sp>
        <p:nvSpPr>
          <p:cNvPr id="11" name="claim"/>
          <p:cNvSpPr txBox="1"/>
          <p:nvPr/>
        </p:nvSpPr>
        <p:spPr>
          <a:xfrm>
            <a:off x="5969000" y="1524000"/>
            <a:ext cx="5334000" cy="190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2700" noProof="1">
                <a:solidFill>
                  <a:srgbClr val="123B2F"/>
                </a:solidFill>
                <a:latin typeface="Georgia"/>
                <a:ea typeface="Georgia"/>
              </a:rPr>
              <a:t>Every model run</a:t>
            </a:r>
            <a:endParaRPr lang="en-US" sz="2700" noProof="1"/>
          </a:p>
          <a:p>
            <a:pPr>
              <a:lnSpc>
                <a:spcPct val="135000"/>
              </a:lnSpc>
            </a:pPr>
            <a:r>
              <a:rPr lang="en-US" sz="2700" noProof="1">
                <a:solidFill>
                  <a:srgbClr val="123B2F"/>
                </a:solidFill>
                <a:latin typeface="Georgia"/>
                <a:ea typeface="Georgia"/>
              </a:rPr>
              <a:t>is a </a:t>
            </a:r>
            <a:r>
              <a:rPr lang="en-US" sz="2700" noProof="1">
                <a:solidFill>
                  <a:srgbClr val="B08D3E"/>
                </a:solidFill>
                <a:latin typeface="Georgia"/>
                <a:ea typeface="Georgia"/>
              </a:rPr>
              <a:t>billing event</a:t>
            </a:r>
            <a:r>
              <a:rPr lang="en-US" sz="2700" noProof="1">
                <a:solidFill>
                  <a:srgbClr val="123B2F"/>
                </a:solidFill>
                <a:latin typeface="Georgia"/>
                <a:ea typeface="Georgia"/>
              </a:rPr>
              <a:t> —</a:t>
            </a:r>
            <a:endParaRPr lang="en-US" sz="2700" noProof="1"/>
          </a:p>
          <a:p>
            <a:pPr>
              <a:lnSpc>
                <a:spcPct val="135000"/>
              </a:lnSpc>
            </a:pPr>
            <a:r>
              <a:rPr lang="en-US" sz="2700" noProof="1">
                <a:solidFill>
                  <a:srgbClr val="123B2F"/>
                </a:solidFill>
                <a:latin typeface="Georgia"/>
                <a:ea typeface="Georgia"/>
              </a:rPr>
              <a:t>rated, credited, invoiced.</a:t>
            </a:r>
            <a:endParaRPr lang="en-US" sz="2700" noProof="1"/>
          </a:p>
        </p:txBody>
      </p:sp>
      <p:sp>
        <p:nvSpPr>
          <p:cNvPr id="12" name="claimbody"/>
          <p:cNvSpPr txBox="1"/>
          <p:nvPr/>
        </p:nvSpPr>
        <p:spPr>
          <a:xfrm>
            <a:off x="5969000" y="3632200"/>
            <a:ext cx="53340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500" noProof="1">
                <a:solidFill>
                  <a:srgbClr val="31443B"/>
                </a:solidFill>
                <a:latin typeface="Arial"/>
                <a:ea typeface="Arial"/>
              </a:rPr>
              <a:t>You rebuilt model deployment as one API call. The monetization layer underneath it — SKUs, trials, commits, invoices — is still homegrown.</a:t>
            </a:r>
            <a:endParaRPr lang="en-US" sz="1500" noProof="1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500" noProof="1">
                <a:solidFill>
                  <a:srgbClr val="31443B"/>
                </a:solidFill>
                <a:latin typeface="Arial"/>
                <a:ea typeface="Arial"/>
              </a:rPr>
              <a:t>That gap is what we are here to close today.</a:t>
            </a:r>
            <a:endParaRPr lang="en-US" sz="1500" noProof="1"/>
          </a:p>
        </p:txBody>
      </p:sp>
      <p:sp>
        <p:nvSpPr>
          <p:cNvPr id="13" name="source"/>
          <p:cNvSpPr txBox="1"/>
          <p:nvPr/>
        </p:nvSpPr>
        <p:spPr>
          <a:xfrm>
            <a:off x="914400" y="6350000"/>
            <a:ext cx="103632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7C8778"/>
                </a:solidFill>
                <a:latin typeface="Arial"/>
                <a:ea typeface="Arial"/>
              </a:rPr>
              <a:t>Sources: replicate.com/blog/series-b; replicate.com/pricing; blog.cloudflare.com/replicate-joins-cloudflare; third-party estimates (FourWeekMBA, 2025). Scale figures are directional.</a:t>
            </a:r>
            <a:endParaRPr lang="en-US" sz="10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E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914400" y="5588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 spc="300" kern="0">
                <a:solidFill>
                  <a:srgbClr val="B08D3E"/>
                </a:solidFill>
                <a:latin typeface="Arial"/>
                <a:ea typeface="Arial"/>
              </a:rPr>
              <a:t>WHAT YOU TOLD US</a:t>
            </a:r>
            <a:endParaRPr lang="en-US" sz="1300" noProof="1"/>
          </a:p>
        </p:txBody>
      </p:sp>
      <p:sp>
        <p:nvSpPr>
          <p:cNvPr id="3" name="q1n"/>
          <p:cNvSpPr txBox="1"/>
          <p:nvPr/>
        </p:nvSpPr>
        <p:spPr>
          <a:xfrm>
            <a:off x="914400" y="1066800"/>
            <a:ext cx="50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200" noProof="1">
                <a:solidFill>
                  <a:srgbClr val="B08D3E"/>
                </a:solidFill>
                <a:latin typeface="Georgia"/>
                <a:ea typeface="Georgia"/>
              </a:rPr>
              <a:t>1</a:t>
            </a:r>
            <a:endParaRPr lang="en-US" sz="2200" noProof="1"/>
          </a:p>
        </p:txBody>
      </p:sp>
      <p:sp>
        <p:nvSpPr>
          <p:cNvPr id="4" name="q1"/>
          <p:cNvSpPr txBox="1"/>
          <p:nvPr/>
        </p:nvSpPr>
        <p:spPr>
          <a:xfrm>
            <a:off x="1498600" y="1066800"/>
            <a:ext cx="6604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600" noProof="1">
                <a:solidFill>
                  <a:srgbClr val="F7F3E8"/>
                </a:solidFill>
                <a:latin typeface="Georgia"/>
                <a:ea typeface="Georgia"/>
              </a:rPr>
              <a:t>"Adding another machine type takes two engineering teams — it can take weeks."</a:t>
            </a:r>
            <a:endParaRPr lang="en-US" sz="1600" noProof="1"/>
          </a:p>
        </p:txBody>
      </p:sp>
      <p:sp>
        <p:nvSpPr>
          <p:cNvPr id="5" name="q1c"/>
          <p:cNvSpPr txBox="1"/>
          <p:nvPr/>
        </p:nvSpPr>
        <p:spPr>
          <a:xfrm>
            <a:off x="8432800" y="1066800"/>
            <a:ext cx="2921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45000"/>
              </a:lnSpc>
            </a:pPr>
            <a:r>
              <a:rPr lang="en-US" sz="1200" noProof="1">
                <a:solidFill>
                  <a:srgbClr val="C9C4B4"/>
                </a:solidFill>
                <a:latin typeface="Arial"/>
                <a:ea typeface="Arial"/>
              </a:rPr>
              <a:t>Billing gates the</a:t>
            </a:r>
            <a:endParaRPr lang="en-US" sz="1200" noProof="1"/>
          </a:p>
          <a:p>
            <a:pPr algn="r">
              <a:lnSpc>
                <a:spcPct val="145000"/>
              </a:lnSpc>
            </a:pPr>
            <a:r>
              <a:rPr lang="en-US" sz="1200" noProof="1">
                <a:solidFill>
                  <a:srgbClr val="C9C4B4"/>
                </a:solidFill>
                <a:latin typeface="Arial"/>
                <a:ea typeface="Arial"/>
              </a:rPr>
              <a:t>hardware roadmap</a:t>
            </a:r>
            <a:endParaRPr lang="en-US" sz="1200" noProof="1"/>
          </a:p>
        </p:txBody>
      </p:sp>
      <p:sp>
        <p:nvSpPr>
          <p:cNvPr id="6" name="r1"/>
          <p:cNvSpPr/>
          <p:nvPr/>
        </p:nvSpPr>
        <p:spPr>
          <a:xfrm>
            <a:off x="914400" y="1854200"/>
            <a:ext cx="10439400" cy="12700"/>
          </a:xfrm>
          <a:prstGeom prst="rect">
            <a:avLst/>
          </a:prstGeom>
          <a:solidFill>
            <a:srgbClr val="2A4A3E"/>
          </a:solidFill>
          <a:ln>
            <a:noFill/>
          </a:ln>
        </p:spPr>
      </p:sp>
      <p:sp>
        <p:nvSpPr>
          <p:cNvPr id="7" name="q2n"/>
          <p:cNvSpPr txBox="1"/>
          <p:nvPr/>
        </p:nvSpPr>
        <p:spPr>
          <a:xfrm>
            <a:off x="914400" y="2108200"/>
            <a:ext cx="50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200" noProof="1">
                <a:solidFill>
                  <a:srgbClr val="B08D3E"/>
                </a:solidFill>
                <a:latin typeface="Georgia"/>
                <a:ea typeface="Georgia"/>
              </a:rPr>
              <a:t>2</a:t>
            </a:r>
            <a:endParaRPr lang="en-US" sz="2200" noProof="1"/>
          </a:p>
        </p:txBody>
      </p:sp>
      <p:sp>
        <p:nvSpPr>
          <p:cNvPr id="8" name="q2"/>
          <p:cNvSpPr txBox="1"/>
          <p:nvPr/>
        </p:nvSpPr>
        <p:spPr>
          <a:xfrm>
            <a:off x="1498600" y="2108200"/>
            <a:ext cx="6604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600" noProof="1">
                <a:solidFill>
                  <a:srgbClr val="F7F3E8"/>
                </a:solidFill>
                <a:latin typeface="Georgia"/>
                <a:ea typeface="Georgia"/>
              </a:rPr>
              <a:t>"We measure trial credit usage once a day. Users run far past it before we ask for a card."</a:t>
            </a:r>
            <a:endParaRPr lang="en-US" sz="1600" noProof="1"/>
          </a:p>
        </p:txBody>
      </p:sp>
      <p:sp>
        <p:nvSpPr>
          <p:cNvPr id="9" name="q2c"/>
          <p:cNvSpPr txBox="1"/>
          <p:nvPr/>
        </p:nvSpPr>
        <p:spPr>
          <a:xfrm>
            <a:off x="8432800" y="2108200"/>
            <a:ext cx="2921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45000"/>
              </a:lnSpc>
            </a:pPr>
            <a:r>
              <a:rPr lang="en-US" sz="1200" noProof="1">
                <a:solidFill>
                  <a:srgbClr val="C9C4B4"/>
                </a:solidFill>
                <a:latin typeface="Arial"/>
                <a:ea typeface="Arial"/>
              </a:rPr>
              <a:t>GPU cost bleeds on every</a:t>
            </a:r>
            <a:endParaRPr lang="en-US" sz="1200" noProof="1"/>
          </a:p>
          <a:p>
            <a:pPr algn="r">
              <a:lnSpc>
                <a:spcPct val="145000"/>
              </a:lnSpc>
            </a:pPr>
            <a:r>
              <a:rPr lang="en-US" sz="1200" noProof="1">
                <a:solidFill>
                  <a:srgbClr val="C9C4B4"/>
                </a:solidFill>
                <a:latin typeface="Arial"/>
                <a:ea typeface="Arial"/>
              </a:rPr>
              <a:t>leaky trial, every night</a:t>
            </a:r>
            <a:endParaRPr lang="en-US" sz="1200" noProof="1"/>
          </a:p>
        </p:txBody>
      </p:sp>
      <p:sp>
        <p:nvSpPr>
          <p:cNvPr id="10" name="r2"/>
          <p:cNvSpPr/>
          <p:nvPr/>
        </p:nvSpPr>
        <p:spPr>
          <a:xfrm>
            <a:off x="914400" y="2895600"/>
            <a:ext cx="10439400" cy="12700"/>
          </a:xfrm>
          <a:prstGeom prst="rect">
            <a:avLst/>
          </a:prstGeom>
          <a:solidFill>
            <a:srgbClr val="2A4A3E"/>
          </a:solidFill>
          <a:ln>
            <a:noFill/>
          </a:ln>
        </p:spPr>
      </p:sp>
      <p:sp>
        <p:nvSpPr>
          <p:cNvPr id="11" name="q3n"/>
          <p:cNvSpPr txBox="1"/>
          <p:nvPr/>
        </p:nvSpPr>
        <p:spPr>
          <a:xfrm>
            <a:off x="914400" y="3149600"/>
            <a:ext cx="50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200" noProof="1">
                <a:solidFill>
                  <a:srgbClr val="B08D3E"/>
                </a:solidFill>
                <a:latin typeface="Georgia"/>
                <a:ea typeface="Georgia"/>
              </a:rPr>
              <a:t>3</a:t>
            </a:r>
            <a:endParaRPr lang="en-US" sz="2200" noProof="1"/>
          </a:p>
        </p:txBody>
      </p:sp>
      <p:sp>
        <p:nvSpPr>
          <p:cNvPr id="12" name="q3"/>
          <p:cNvSpPr txBox="1"/>
          <p:nvPr/>
        </p:nvSpPr>
        <p:spPr>
          <a:xfrm>
            <a:off x="1498600" y="3149600"/>
            <a:ext cx="6604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600" noProof="1">
                <a:solidFill>
                  <a:srgbClr val="F7F3E8"/>
                </a:solidFill>
                <a:latin typeface="Georgia"/>
                <a:ea typeface="Georgia"/>
              </a:rPr>
              <a:t>"Our billing can't model fixed or percent-based fees — so we have no support tiers."</a:t>
            </a:r>
            <a:endParaRPr lang="en-US" sz="1600" noProof="1"/>
          </a:p>
        </p:txBody>
      </p:sp>
      <p:sp>
        <p:nvSpPr>
          <p:cNvPr id="13" name="q3c"/>
          <p:cNvSpPr txBox="1"/>
          <p:nvPr/>
        </p:nvSpPr>
        <p:spPr>
          <a:xfrm>
            <a:off x="8432800" y="3149600"/>
            <a:ext cx="2921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45000"/>
              </a:lnSpc>
            </a:pPr>
            <a:r>
              <a:rPr lang="en-US" sz="1200" noProof="1">
                <a:solidFill>
                  <a:srgbClr val="C9C4B4"/>
                </a:solidFill>
                <a:latin typeface="Arial"/>
                <a:ea typeface="Arial"/>
              </a:rPr>
              <a:t>Enterprise demand</a:t>
            </a:r>
            <a:endParaRPr lang="en-US" sz="1200" noProof="1"/>
          </a:p>
          <a:p>
            <a:pPr algn="r">
              <a:lnSpc>
                <a:spcPct val="145000"/>
              </a:lnSpc>
            </a:pPr>
            <a:r>
              <a:rPr lang="en-US" sz="1200" noProof="1">
                <a:solidFill>
                  <a:srgbClr val="C9C4B4"/>
                </a:solidFill>
                <a:latin typeface="Arial"/>
                <a:ea typeface="Arial"/>
              </a:rPr>
              <a:t>goes unmonetized</a:t>
            </a:r>
            <a:endParaRPr lang="en-US" sz="1200" noProof="1"/>
          </a:p>
        </p:txBody>
      </p:sp>
      <p:sp>
        <p:nvSpPr>
          <p:cNvPr id="14" name="r3"/>
          <p:cNvSpPr/>
          <p:nvPr/>
        </p:nvSpPr>
        <p:spPr>
          <a:xfrm>
            <a:off x="914400" y="3937000"/>
            <a:ext cx="10439400" cy="12700"/>
          </a:xfrm>
          <a:prstGeom prst="rect">
            <a:avLst/>
          </a:prstGeom>
          <a:solidFill>
            <a:srgbClr val="2A4A3E"/>
          </a:solidFill>
          <a:ln>
            <a:noFill/>
          </a:ln>
        </p:spPr>
      </p:sp>
      <p:sp>
        <p:nvSpPr>
          <p:cNvPr id="15" name="q4n"/>
          <p:cNvSpPr txBox="1"/>
          <p:nvPr/>
        </p:nvSpPr>
        <p:spPr>
          <a:xfrm>
            <a:off x="914400" y="4191000"/>
            <a:ext cx="50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200" noProof="1">
                <a:solidFill>
                  <a:srgbClr val="B08D3E"/>
                </a:solidFill>
                <a:latin typeface="Georgia"/>
                <a:ea typeface="Georgia"/>
              </a:rPr>
              <a:t>4</a:t>
            </a:r>
            <a:endParaRPr lang="en-US" sz="2200" noProof="1"/>
          </a:p>
        </p:txBody>
      </p:sp>
      <p:sp>
        <p:nvSpPr>
          <p:cNvPr id="16" name="q4"/>
          <p:cNvSpPr txBox="1"/>
          <p:nvPr/>
        </p:nvSpPr>
        <p:spPr>
          <a:xfrm>
            <a:off x="1498600" y="4191000"/>
            <a:ext cx="6604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600" noProof="1">
                <a:solidFill>
                  <a:srgbClr val="F7F3E8"/>
                </a:solidFill>
                <a:latin typeface="Georgia"/>
                <a:ea typeface="Georgia"/>
              </a:rPr>
              <a:t>"We can't tell customers where they are against a $100k commit without an engineer querying the database."</a:t>
            </a:r>
            <a:endParaRPr lang="en-US" sz="1600" noProof="1"/>
          </a:p>
        </p:txBody>
      </p:sp>
      <p:sp>
        <p:nvSpPr>
          <p:cNvPr id="17" name="q4c"/>
          <p:cNvSpPr txBox="1"/>
          <p:nvPr/>
        </p:nvSpPr>
        <p:spPr>
          <a:xfrm>
            <a:off x="8432800" y="4191000"/>
            <a:ext cx="2921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45000"/>
              </a:lnSpc>
            </a:pPr>
            <a:r>
              <a:rPr lang="en-US" sz="1200" noProof="1">
                <a:solidFill>
                  <a:srgbClr val="C9C4B4"/>
                </a:solidFill>
                <a:latin typeface="Arial"/>
                <a:ea typeface="Arial"/>
              </a:rPr>
              <a:t>Renewals fly blind;</a:t>
            </a:r>
            <a:endParaRPr lang="en-US" sz="1200" noProof="1"/>
          </a:p>
          <a:p>
            <a:pPr algn="r">
              <a:lnSpc>
                <a:spcPct val="145000"/>
              </a:lnSpc>
            </a:pPr>
            <a:r>
              <a:rPr lang="en-US" sz="1200" noProof="1">
                <a:solidFill>
                  <a:srgbClr val="C9C4B4"/>
                </a:solidFill>
                <a:latin typeface="Arial"/>
                <a:ea typeface="Arial"/>
              </a:rPr>
              <a:t>engineers get interrupted</a:t>
            </a:r>
            <a:endParaRPr lang="en-US" sz="1200" noProof="1"/>
          </a:p>
        </p:txBody>
      </p:sp>
      <p:sp>
        <p:nvSpPr>
          <p:cNvPr id="18" name="r4"/>
          <p:cNvSpPr/>
          <p:nvPr/>
        </p:nvSpPr>
        <p:spPr>
          <a:xfrm>
            <a:off x="914400" y="4978400"/>
            <a:ext cx="10439400" cy="12700"/>
          </a:xfrm>
          <a:prstGeom prst="rect">
            <a:avLst/>
          </a:prstGeom>
          <a:solidFill>
            <a:srgbClr val="2A4A3E"/>
          </a:solidFill>
          <a:ln>
            <a:noFill/>
          </a:ln>
        </p:spPr>
      </p:sp>
      <p:sp>
        <p:nvSpPr>
          <p:cNvPr id="19" name="bottom"/>
          <p:cNvSpPr txBox="1"/>
          <p:nvPr/>
        </p:nvSpPr>
        <p:spPr>
          <a:xfrm>
            <a:off x="914400" y="5384800"/>
            <a:ext cx="104394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800" noProof="1">
                <a:solidFill>
                  <a:srgbClr val="F7F3E8"/>
                </a:solidFill>
                <a:latin typeface="Georgia"/>
                <a:ea typeface="Georgia"/>
              </a:rPr>
              <a:t>Four frictions, one root cause: </a:t>
            </a:r>
            <a:r>
              <a:rPr lang="en-US" sz="1800" noProof="1">
                <a:solidFill>
                  <a:srgbClr val="B08D3E"/>
                </a:solidFill>
                <a:latin typeface="Georgia"/>
                <a:ea typeface="Georgia"/>
              </a:rPr>
              <a:t>pricing logic lives in code</a:t>
            </a:r>
            <a:r>
              <a:rPr lang="en-US" sz="1800" noProof="1">
                <a:solidFill>
                  <a:srgbClr val="F7F3E8"/>
                </a:solidFill>
                <a:latin typeface="Georgia"/>
                <a:ea typeface="Georgia"/>
              </a:rPr>
              <a:t> —</a:t>
            </a:r>
            <a:endParaRPr lang="en-US" sz="1800" noProof="1"/>
          </a:p>
          <a:p>
            <a:pPr>
              <a:lnSpc>
                <a:spcPct val="150000"/>
              </a:lnSpc>
            </a:pPr>
            <a:r>
              <a:rPr lang="en-US" sz="1800" noProof="1">
                <a:solidFill>
                  <a:srgbClr val="F7F3E8"/>
                </a:solidFill>
                <a:latin typeface="Georgia"/>
                <a:ea typeface="Georgia"/>
              </a:rPr>
              <a:t>and every pricing question becomes an engineering ticket.</a:t>
            </a:r>
            <a:endParaRPr lang="en-US" sz="18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914400" y="5588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 spc="300" kern="0">
                <a:solidFill>
                  <a:srgbClr val="B08D3E"/>
                </a:solidFill>
                <a:latin typeface="Arial"/>
                <a:ea typeface="Arial"/>
              </a:rPr>
              <a:t>WHERE METRONOME SITS</a:t>
            </a:r>
            <a:endParaRPr lang="en-US" sz="1300" noProof="1"/>
          </a:p>
        </p:txBody>
      </p:sp>
      <p:sp>
        <p:nvSpPr>
          <p:cNvPr id="3" name="leftlabel"/>
          <p:cNvSpPr txBox="1"/>
          <p:nvPr/>
        </p:nvSpPr>
        <p:spPr>
          <a:xfrm>
            <a:off x="914400" y="1524000"/>
            <a:ext cx="2667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23B2F"/>
                </a:solidFill>
                <a:latin typeface="Arial"/>
                <a:ea typeface="Arial"/>
              </a:rPr>
              <a:t>REPLICATE</a:t>
            </a:r>
            <a:endParaRPr lang="en-US" sz="1300" noProof="1"/>
          </a:p>
        </p:txBody>
      </p:sp>
      <p:sp>
        <p:nvSpPr>
          <p:cNvPr id="4" name="leftbox"/>
          <p:cNvSpPr/>
          <p:nvPr/>
        </p:nvSpPr>
        <p:spPr>
          <a:xfrm>
            <a:off x="914400" y="1879600"/>
            <a:ext cx="2667000" cy="241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23B2F"/>
            </a:solidFill>
          </a:ln>
        </p:spPr>
      </p:sp>
      <p:sp>
        <p:nvSpPr>
          <p:cNvPr id="5" name="lefttext"/>
          <p:cNvSpPr txBox="1"/>
          <p:nvPr/>
        </p:nvSpPr>
        <p:spPr>
          <a:xfrm>
            <a:off x="1117600" y="2082800"/>
            <a:ext cx="2260600" cy="203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300" noProof="1" b="1">
                <a:solidFill>
                  <a:srgbClr val="31443B"/>
                </a:solidFill>
                <a:latin typeface="Arial"/>
                <a:ea typeface="Arial"/>
              </a:rPr>
              <a:t>Prediction service</a:t>
            </a:r>
            <a:endParaRPr lang="en-US" sz="1300" noProof="1"/>
          </a:p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31443B"/>
                </a:solidFill>
                <a:latin typeface="Arial"/>
                <a:ea typeface="Arial"/>
              </a:rPr>
              <a:t>runs · fine-tunes · deployments</a:t>
            </a:r>
            <a:endParaRPr lang="en-US" sz="1300" noProof="1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300" noProof="1">
                <a:solidFill>
                  <a:srgbClr val="7C8778"/>
                </a:solidFill>
                <a:latin typeface="Arial"/>
                <a:ea typeface="Arial"/>
              </a:rPr>
              <a:t>emits</a:t>
            </a:r>
            <a:endParaRPr lang="en-US" sz="1300" noProof="1"/>
          </a:p>
          <a:p>
            <a:pPr>
              <a:lnSpc>
                <a:spcPct val="160000"/>
              </a:lnSpc>
            </a:pPr>
            <a:r>
              <a:rPr lang="en-US" sz="1300" noProof="1" b="1">
                <a:solidFill>
                  <a:srgbClr val="31443B"/>
                </a:solidFill>
                <a:latin typeface="Arial"/>
                <a:ea typeface="Arial"/>
              </a:rPr>
              <a:t>gpu_inference</a:t>
            </a:r>
            <a:endParaRPr lang="en-US" sz="1300" noProof="1"/>
          </a:p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31443B"/>
                </a:solidFill>
                <a:latin typeface="Arial"/>
                <a:ea typeface="Arial"/>
              </a:rPr>
              <a:t>{hardware, billed_seconds}</a:t>
            </a:r>
            <a:endParaRPr lang="en-US" sz="1300" noProof="1"/>
          </a:p>
        </p:txBody>
      </p:sp>
      <p:sp>
        <p:nvSpPr>
          <p:cNvPr id="6" name="arrow1"/>
          <p:cNvSpPr/>
          <p:nvPr>
            <p:extLst>
              <p:ext uri="{F5677B7D-0D2A-4D9B-9A5C-6D8D7D0E5A5D}">
                <pptd:line encoding="base64url">eyJ2aWV3Qm94IjpbNzgsMTJdLCJwb2ludHMiOiIwLDYgNzgsNiJ9</pptd:line>
              </p:ext>
            </p:extLst>
          </p:nvPr>
        </p:nvSpPr>
        <p:spPr>
          <a:xfrm>
            <a:off x="3581400" y="2997200"/>
            <a:ext cx="990600" cy="152400"/>
          </a:xfrm>
          <a:custGeom>
            <a:avLst/>
            <a:gdLst/>
            <a:ahLst/>
            <a:cxnLst/>
            <a:rect l="l" t="t" r="r" b="b"/>
            <a:pathLst>
              <a:path w="78" h="12">
                <a:moveTo>
                  <a:pt x="0" y="6"/>
                </a:moveTo>
                <a:lnTo>
                  <a:pt x="78" y="6"/>
                </a:lnTo>
              </a:path>
            </a:pathLst>
          </a:custGeom>
          <a:noFill/>
          <a:ln w="25400" cap="rnd">
            <a:solidFill>
              <a:srgbClr val="B08D3E"/>
            </a:solidFill>
            <a:round/>
            <a:tailEnd type="arrow"/>
          </a:ln>
        </p:spPr>
      </p:sp>
      <p:sp>
        <p:nvSpPr>
          <p:cNvPr id="7" name="arrow1cap"/>
          <p:cNvSpPr txBox="1"/>
          <p:nvPr/>
        </p:nvSpPr>
        <p:spPr>
          <a:xfrm>
            <a:off x="3454400" y="26670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7C8778"/>
                </a:solidFill>
                <a:latin typeface="Arial"/>
                <a:ea typeface="Arial"/>
              </a:rPr>
              <a:t>events</a:t>
            </a:r>
            <a:endParaRPr lang="en-US" sz="1000" noProof="1"/>
          </a:p>
        </p:txBody>
      </p:sp>
      <p:sp>
        <p:nvSpPr>
          <p:cNvPr id="8" name="midbox"/>
          <p:cNvSpPr/>
          <p:nvPr/>
        </p:nvSpPr>
        <p:spPr>
          <a:xfrm>
            <a:off x="4572000" y="1371600"/>
            <a:ext cx="3175000" cy="3429000"/>
          </a:xfrm>
          <a:prstGeom prst="rect">
            <a:avLst/>
          </a:prstGeom>
          <a:solidFill>
            <a:srgbClr val="123B2F"/>
          </a:solidFill>
          <a:ln>
            <a:noFill/>
          </a:ln>
        </p:spPr>
      </p:sp>
      <p:sp>
        <p:nvSpPr>
          <p:cNvPr id="9" name="midlabel"/>
          <p:cNvSpPr txBox="1"/>
          <p:nvPr/>
        </p:nvSpPr>
        <p:spPr>
          <a:xfrm>
            <a:off x="4775200" y="1600200"/>
            <a:ext cx="2768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 spc="200" kern="0">
                <a:solidFill>
                  <a:srgbClr val="B08D3E"/>
                </a:solidFill>
                <a:latin typeface="Arial"/>
                <a:ea typeface="Arial"/>
              </a:rPr>
              <a:t>METRONOME</a:t>
            </a:r>
            <a:endParaRPr lang="en-US" sz="1300" noProof="1"/>
          </a:p>
        </p:txBody>
      </p:sp>
      <p:sp>
        <p:nvSpPr>
          <p:cNvPr id="10" name="midtext"/>
          <p:cNvSpPr txBox="1"/>
          <p:nvPr/>
        </p:nvSpPr>
        <p:spPr>
          <a:xfrm>
            <a:off x="4775200" y="1981200"/>
            <a:ext cx="2768600" cy="2590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5000"/>
              </a:lnSpc>
            </a:pPr>
            <a:r>
              <a:rPr lang="en-US" sz="1300" noProof="1">
                <a:solidFill>
                  <a:srgbClr val="F7F3E8"/>
                </a:solidFill>
                <a:latin typeface="Arial"/>
                <a:ea typeface="Arial"/>
              </a:rPr>
              <a:t>Meter &amp; rate per second</a:t>
            </a:r>
            <a:endParaRPr lang="en-US" sz="1300" noProof="1"/>
          </a:p>
          <a:p>
            <a:pPr>
              <a:lnSpc>
                <a:spcPct val="175000"/>
              </a:lnSpc>
            </a:pPr>
            <a:r>
              <a:rPr lang="en-US" sz="1300" noProof="1">
                <a:solidFill>
                  <a:srgbClr val="F7F3E8"/>
                </a:solidFill>
                <a:latin typeface="Arial"/>
                <a:ea typeface="Arial"/>
              </a:rPr>
              <a:t>Credits, commits, trials</a:t>
            </a:r>
            <a:endParaRPr lang="en-US" sz="1300" noProof="1"/>
          </a:p>
          <a:p>
            <a:pPr>
              <a:lnSpc>
                <a:spcPct val="175000"/>
              </a:lnSpc>
            </a:pPr>
            <a:r>
              <a:rPr lang="en-US" sz="1300" noProof="1">
                <a:solidFill>
                  <a:srgbClr val="F7F3E8"/>
                </a:solidFill>
                <a:latin typeface="Arial"/>
                <a:ea typeface="Arial"/>
              </a:rPr>
              <a:t>Contracts &amp; overrides</a:t>
            </a:r>
            <a:endParaRPr lang="en-US" sz="1300" noProof="1"/>
          </a:p>
          <a:p>
            <a:pPr>
              <a:lnSpc>
                <a:spcPct val="175000"/>
              </a:lnSpc>
            </a:pPr>
            <a:r>
              <a:rPr lang="en-US" sz="1300" noProof="1">
                <a:solidFill>
                  <a:srgbClr val="F7F3E8"/>
                </a:solidFill>
                <a:latin typeface="Arial"/>
                <a:ea typeface="Arial"/>
              </a:rPr>
              <a:t>Support fees — flat &amp; %</a:t>
            </a:r>
            <a:endParaRPr lang="en-US" sz="1300" noProof="1"/>
          </a:p>
          <a:p>
            <a:pPr>
              <a:lnSpc>
                <a:spcPct val="175000"/>
              </a:lnSpc>
            </a:pPr>
            <a:r>
              <a:rPr lang="en-US" sz="1300" noProof="1">
                <a:solidFill>
                  <a:srgbClr val="F7F3E8"/>
                </a:solidFill>
                <a:latin typeface="Arial"/>
                <a:ea typeface="Arial"/>
              </a:rPr>
              <a:t>Real-time balances</a:t>
            </a:r>
            <a:endParaRPr lang="en-US" sz="1300" noProof="1"/>
          </a:p>
          <a:p>
            <a:pPr>
              <a:lnSpc>
                <a:spcPct val="175000"/>
              </a:lnSpc>
            </a:pPr>
            <a:r>
              <a:rPr lang="en-US" sz="1300" noProof="1">
                <a:solidFill>
                  <a:srgbClr val="F7F3E8"/>
                </a:solidFill>
                <a:latin typeface="Arial"/>
                <a:ea typeface="Arial"/>
              </a:rPr>
              <a:t>Alerts &amp; webhooks</a:t>
            </a:r>
            <a:endParaRPr lang="en-US" sz="1300" noProof="1"/>
          </a:p>
          <a:p>
            <a:pPr>
              <a:lnSpc>
                <a:spcPct val="175000"/>
              </a:lnSpc>
            </a:pPr>
            <a:r>
              <a:rPr lang="en-US" sz="1300" noProof="1">
                <a:solidFill>
                  <a:srgbClr val="F7F3E8"/>
                </a:solidFill>
                <a:latin typeface="Arial"/>
                <a:ea typeface="Arial"/>
              </a:rPr>
              <a:t>Draft &amp; final invoices</a:t>
            </a:r>
            <a:endParaRPr lang="en-US" sz="1300" noProof="1"/>
          </a:p>
        </p:txBody>
      </p:sp>
      <p:sp>
        <p:nvSpPr>
          <p:cNvPr id="11" name="arrow2"/>
          <p:cNvSpPr/>
          <p:nvPr>
            <p:extLst>
              <p:ext uri="{F5677B7D-0D2A-4D9B-9A5C-6D8D7D0E5A5D}">
                <pptd:line encoding="base64url">eyJ2aWV3Qm94IjpbNzAsMTJdLCJwb2ludHMiOiIwLDYgNzAsNiJ9</pptd:line>
              </p:ext>
            </p:extLst>
          </p:nvPr>
        </p:nvSpPr>
        <p:spPr>
          <a:xfrm>
            <a:off x="7747000" y="2133600"/>
            <a:ext cx="889000" cy="152400"/>
          </a:xfrm>
          <a:custGeom>
            <a:avLst/>
            <a:gdLst/>
            <a:ahLst/>
            <a:cxnLst/>
            <a:rect l="l" t="t" r="r" b="b"/>
            <a:pathLst>
              <a:path w="70" h="12">
                <a:moveTo>
                  <a:pt x="0" y="6"/>
                </a:moveTo>
                <a:lnTo>
                  <a:pt x="70" y="6"/>
                </a:lnTo>
              </a:path>
            </a:pathLst>
          </a:custGeom>
          <a:noFill/>
          <a:ln w="25400" cap="rnd">
            <a:solidFill>
              <a:srgbClr val="B08D3E"/>
            </a:solidFill>
            <a:round/>
            <a:tailEnd type="arrow"/>
          </a:ln>
        </p:spPr>
      </p:sp>
      <p:sp>
        <p:nvSpPr>
          <p:cNvPr id="12" name="arrow3"/>
          <p:cNvSpPr/>
          <p:nvPr>
            <p:extLst>
              <p:ext uri="{F5677B7D-0D2A-4D9B-9A5C-6D8D7D0E5A5D}">
                <pptd:line encoding="base64url">eyJ2aWV3Qm94IjpbNzAsMTJdLCJwb2ludHMiOiIwLDYgNzAsNiJ9</pptd:line>
              </p:ext>
            </p:extLst>
          </p:nvPr>
        </p:nvSpPr>
        <p:spPr>
          <a:xfrm>
            <a:off x="7747000" y="3086100"/>
            <a:ext cx="889000" cy="152400"/>
          </a:xfrm>
          <a:custGeom>
            <a:avLst/>
            <a:gdLst/>
            <a:ahLst/>
            <a:cxnLst/>
            <a:rect l="l" t="t" r="r" b="b"/>
            <a:pathLst>
              <a:path w="70" h="12">
                <a:moveTo>
                  <a:pt x="0" y="6"/>
                </a:moveTo>
                <a:lnTo>
                  <a:pt x="70" y="6"/>
                </a:lnTo>
              </a:path>
            </a:pathLst>
          </a:custGeom>
          <a:noFill/>
          <a:ln w="25400" cap="rnd">
            <a:solidFill>
              <a:srgbClr val="B08D3E"/>
            </a:solidFill>
            <a:round/>
            <a:tailEnd type="arrow"/>
          </a:ln>
        </p:spPr>
      </p:sp>
      <p:sp>
        <p:nvSpPr>
          <p:cNvPr id="13" name="arrow4"/>
          <p:cNvSpPr/>
          <p:nvPr>
            <p:extLst>
              <p:ext uri="{F5677B7D-0D2A-4D9B-9A5C-6D8D7D0E5A5D}">
                <pptd:line encoding="base64url">eyJ2aWV3Qm94IjpbNzAsMTJdLCJwb2ludHMiOiIwLDYgNzAsNiJ9</pptd:line>
              </p:ext>
            </p:extLst>
          </p:nvPr>
        </p:nvSpPr>
        <p:spPr>
          <a:xfrm>
            <a:off x="7747000" y="4038600"/>
            <a:ext cx="889000" cy="152400"/>
          </a:xfrm>
          <a:custGeom>
            <a:avLst/>
            <a:gdLst/>
            <a:ahLst/>
            <a:cxnLst/>
            <a:rect l="l" t="t" r="r" b="b"/>
            <a:pathLst>
              <a:path w="70" h="12">
                <a:moveTo>
                  <a:pt x="0" y="6"/>
                </a:moveTo>
                <a:lnTo>
                  <a:pt x="70" y="6"/>
                </a:lnTo>
              </a:path>
            </a:pathLst>
          </a:custGeom>
          <a:noFill/>
          <a:ln w="25400" cap="rnd">
            <a:solidFill>
              <a:srgbClr val="B08D3E"/>
            </a:solidFill>
            <a:round/>
            <a:tailEnd type="arrow"/>
          </a:ln>
        </p:spPr>
      </p:sp>
      <p:sp>
        <p:nvSpPr>
          <p:cNvPr id="14" name="r1label"/>
          <p:cNvSpPr txBox="1"/>
          <p:nvPr/>
        </p:nvSpPr>
        <p:spPr>
          <a:xfrm>
            <a:off x="8737600" y="1778000"/>
            <a:ext cx="2616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23B2F"/>
                </a:solidFill>
                <a:latin typeface="Arial"/>
                <a:ea typeface="Arial"/>
              </a:rPr>
              <a:t>Stripe — paygo</a:t>
            </a:r>
            <a:endParaRPr lang="en-US" sz="1300" noProof="1"/>
          </a:p>
        </p:txBody>
      </p:sp>
      <p:sp>
        <p:nvSpPr>
          <p:cNvPr id="15" name="r1sub"/>
          <p:cNvSpPr txBox="1"/>
          <p:nvPr/>
        </p:nvSpPr>
        <p:spPr>
          <a:xfrm>
            <a:off x="8737600" y="2057400"/>
            <a:ext cx="2616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7C8778"/>
                </a:solidFill>
                <a:latin typeface="Arial"/>
                <a:ea typeface="Arial"/>
              </a:rPr>
              <a:t>card collection, self-serve invoices (Metronome is now part of Stripe)</a:t>
            </a:r>
            <a:endParaRPr lang="en-US" sz="1100" noProof="1"/>
          </a:p>
        </p:txBody>
      </p:sp>
      <p:sp>
        <p:nvSpPr>
          <p:cNvPr id="16" name="r2label"/>
          <p:cNvSpPr txBox="1"/>
          <p:nvPr/>
        </p:nvSpPr>
        <p:spPr>
          <a:xfrm>
            <a:off x="8737600" y="2730500"/>
            <a:ext cx="2616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23B2F"/>
                </a:solidFill>
                <a:latin typeface="Arial"/>
                <a:ea typeface="Arial"/>
              </a:rPr>
              <a:t>NetSuite — enterprise</a:t>
            </a:r>
            <a:endParaRPr lang="en-US" sz="1300" noProof="1"/>
          </a:p>
        </p:txBody>
      </p:sp>
      <p:sp>
        <p:nvSpPr>
          <p:cNvPr id="17" name="r2sub"/>
          <p:cNvSpPr txBox="1"/>
          <p:nvPr/>
        </p:nvSpPr>
        <p:spPr>
          <a:xfrm>
            <a:off x="8737600" y="3009900"/>
            <a:ext cx="2616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7C8778"/>
                </a:solidFill>
                <a:latin typeface="Arial"/>
                <a:ea typeface="Arial"/>
              </a:rPr>
              <a:t>invoices &amp; ASC 606 revenue recognition</a:t>
            </a:r>
            <a:endParaRPr lang="en-US" sz="1100" noProof="1"/>
          </a:p>
        </p:txBody>
      </p:sp>
      <p:sp>
        <p:nvSpPr>
          <p:cNvPr id="18" name="r3label"/>
          <p:cNvSpPr txBox="1"/>
          <p:nvPr/>
        </p:nvSpPr>
        <p:spPr>
          <a:xfrm>
            <a:off x="8737600" y="3683000"/>
            <a:ext cx="2616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23B2F"/>
                </a:solidFill>
                <a:latin typeface="Arial"/>
                <a:ea typeface="Arial"/>
              </a:rPr>
              <a:t>Salesforce — CRM</a:t>
            </a:r>
            <a:endParaRPr lang="en-US" sz="1300" noProof="1"/>
          </a:p>
        </p:txBody>
      </p:sp>
      <p:sp>
        <p:nvSpPr>
          <p:cNvPr id="19" name="r3sub"/>
          <p:cNvSpPr txBox="1"/>
          <p:nvPr/>
        </p:nvSpPr>
        <p:spPr>
          <a:xfrm>
            <a:off x="8737600" y="3962400"/>
            <a:ext cx="2616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7C8778"/>
                </a:solidFill>
                <a:latin typeface="Arial"/>
                <a:ea typeface="Arial"/>
              </a:rPr>
              <a:t>commit balance &amp; usage synced to the account</a:t>
            </a:r>
            <a:endParaRPr lang="en-US" sz="1100" noProof="1"/>
          </a:p>
        </p:txBody>
      </p:sp>
      <p:sp>
        <p:nvSpPr>
          <p:cNvPr id="20" name="bottom"/>
          <p:cNvSpPr txBox="1"/>
          <p:nvPr/>
        </p:nvSpPr>
        <p:spPr>
          <a:xfrm>
            <a:off x="914400" y="5537200"/>
            <a:ext cx="104394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700" noProof="1">
                <a:solidFill>
                  <a:srgbClr val="123B2F"/>
                </a:solidFill>
                <a:latin typeface="Georgia"/>
                <a:ea typeface="Georgia"/>
              </a:rPr>
              <a:t>One rating engine between your product and your money systems —</a:t>
            </a:r>
            <a:endParaRPr lang="en-US" sz="1700" noProof="1"/>
          </a:p>
          <a:p>
            <a:pPr>
              <a:lnSpc>
                <a:spcPct val="150000"/>
              </a:lnSpc>
            </a:pPr>
            <a:r>
              <a:rPr lang="en-US" sz="1700" noProof="1">
                <a:solidFill>
                  <a:srgbClr val="123B2F"/>
                </a:solidFill>
                <a:latin typeface="Georgia"/>
                <a:ea typeface="Georgia"/>
              </a:rPr>
              <a:t>and your engineers stop being the billing department.</a:t>
            </a:r>
            <a:endParaRPr lang="en-US" sz="17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E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914400" y="6096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 spc="300" kern="0">
                <a:solidFill>
                  <a:srgbClr val="B08D3E"/>
                </a:solidFill>
                <a:latin typeface="Arial"/>
                <a:ea typeface="Arial"/>
              </a:rPr>
              <a:t>WHO ALREADY RUNS ON METRONOME</a:t>
            </a:r>
            <a:endParaRPr lang="en-US" sz="1300" noProof="1"/>
          </a:p>
        </p:txBody>
      </p:sp>
      <p:sp>
        <p:nvSpPr>
          <p:cNvPr id="3" name="logos"/>
          <p:cNvSpPr txBox="1"/>
          <p:nvPr/>
        </p:nvSpPr>
        <p:spPr>
          <a:xfrm>
            <a:off x="914400" y="1219200"/>
            <a:ext cx="10439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spc="100" kern="0">
                <a:solidFill>
                  <a:srgbClr val="F7F3E8"/>
                </a:solidFill>
                <a:latin typeface="Georgia"/>
                <a:ea typeface="Georgia"/>
              </a:rPr>
              <a:t>OpenAI · Anthropic · NVIDIA · Databricks · Confluent</a:t>
            </a:r>
            <a:endParaRPr lang="en-US" sz="2400" noProof="1"/>
          </a:p>
        </p:txBody>
      </p:sp>
      <p:sp>
        <p:nvSpPr>
          <p:cNvPr id="4" name="rule"/>
          <p:cNvSpPr/>
          <p:nvPr/>
        </p:nvSpPr>
        <p:spPr>
          <a:xfrm>
            <a:off x="914400" y="2082800"/>
            <a:ext cx="10439400" cy="12700"/>
          </a:xfrm>
          <a:prstGeom prst="rect">
            <a:avLst/>
          </a:prstGeom>
          <a:solidFill>
            <a:srgbClr val="2A4A3E"/>
          </a:solidFill>
          <a:ln>
            <a:noFill/>
          </a:ln>
        </p:spPr>
      </p:sp>
      <p:sp>
        <p:nvSpPr>
          <p:cNvPr id="5" name="stat1"/>
          <p:cNvSpPr txBox="1"/>
          <p:nvPr/>
        </p:nvSpPr>
        <p:spPr>
          <a:xfrm>
            <a:off x="914400" y="2641600"/>
            <a:ext cx="4826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5600" noProof="1">
                <a:solidFill>
                  <a:srgbClr val="B08D3E"/>
                </a:solidFill>
                <a:latin typeface="Georgia"/>
                <a:ea typeface="Georgia"/>
              </a:rPr>
              <a:t>10+</a:t>
            </a:r>
            <a:endParaRPr lang="en-US" sz="5600" noProof="1"/>
          </a:p>
        </p:txBody>
      </p:sp>
      <p:sp>
        <p:nvSpPr>
          <p:cNvPr id="6" name="stat1cap"/>
          <p:cNvSpPr txBox="1"/>
          <p:nvPr/>
        </p:nvSpPr>
        <p:spPr>
          <a:xfrm>
            <a:off x="914400" y="3606800"/>
            <a:ext cx="4826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C9C4B4"/>
                </a:solidFill>
                <a:latin typeface="Arial"/>
                <a:ea typeface="Arial"/>
              </a:rPr>
              <a:t>pricing changes shipped by OpenAI in 12 months —</a:t>
            </a:r>
            <a:endParaRPr lang="en-US" sz="1400" noProof="1"/>
          </a:p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C9C4B4"/>
                </a:solidFill>
                <a:latin typeface="Arial"/>
                <a:ea typeface="Arial"/>
              </a:rPr>
              <a:t>no billing-code deploys</a:t>
            </a:r>
            <a:endParaRPr lang="en-US" sz="1400" noProof="1"/>
          </a:p>
        </p:txBody>
      </p:sp>
      <p:sp>
        <p:nvSpPr>
          <p:cNvPr id="7" name="stat2"/>
          <p:cNvSpPr txBox="1"/>
          <p:nvPr/>
        </p:nvSpPr>
        <p:spPr>
          <a:xfrm>
            <a:off x="6527800" y="2641600"/>
            <a:ext cx="4826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5600" noProof="1">
                <a:solidFill>
                  <a:srgbClr val="B08D3E"/>
                </a:solidFill>
                <a:latin typeface="Georgia"/>
                <a:ea typeface="Georgia"/>
              </a:rPr>
              <a:t>$1B</a:t>
            </a:r>
            <a:endParaRPr lang="en-US" sz="5600" noProof="1"/>
          </a:p>
        </p:txBody>
      </p:sp>
      <p:sp>
        <p:nvSpPr>
          <p:cNvPr id="8" name="stat2cap"/>
          <p:cNvSpPr txBox="1"/>
          <p:nvPr/>
        </p:nvSpPr>
        <p:spPr>
          <a:xfrm>
            <a:off x="6527800" y="3606800"/>
            <a:ext cx="4826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C9C4B4"/>
                </a:solidFill>
                <a:latin typeface="Arial"/>
                <a:ea typeface="Arial"/>
              </a:rPr>
              <a:t>Stripe's acquisition of Metronome, closed Jan 2026 —</a:t>
            </a:r>
            <a:endParaRPr lang="en-US" sz="1400" noProof="1"/>
          </a:p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C9C4B4"/>
                </a:solidFill>
                <a:latin typeface="Arial"/>
                <a:ea typeface="Arial"/>
              </a:rPr>
              <a:t>the paygo rail you already use</a:t>
            </a:r>
            <a:endParaRPr lang="en-US" sz="1400" noProof="1"/>
          </a:p>
        </p:txBody>
      </p:sp>
      <p:sp>
        <p:nvSpPr>
          <p:cNvPr id="9" name="stat3"/>
          <p:cNvSpPr txBox="1"/>
          <p:nvPr/>
        </p:nvSpPr>
        <p:spPr>
          <a:xfrm>
            <a:off x="914400" y="4724400"/>
            <a:ext cx="104394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noProof="1">
                <a:solidFill>
                  <a:srgbClr val="F7F3E8"/>
                </a:solidFill>
                <a:latin typeface="Georgia"/>
                <a:ea typeface="Georgia"/>
              </a:rPr>
              <a:t>Billions of usage events rated every month. 100k+ events per second at ingest.</a:t>
            </a:r>
            <a:endParaRPr lang="en-US" sz="1700" noProof="1"/>
          </a:p>
        </p:txBody>
      </p:sp>
      <p:sp>
        <p:nvSpPr>
          <p:cNvPr id="10" name="source"/>
          <p:cNvSpPr txBox="1"/>
          <p:nvPr/>
        </p:nvSpPr>
        <p:spPr>
          <a:xfrm>
            <a:off x="914400" y="6350000"/>
            <a:ext cx="10439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8FA096"/>
                </a:solidFill>
                <a:latin typeface="Arial"/>
                <a:ea typeface="Arial"/>
              </a:rPr>
              <a:t>Sources: </a:t>
            </a:r>
            <a:r>
              <a:rPr lang="en-US" sz="1000" noProof="1" u="sng">
                <a:solidFill>
                  <a:srgbClr val="0563C1"/>
                </a:solidFill>
                <a:latin typeface="Arial"/>
                <a:ea typeface="Arial"/>
                <a:hlinkClick r:id="rId3"/>
              </a:rPr>
              <a:t>TechCrunch (Jan 2024)</a:t>
            </a:r>
            <a:r>
              <a:rPr lang="en-US" sz="1000" noProof="1">
                <a:solidFill>
                  <a:srgbClr val="8FA096"/>
                </a:solidFill>
                <a:latin typeface="Arial"/>
                <a:ea typeface="Arial"/>
              </a:rPr>
              <a:t>; </a:t>
            </a:r>
            <a:r>
              <a:rPr lang="en-US" sz="1000" noProof="1" u="sng">
                <a:solidFill>
                  <a:srgbClr val="0563C1"/>
                </a:solidFill>
                <a:latin typeface="Arial"/>
                <a:ea typeface="Arial"/>
                <a:hlinkClick r:id="rId4"/>
              </a:rPr>
              <a:t>Stripe blog (Jan 2026)</a:t>
            </a:r>
            <a:r>
              <a:rPr lang="en-US" sz="1000" noProof="1">
                <a:solidFill>
                  <a:srgbClr val="8FA096"/>
                </a:solidFill>
                <a:latin typeface="Arial"/>
                <a:ea typeface="Arial"/>
              </a:rPr>
              <a:t>; </a:t>
            </a:r>
            <a:r>
              <a:rPr lang="en-US" sz="1000" noProof="1" u="sng">
                <a:solidFill>
                  <a:srgbClr val="0563C1"/>
                </a:solidFill>
                <a:latin typeface="Arial"/>
                <a:ea typeface="Arial"/>
                <a:hlinkClick r:id="rId5"/>
              </a:rPr>
              <a:t>Metronome re:Invent 2025 session AIM109</a:t>
            </a:r>
            <a:r>
              <a:rPr lang="en-US" sz="1000" noProof="1">
                <a:solidFill>
                  <a:srgbClr val="8FA096"/>
                </a:solidFill>
                <a:latin typeface="Arial"/>
                <a:ea typeface="Arial"/>
              </a:rPr>
              <a:t>.</a:t>
            </a:r>
            <a:endParaRPr lang="en-US" sz="10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914400" y="508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 spc="300" kern="0">
                <a:solidFill>
                  <a:srgbClr val="B08D3E"/>
                </a:solidFill>
                <a:latin typeface="Arial"/>
                <a:ea typeface="Arial"/>
              </a:rPr>
              <a:t>YOUR PAINS → WHAT YOU WILL SEE</a:t>
            </a:r>
            <a:endParaRPr lang="en-US" sz="1300" noProof="1"/>
          </a:p>
        </p:txBody>
      </p:sp>
      <p:graphicFrame>
        <p:nvGraphicFramePr>
          <p:cNvPr id="3" name="map"/>
          <p:cNvGraphicFramePr>
            <a:graphicFrameLocks noGrp="1"/>
          </p:cNvGraphicFramePr>
          <p:nvPr/>
        </p:nvGraphicFramePr>
        <p:xfrm>
          <a:off x="914400" y="990600"/>
          <a:ext cx="10439400" cy="5080000"/>
        </p:xfrm>
        <a:graphic>
          <a:graphicData uri="http://schemas.openxmlformats.org/drawingml/2006/table">
            <a:tbl>
              <a:tblPr/>
              <a:tblGrid>
                <a:gridCol w="3758184"/>
                <a:gridCol w="4384548"/>
                <a:gridCol w="2296668"/>
              </a:tblGrid>
              <a:tr h="5080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 spc="100" kern="0">
                          <a:solidFill>
                            <a:srgbClr val="123B2F"/>
                          </a:solidFill>
                          <a:latin typeface="Arial"/>
                          <a:ea typeface="Arial"/>
                        </a:rPr>
                        <a:t>YOUR PAIN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123B2F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 spc="100" kern="0">
                          <a:solidFill>
                            <a:srgbClr val="123B2F"/>
                          </a:solidFill>
                          <a:latin typeface="Arial"/>
                          <a:ea typeface="Arial"/>
                        </a:rPr>
                        <a:t>METRONOME CAPABILITY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123B2F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 spc="100" kern="0">
                          <a:solidFill>
                            <a:srgbClr val="123B2F"/>
                          </a:solidFill>
                          <a:latin typeface="Arial"/>
                          <a:ea typeface="Arial"/>
                        </a:rPr>
                        <a:t>DEMO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123B2F"/>
                      </a:solidFill>
                    </a:lnB>
                    <a:noFill/>
                  </a:tcPr>
                </a:tc>
              </a:tr>
              <a:tr h="11430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 b="1">
                          <a:solidFill>
                            <a:srgbClr val="31443B"/>
                          </a:solidFill>
                          <a:latin typeface="Arial"/>
                          <a:ea typeface="Arial"/>
                        </a:rPr>
                        <a:t>Weeks + two teams</a:t>
                      </a:r>
                      <a:r>
                        <a:rPr lang="en-US" sz="1300" noProof="1">
                          <a:solidFill>
                            <a:srgbClr val="31443B"/>
                          </a:solidFill>
                          <a:latin typeface="Arial"/>
                          <a:ea typeface="Arial"/>
                        </a:rPr>
                        <a:t> to add a machine type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2C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31443B"/>
                          </a:solidFill>
                          <a:latin typeface="Arial"/>
                          <a:ea typeface="Arial"/>
                        </a:rPr>
                        <a:t>Pricing as config — one dimensional rate row per SKU, scheduled, ops-owned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2C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31443B"/>
                          </a:solidFill>
                          <a:latin typeface="Arial"/>
                          <a:ea typeface="Arial"/>
                        </a:rPr>
                        <a:t>Act 1 · 6′</a:t>
                      </a:r>
                    </a:p>
                    <a:p>
                      <a:pPr algn="l"/>
                      <a:r>
                        <a:rPr lang="en-US" sz="1300" noProof="1">
                          <a:solidFill>
                            <a:srgbClr val="7C8778"/>
                          </a:solidFill>
                          <a:latin typeface="Arial"/>
                          <a:ea typeface="Arial"/>
                        </a:rPr>
                        <a:t>rate card, live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2C0"/>
                      </a:solidFill>
                    </a:lnB>
                    <a:noFill/>
                  </a:tcPr>
                </a:tc>
              </a:tr>
              <a:tr h="11430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 b="1">
                          <a:solidFill>
                            <a:srgbClr val="31443B"/>
                          </a:solidFill>
                          <a:latin typeface="Arial"/>
                          <a:ea typeface="Arial"/>
                        </a:rPr>
                        <a:t>Daily</a:t>
                      </a:r>
                      <a:r>
                        <a:rPr lang="en-US" sz="1300" noProof="1">
                          <a:solidFill>
                            <a:srgbClr val="31443B"/>
                          </a:solidFill>
                          <a:latin typeface="Arial"/>
                          <a:ea typeface="Arial"/>
                        </a:rPr>
                        <a:t> trial-credit measurement; silent overruns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2C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31443B"/>
                          </a:solidFill>
                          <a:latin typeface="Arial"/>
                          <a:ea typeface="Arial"/>
                        </a:rPr>
                        <a:t>Real-time balances; threshold alerts at 25% / 3 days / $0; webhooks on ingest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2C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31443B"/>
                          </a:solidFill>
                          <a:latin typeface="Arial"/>
                          <a:ea typeface="Arial"/>
                        </a:rPr>
                        <a:t>Act 2 · 7′</a:t>
                      </a:r>
                    </a:p>
                    <a:p>
                      <a:pPr algn="l"/>
                      <a:r>
                        <a:rPr lang="en-US" sz="1300" noProof="1">
                          <a:solidFill>
                            <a:srgbClr val="7C8778"/>
                          </a:solidFill>
                          <a:latin typeface="Arial"/>
                          <a:ea typeface="Arial"/>
                        </a:rPr>
                        <a:t>trial, end to end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2C0"/>
                      </a:solidFill>
                    </a:lnB>
                    <a:noFill/>
                  </a:tcPr>
                </a:tc>
              </a:tr>
              <a:tr h="11430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 b="1">
                          <a:solidFill>
                            <a:srgbClr val="31443B"/>
                          </a:solidFill>
                          <a:latin typeface="Arial"/>
                          <a:ea typeface="Arial"/>
                        </a:rPr>
                        <a:t>No fixed or %-based fees</a:t>
                      </a:r>
                      <a:r>
                        <a:rPr lang="en-US" sz="1300" noProof="1">
                          <a:solidFill>
                            <a:srgbClr val="31443B"/>
                          </a:solidFill>
                          <a:latin typeface="Arial"/>
                          <a:ea typeface="Arial"/>
                        </a:rPr>
                        <a:t> → no support tiers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2C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31443B"/>
                          </a:solidFill>
                          <a:latin typeface="Arial"/>
                          <a:ea typeface="Arial"/>
                        </a:rPr>
                        <a:t>Subscription (flat $/mo) + Composite (% of spend) products, entitled per contract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2C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31443B"/>
                          </a:solidFill>
                          <a:latin typeface="Arial"/>
                          <a:ea typeface="Arial"/>
                        </a:rPr>
                        <a:t>Act 3 · 4′</a:t>
                      </a:r>
                    </a:p>
                    <a:p>
                      <a:pPr algn="l"/>
                      <a:r>
                        <a:rPr lang="en-US" sz="1300" noProof="1">
                          <a:solidFill>
                            <a:srgbClr val="7C8778"/>
                          </a:solidFill>
                          <a:latin typeface="Arial"/>
                          <a:ea typeface="Arial"/>
                        </a:rPr>
                        <a:t>both fee shapes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2C0"/>
                      </a:solidFill>
                    </a:lnB>
                    <a:noFill/>
                  </a:tcPr>
                </a:tc>
              </a:tr>
              <a:tr h="11430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 b="1">
                          <a:solidFill>
                            <a:srgbClr val="31443B"/>
                          </a:solidFill>
                          <a:latin typeface="Arial"/>
                          <a:ea typeface="Arial"/>
                        </a:rPr>
                        <a:t>Commit balances need an engineer</a:t>
                      </a:r>
                      <a:r>
                        <a:rPr lang="en-US" sz="1300" noProof="1">
                          <a:solidFill>
                            <a:srgbClr val="31443B"/>
                          </a:solidFill>
                          <a:latin typeface="Arial"/>
                          <a:ea typeface="Arial"/>
                        </a:rPr>
                        <a:t> + a SQL query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2C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31443B"/>
                          </a:solidFill>
                          <a:latin typeface="Arial"/>
                          <a:ea typeface="Arial"/>
                        </a:rPr>
                        <a:t>Commits with live drawdown; customer-facing dashboard; Salesforce sync; 80% alert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2C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31443B"/>
                          </a:solidFill>
                          <a:latin typeface="Arial"/>
                          <a:ea typeface="Arial"/>
                        </a:rPr>
                        <a:t>Act 4 · 7′</a:t>
                      </a:r>
                    </a:p>
                    <a:p>
                      <a:pPr algn="l"/>
                      <a:r>
                        <a:rPr lang="en-US" sz="1300" noProof="1">
                          <a:solidFill>
                            <a:srgbClr val="7C8778"/>
                          </a:solidFill>
                          <a:latin typeface="Arial"/>
                          <a:ea typeface="Arial"/>
                        </a:rPr>
                        <a:t>$100k / 3yr deal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2C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act5note"/>
          <p:cNvSpPr txBox="1"/>
          <p:nvPr/>
        </p:nvSpPr>
        <p:spPr>
          <a:xfrm>
            <a:off x="914400" y="6223000"/>
            <a:ext cx="10439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200" noProof="1" b="1">
                <a:solidFill>
                  <a:srgbClr val="123B2F"/>
                </a:solidFill>
                <a:latin typeface="Arial"/>
                <a:ea typeface="Arial"/>
              </a:rPr>
              <a:t>Act 5 · 4′</a:t>
            </a:r>
            <a:r>
              <a:rPr lang="en-US" sz="1200" noProof="1">
                <a:solidFill>
                  <a:srgbClr val="7C8778"/>
                </a:solidFill>
                <a:latin typeface="Arial"/>
                <a:ea typeface="Arial"/>
              </a:rPr>
              <a:t> — Stripe · NetSuite · Salesforce, without the glue — your existing stack, synced.</a:t>
            </a:r>
            <a:endParaRPr lang="en-US" sz="12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914400" y="508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 spc="300" kern="0">
                <a:solidFill>
                  <a:srgbClr val="B08D3E"/>
                </a:solidFill>
                <a:latin typeface="Arial"/>
                <a:ea typeface="Arial"/>
              </a:rPr>
              <a:t>YOUR PRICING — ALREADY MODELED</a:t>
            </a:r>
            <a:endParaRPr lang="en-US" sz="1300" noProof="1"/>
          </a:p>
        </p:txBody>
      </p:sp>
      <p:pic>
        <p:nvPicPr>
          <p:cNvPr id="3" name="imgleft"/>
          <p:cNvPicPr/>
          <p:nvPr/>
        </p:nvPicPr>
        <p:blipFill>
          <a:blip r:embed="rId2"/>
          <a:srcRect l="0" t="2000" r="1000" b="2000"/>
          <a:stretch>
            <a:fillRect/>
          </a:stretch>
        </p:blipFill>
        <p:spPr>
          <a:xfrm>
            <a:off x="914400" y="990600"/>
            <a:ext cx="4826000" cy="3784600"/>
          </a:xfrm>
          <a:prstGeom prst="rect">
            <a:avLst/>
          </a:prstGeom>
          <a:ln>
            <a:noFill/>
          </a:ln>
        </p:spPr>
      </p:pic>
      <p:sp>
        <p:nvSpPr>
          <p:cNvPr id="4" name="imgleft-border"/>
          <p:cNvSpPr/>
          <p:nvPr/>
        </p:nvSpPr>
        <p:spPr>
          <a:xfrm>
            <a:off x="914400" y="990600"/>
            <a:ext cx="4826000" cy="3784600"/>
          </a:xfrm>
          <a:prstGeom prst="rect">
            <a:avLst/>
          </a:prstGeom>
          <a:noFill/>
          <a:ln w="12700">
            <a:solidFill>
              <a:srgbClr val="D8D2C0"/>
            </a:solidFill>
          </a:ln>
        </p:spPr>
      </p:sp>
      <p:sp>
        <p:nvSpPr>
          <p:cNvPr id="5" name="leftcap"/>
          <p:cNvSpPr txBox="1"/>
          <p:nvPr/>
        </p:nvSpPr>
        <p:spPr>
          <a:xfrm>
            <a:off x="914400" y="4876800"/>
            <a:ext cx="4826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40000"/>
              </a:lnSpc>
            </a:pPr>
            <a:r>
              <a:rPr lang="en-US" sz="1100" noProof="1">
                <a:solidFill>
                  <a:srgbClr val="7C8778"/>
                </a:solidFill>
                <a:latin typeface="Arial"/>
                <a:ea typeface="Arial"/>
              </a:rPr>
              <a:t>replicate.com/pricing — today</a:t>
            </a:r>
            <a:endParaRPr lang="en-US" sz="1100" noProof="1"/>
          </a:p>
        </p:txBody>
      </p:sp>
      <p:sp>
        <p:nvSpPr>
          <p:cNvPr id="6" name="arrow"/>
          <p:cNvSpPr/>
          <p:nvPr>
            <p:extLst>
              <p:ext uri="{F5677B7D-0D2A-4D9B-9A5C-6D8D7D0E5A5D}">
                <pptd:line encoding="base64url">eyJ2aWV3Qm94IjpbNTAsMTJdLCJwb2ludHMiOiIwLDYgNTAsNiJ9</pptd:line>
              </p:ext>
            </p:extLst>
          </p:nvPr>
        </p:nvSpPr>
        <p:spPr>
          <a:xfrm>
            <a:off x="5867400" y="2717800"/>
            <a:ext cx="635000" cy="152400"/>
          </a:xfrm>
          <a:custGeom>
            <a:avLst/>
            <a:gdLst/>
            <a:ahLst/>
            <a:cxnLst/>
            <a:rect l="l" t="t" r="r" b="b"/>
            <a:pathLst>
              <a:path w="50" h="12">
                <a:moveTo>
                  <a:pt x="0" y="6"/>
                </a:moveTo>
                <a:lnTo>
                  <a:pt x="50" y="6"/>
                </a:lnTo>
              </a:path>
            </a:pathLst>
          </a:custGeom>
          <a:noFill/>
          <a:ln w="25400" cap="rnd">
            <a:solidFill>
              <a:srgbClr val="B08D3E"/>
            </a:solidFill>
            <a:round/>
            <a:tailEnd type="arrow"/>
          </a:ln>
        </p:spPr>
      </p:sp>
      <p:graphicFrame>
        <p:nvGraphicFramePr>
          <p:cNvPr id="7" name="ratetable"/>
          <p:cNvGraphicFramePr>
            <a:graphicFrameLocks noGrp="1"/>
          </p:cNvGraphicFramePr>
          <p:nvPr/>
        </p:nvGraphicFramePr>
        <p:xfrm>
          <a:off x="6629400" y="990600"/>
          <a:ext cx="4724400" cy="3784600"/>
        </p:xfrm>
        <a:graphic>
          <a:graphicData uri="http://schemas.openxmlformats.org/drawingml/2006/table">
            <a:tbl>
              <a:tblPr/>
              <a:tblGrid>
                <a:gridCol w="2598420"/>
                <a:gridCol w="2125980"/>
              </a:tblGrid>
              <a:tr h="454152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 spc="100" kern="0">
                          <a:solidFill>
                            <a:srgbClr val="123B2F"/>
                          </a:solidFill>
                          <a:latin typeface="Arial"/>
                          <a:ea typeface="Arial"/>
                        </a:rPr>
                        <a:t>HARDWARE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123B2F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 spc="100" kern="0">
                          <a:solidFill>
                            <a:srgbClr val="123B2F"/>
                          </a:solidFill>
                          <a:latin typeface="Arial"/>
                          <a:ea typeface="Arial"/>
                        </a:rPr>
                        <a:t>$ / SEC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123B2F"/>
                      </a:solidFill>
                    </a:lnB>
                    <a:noFill/>
                  </a:tcPr>
                </a:tc>
              </a:tr>
              <a:tr h="41630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31443B"/>
                          </a:solidFill>
                          <a:latin typeface="Arial"/>
                          <a:ea typeface="Arial"/>
                        </a:rPr>
                        <a:t>cpu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2C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31443B"/>
                          </a:solidFill>
                          <a:latin typeface="Arial"/>
                          <a:ea typeface="Arial"/>
                        </a:rPr>
                        <a:t>0.000100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2C0"/>
                      </a:solidFill>
                    </a:lnB>
                    <a:noFill/>
                  </a:tcPr>
                </a:tc>
              </a:tr>
              <a:tr h="41630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31443B"/>
                          </a:solidFill>
                          <a:latin typeface="Arial"/>
                          <a:ea typeface="Arial"/>
                        </a:rPr>
                        <a:t>t4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2C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31443B"/>
                          </a:solidFill>
                          <a:latin typeface="Arial"/>
                          <a:ea typeface="Arial"/>
                        </a:rPr>
                        <a:t>0.000225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2C0"/>
                      </a:solidFill>
                    </a:lnB>
                    <a:noFill/>
                  </a:tcPr>
                </a:tc>
              </a:tr>
              <a:tr h="41630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31443B"/>
                          </a:solidFill>
                          <a:latin typeface="Arial"/>
                          <a:ea typeface="Arial"/>
                        </a:rPr>
                        <a:t>a40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2C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31443B"/>
                          </a:solidFill>
                          <a:latin typeface="Arial"/>
                          <a:ea typeface="Arial"/>
                        </a:rPr>
                        <a:t>0.000575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2C0"/>
                      </a:solidFill>
                    </a:lnB>
                    <a:noFill/>
                  </a:tcPr>
                </a:tc>
              </a:tr>
              <a:tr h="41630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31443B"/>
                          </a:solidFill>
                          <a:latin typeface="Arial"/>
                          <a:ea typeface="Arial"/>
                        </a:rPr>
                        <a:t>a40-large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2C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31443B"/>
                          </a:solidFill>
                          <a:latin typeface="Arial"/>
                          <a:ea typeface="Arial"/>
                        </a:rPr>
                        <a:t>0.000725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2C0"/>
                      </a:solidFill>
                    </a:lnB>
                    <a:noFill/>
                  </a:tcPr>
                </a:tc>
              </a:tr>
              <a:tr h="41630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31443B"/>
                          </a:solidFill>
                          <a:latin typeface="Arial"/>
                          <a:ea typeface="Arial"/>
                        </a:rPr>
                        <a:t>a100-40gb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2C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31443B"/>
                          </a:solidFill>
                          <a:latin typeface="Arial"/>
                          <a:ea typeface="Arial"/>
                        </a:rPr>
                        <a:t>0.001150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2C0"/>
                      </a:solidFill>
                    </a:lnB>
                    <a:noFill/>
                  </a:tcPr>
                </a:tc>
              </a:tr>
              <a:tr h="41630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31443B"/>
                          </a:solidFill>
                          <a:latin typeface="Arial"/>
                          <a:ea typeface="Arial"/>
                        </a:rPr>
                        <a:t>a100-80gb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2C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31443B"/>
                          </a:solidFill>
                          <a:latin typeface="Arial"/>
                          <a:ea typeface="Arial"/>
                        </a:rPr>
                        <a:t>0.001400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2C0"/>
                      </a:solidFill>
                    </a:lnB>
                    <a:noFill/>
                  </a:tcPr>
                </a:tc>
              </a:tr>
              <a:tr h="41630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31443B"/>
                          </a:solidFill>
                          <a:latin typeface="Arial"/>
                          <a:ea typeface="Arial"/>
                        </a:rPr>
                        <a:t>a40-large-8x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2C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31443B"/>
                          </a:solidFill>
                          <a:latin typeface="Arial"/>
                          <a:ea typeface="Arial"/>
                        </a:rPr>
                        <a:t>0.005800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2C0"/>
                      </a:solidFill>
                    </a:lnB>
                    <a:noFill/>
                  </a:tcPr>
                </a:tc>
              </a:tr>
              <a:tr h="41630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 b="1">
                          <a:solidFill>
                            <a:srgbClr val="B08D3E"/>
                          </a:solidFill>
                          <a:latin typeface="Arial"/>
                          <a:ea typeface="Arial"/>
                        </a:rPr>
                        <a:t>h100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2C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 b="1">
                          <a:solidFill>
                            <a:srgbClr val="B08D3E"/>
                          </a:solidFill>
                          <a:latin typeface="Arial"/>
                          <a:ea typeface="Arial"/>
                        </a:rPr>
                        <a:t>0.001525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2C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rightcap"/>
          <p:cNvSpPr txBox="1"/>
          <p:nvPr/>
        </p:nvSpPr>
        <p:spPr>
          <a:xfrm>
            <a:off x="6629400" y="4876800"/>
            <a:ext cx="4724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40000"/>
              </a:lnSpc>
            </a:pPr>
            <a:r>
              <a:rPr lang="en-US" sz="1100" noProof="1">
                <a:solidFill>
                  <a:srgbClr val="7C8778"/>
                </a:solidFill>
                <a:latin typeface="Arial"/>
                <a:ea typeface="Arial"/>
              </a:rPr>
              <a:t>the same table, as Metronome rate rows</a:t>
            </a:r>
            <a:endParaRPr lang="en-US" sz="1100" noProof="1"/>
          </a:p>
        </p:txBody>
      </p:sp>
      <p:sp>
        <p:nvSpPr>
          <p:cNvPr id="9" name="claim"/>
          <p:cNvSpPr txBox="1"/>
          <p:nvPr/>
        </p:nvSpPr>
        <p:spPr>
          <a:xfrm>
            <a:off x="914400" y="5435600"/>
            <a:ext cx="104394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2200" noProof="1">
                <a:solidFill>
                  <a:srgbClr val="123B2F"/>
                </a:solidFill>
                <a:latin typeface="Georgia"/>
                <a:ea typeface="Georgia"/>
              </a:rPr>
              <a:t>Machine type #8 — the H100 — became </a:t>
            </a:r>
            <a:r>
              <a:rPr lang="en-US" sz="2200" noProof="1">
                <a:solidFill>
                  <a:srgbClr val="B08D3E"/>
                </a:solidFill>
                <a:latin typeface="Georgia"/>
                <a:ea typeface="Georgia"/>
              </a:rPr>
              <a:t>a rate row</a:t>
            </a:r>
            <a:r>
              <a:rPr lang="en-US" sz="2200" noProof="1">
                <a:solidFill>
                  <a:srgbClr val="123B2F"/>
                </a:solidFill>
                <a:latin typeface="Georgia"/>
                <a:ea typeface="Georgia"/>
              </a:rPr>
              <a:t>.</a:t>
            </a:r>
            <a:endParaRPr lang="en-US" sz="2200" noProof="1"/>
          </a:p>
          <a:p>
            <a:pPr>
              <a:lnSpc>
                <a:spcPct val="140000"/>
              </a:lnSpc>
            </a:pPr>
            <a:r>
              <a:rPr lang="en-US" sz="2200" noProof="1">
                <a:solidFill>
                  <a:srgbClr val="123B2F"/>
                </a:solidFill>
                <a:latin typeface="Georgia"/>
                <a:ea typeface="Georgia"/>
              </a:rPr>
              <a:t>Not a two-team, week-long project.</a:t>
            </a:r>
            <a:endParaRPr lang="en-US" sz="22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914400" y="5588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 spc="300" kern="0">
                <a:solidFill>
                  <a:srgbClr val="B08D3E"/>
                </a:solidFill>
                <a:latin typeface="Arial"/>
                <a:ea typeface="Arial"/>
              </a:rPr>
              <a:t>THE ASK — A SCOPED PILOT</a:t>
            </a:r>
            <a:endParaRPr lang="en-US" sz="1300" noProof="1"/>
          </a:p>
        </p:txBody>
      </p:sp>
      <p:sp>
        <p:nvSpPr>
          <p:cNvPr id="3" name="claim"/>
          <p:cNvSpPr txBox="1"/>
          <p:nvPr/>
        </p:nvSpPr>
        <p:spPr>
          <a:xfrm>
            <a:off x="914400" y="1066800"/>
            <a:ext cx="8890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2600" noProof="1">
                <a:solidFill>
                  <a:srgbClr val="123B2F"/>
                </a:solidFill>
                <a:latin typeface="Georgia"/>
                <a:ea typeface="Georgia"/>
              </a:rPr>
              <a:t>Two flows, your event stream,</a:t>
            </a:r>
            <a:endParaRPr lang="en-US" sz="2600" noProof="1"/>
          </a:p>
          <a:p>
            <a:pPr>
              <a:lnSpc>
                <a:spcPct val="130000"/>
              </a:lnSpc>
            </a:pPr>
            <a:r>
              <a:rPr lang="en-US" sz="2600" noProof="1">
                <a:solidFill>
                  <a:srgbClr val="123B2F"/>
                </a:solidFill>
                <a:latin typeface="Georgia"/>
                <a:ea typeface="Georgia"/>
              </a:rPr>
              <a:t>one sandbox — 2–3 weeks.</a:t>
            </a:r>
            <a:endParaRPr lang="en-US" sz="2600" noProof="1"/>
          </a:p>
        </p:txBody>
      </p:sp>
      <p:sp>
        <p:nvSpPr>
          <p:cNvPr id="4" name="w1n"/>
          <p:cNvSpPr txBox="1"/>
          <p:nvPr/>
        </p:nvSpPr>
        <p:spPr>
          <a:xfrm>
            <a:off x="914400" y="2387600"/>
            <a:ext cx="4318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000" noProof="1">
                <a:solidFill>
                  <a:srgbClr val="B08D3E"/>
                </a:solidFill>
                <a:latin typeface="Georgia"/>
                <a:ea typeface="Georgia"/>
              </a:rPr>
              <a:t>W1</a:t>
            </a:r>
            <a:endParaRPr lang="en-US" sz="2000" noProof="1"/>
          </a:p>
        </p:txBody>
      </p:sp>
      <p:sp>
        <p:nvSpPr>
          <p:cNvPr id="5" name="w1"/>
          <p:cNvSpPr txBox="1"/>
          <p:nvPr/>
        </p:nvSpPr>
        <p:spPr>
          <a:xfrm>
            <a:off x="1498600" y="2413000"/>
            <a:ext cx="889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500" noProof="1" b="1">
                <a:solidFill>
                  <a:srgbClr val="31443B"/>
                </a:solidFill>
                <a:latin typeface="Arial"/>
                <a:ea typeface="Arial"/>
              </a:rPr>
              <a:t>Self-serve trial, live</a:t>
            </a:r>
            <a:r>
              <a:rPr lang="en-US" sz="1500" noProof="1">
                <a:solidFill>
                  <a:srgbClr val="31443B"/>
                </a:solidFill>
                <a:latin typeface="Arial"/>
                <a:ea typeface="Arial"/>
              </a:rPr>
              <a:t> — your gpu_inference events, $25/14-day credit, real-time alerts wired to your app; measure time-to-card-prompt in seconds, not days.</a:t>
            </a:r>
            <a:endParaRPr lang="en-US" sz="1500" noProof="1"/>
          </a:p>
        </p:txBody>
      </p:sp>
      <p:sp>
        <p:nvSpPr>
          <p:cNvPr id="6" name="r1"/>
          <p:cNvSpPr/>
          <p:nvPr/>
        </p:nvSpPr>
        <p:spPr>
          <a:xfrm>
            <a:off x="1498600" y="3098800"/>
            <a:ext cx="9855200" cy="12700"/>
          </a:xfrm>
          <a:prstGeom prst="rect">
            <a:avLst/>
          </a:prstGeom>
          <a:solidFill>
            <a:srgbClr val="D8D2C0"/>
          </a:solidFill>
          <a:ln>
            <a:noFill/>
          </a:ln>
        </p:spPr>
      </p:sp>
      <p:sp>
        <p:nvSpPr>
          <p:cNvPr id="7" name="w2n"/>
          <p:cNvSpPr txBox="1"/>
          <p:nvPr/>
        </p:nvSpPr>
        <p:spPr>
          <a:xfrm>
            <a:off x="914400" y="3327400"/>
            <a:ext cx="4318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000" noProof="1">
                <a:solidFill>
                  <a:srgbClr val="B08D3E"/>
                </a:solidFill>
                <a:latin typeface="Georgia"/>
                <a:ea typeface="Georgia"/>
              </a:rPr>
              <a:t>W2</a:t>
            </a:r>
            <a:endParaRPr lang="en-US" sz="2000" noProof="1"/>
          </a:p>
        </p:txBody>
      </p:sp>
      <p:sp>
        <p:nvSpPr>
          <p:cNvPr id="8" name="w2"/>
          <p:cNvSpPr txBox="1"/>
          <p:nvPr/>
        </p:nvSpPr>
        <p:spPr>
          <a:xfrm>
            <a:off x="1498600" y="3352800"/>
            <a:ext cx="889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500" noProof="1" b="1">
                <a:solidFill>
                  <a:srgbClr val="31443B"/>
                </a:solidFill>
                <a:latin typeface="Arial"/>
                <a:ea typeface="Arial"/>
              </a:rPr>
              <a:t>One enterprise commit, visible</a:t>
            </a:r>
            <a:r>
              <a:rPr lang="en-US" sz="1500" noProof="1">
                <a:solidFill>
                  <a:srgbClr val="31443B"/>
                </a:solidFill>
                <a:latin typeface="Arial"/>
                <a:ea typeface="Arial"/>
              </a:rPr>
              <a:t> — a real $100k/3yr deal re-created with ramp, discount, rollover; AE reads the balance in Salesforce, customer reads it in your product.</a:t>
            </a:r>
            <a:endParaRPr lang="en-US" sz="1500" noProof="1"/>
          </a:p>
        </p:txBody>
      </p:sp>
      <p:sp>
        <p:nvSpPr>
          <p:cNvPr id="9" name="r2"/>
          <p:cNvSpPr/>
          <p:nvPr/>
        </p:nvSpPr>
        <p:spPr>
          <a:xfrm>
            <a:off x="1498600" y="4038600"/>
            <a:ext cx="9855200" cy="12700"/>
          </a:xfrm>
          <a:prstGeom prst="rect">
            <a:avLst/>
          </a:prstGeom>
          <a:solidFill>
            <a:srgbClr val="D8D2C0"/>
          </a:solidFill>
          <a:ln>
            <a:noFill/>
          </a:ln>
        </p:spPr>
      </p:sp>
      <p:sp>
        <p:nvSpPr>
          <p:cNvPr id="10" name="w3n"/>
          <p:cNvSpPr txBox="1"/>
          <p:nvPr/>
        </p:nvSpPr>
        <p:spPr>
          <a:xfrm>
            <a:off x="914400" y="4267200"/>
            <a:ext cx="4318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000" noProof="1">
                <a:solidFill>
                  <a:srgbClr val="B08D3E"/>
                </a:solidFill>
                <a:latin typeface="Georgia"/>
                <a:ea typeface="Georgia"/>
              </a:rPr>
              <a:t>W3</a:t>
            </a:r>
            <a:endParaRPr lang="en-US" sz="2000" noProof="1"/>
          </a:p>
        </p:txBody>
      </p:sp>
      <p:sp>
        <p:nvSpPr>
          <p:cNvPr id="11" name="w3"/>
          <p:cNvSpPr txBox="1"/>
          <p:nvPr/>
        </p:nvSpPr>
        <p:spPr>
          <a:xfrm>
            <a:off x="1498600" y="4292600"/>
            <a:ext cx="889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500" noProof="1" b="1">
                <a:solidFill>
                  <a:srgbClr val="31443B"/>
                </a:solidFill>
                <a:latin typeface="Arial"/>
                <a:ea typeface="Arial"/>
              </a:rPr>
              <a:t>Ship a SKU as config</a:t>
            </a:r>
            <a:r>
              <a:rPr lang="en-US" sz="1500" noProof="1">
                <a:solidFill>
                  <a:srgbClr val="31443B"/>
                </a:solidFill>
                <a:latin typeface="Arial"/>
                <a:ea typeface="Arial"/>
              </a:rPr>
              <a:t> — your team adds the next machine type themselves; target under one hour, zero engineering involved.</a:t>
            </a:r>
            <a:endParaRPr lang="en-US" sz="1500" noProof="1"/>
          </a:p>
        </p:txBody>
      </p:sp>
      <p:sp>
        <p:nvSpPr>
          <p:cNvPr id="12" name="success"/>
          <p:cNvSpPr txBox="1"/>
          <p:nvPr/>
        </p:nvSpPr>
        <p:spPr>
          <a:xfrm>
            <a:off x="914400" y="5334000"/>
            <a:ext cx="10439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500" noProof="1" b="1">
                <a:solidFill>
                  <a:srgbClr val="31443B"/>
                </a:solidFill>
                <a:latin typeface="Arial"/>
                <a:ea typeface="Arial"/>
              </a:rPr>
              <a:t>Success criteria:</a:t>
            </a:r>
            <a:r>
              <a:rPr lang="en-US" sz="1500" noProof="1">
                <a:solidFill>
                  <a:srgbClr val="31443B"/>
                </a:solidFill>
                <a:latin typeface="Arial"/>
                <a:ea typeface="Arial"/>
              </a:rPr>
              <a:t> trial-exhaustion signal in &lt; 60 seconds · commit balance visible without an engineer · new SKU live &lt; 1 hour.</a:t>
            </a:r>
            <a:endParaRPr lang="en-US" sz="1500" noProof="1"/>
          </a:p>
        </p:txBody>
      </p:sp>
      <p:sp>
        <p:nvSpPr>
          <p:cNvPr id="13" name="source"/>
          <p:cNvSpPr txBox="1"/>
          <p:nvPr/>
        </p:nvSpPr>
        <p:spPr>
          <a:xfrm>
            <a:off x="914400" y="6350000"/>
            <a:ext cx="10439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7C8778"/>
                </a:solidFill>
                <a:latin typeface="Arial"/>
                <a:ea typeface="Arial"/>
              </a:rPr>
              <a:t>Sandbox access and writer-token setup handled by Metronome; no production data required for the pilot.</a:t>
            </a:r>
            <a:endParaRPr lang="en-US" sz="10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E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914400" y="1778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 spc="300" kern="0">
                <a:solidFill>
                  <a:srgbClr val="B08D3E"/>
                </a:solidFill>
                <a:latin typeface="Arial"/>
                <a:ea typeface="Arial"/>
              </a:rPr>
              <a:t>OVER TO THE DEMO</a:t>
            </a:r>
            <a:endParaRPr lang="en-US" sz="1300" noProof="1"/>
          </a:p>
        </p:txBody>
      </p:sp>
      <p:sp>
        <p:nvSpPr>
          <p:cNvPr id="3" name="title"/>
          <p:cNvSpPr txBox="1"/>
          <p:nvPr/>
        </p:nvSpPr>
        <p:spPr>
          <a:xfrm>
            <a:off x="914400" y="2413000"/>
            <a:ext cx="104394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2000"/>
              </a:lnSpc>
            </a:pPr>
            <a:r>
              <a:rPr lang="en-US" sz="4000" noProof="1">
                <a:solidFill>
                  <a:srgbClr val="F7F3E8"/>
                </a:solidFill>
                <a:latin typeface="Georgia"/>
                <a:ea typeface="Georgia"/>
              </a:rPr>
              <a:t>Which of the four frictions</a:t>
            </a:r>
            <a:endParaRPr lang="en-US" sz="4000" noProof="1"/>
          </a:p>
          <a:p>
            <a:pPr>
              <a:lnSpc>
                <a:spcPct val="112000"/>
              </a:lnSpc>
            </a:pPr>
            <a:r>
              <a:rPr lang="en-US" sz="4000" noProof="1">
                <a:solidFill>
                  <a:srgbClr val="F7F3E8"/>
                </a:solidFill>
                <a:latin typeface="Georgia"/>
                <a:ea typeface="Georgia"/>
              </a:rPr>
              <a:t>do we make disappear first?</a:t>
            </a:r>
            <a:endParaRPr lang="en-US" sz="4000" noProof="1"/>
          </a:p>
        </p:txBody>
      </p:sp>
      <p:sp>
        <p:nvSpPr>
          <p:cNvPr id="4" name="rule"/>
          <p:cNvSpPr/>
          <p:nvPr/>
        </p:nvSpPr>
        <p:spPr>
          <a:xfrm>
            <a:off x="914400" y="4521200"/>
            <a:ext cx="711200" cy="38100"/>
          </a:xfrm>
          <a:prstGeom prst="rect">
            <a:avLst/>
          </a:prstGeom>
          <a:solidFill>
            <a:srgbClr val="B08D3E"/>
          </a:solidFill>
          <a:ln>
            <a:noFill/>
          </a:ln>
        </p:spPr>
      </p:sp>
      <p:sp>
        <p:nvSpPr>
          <p:cNvPr id="5" name="meta"/>
          <p:cNvSpPr txBox="1"/>
          <p:nvPr/>
        </p:nvSpPr>
        <p:spPr>
          <a:xfrm>
            <a:off x="914400" y="4978400"/>
            <a:ext cx="889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400" noProof="1">
                <a:solidFill>
                  <a:srgbClr val="C9C4B4"/>
                </a:solidFill>
                <a:latin typeface="Arial"/>
                <a:ea typeface="Arial"/>
              </a:rPr>
              <a:t>Metronome strategy team</a:t>
            </a:r>
            <a:endParaRPr lang="en-US" sz="1400" noProof="1"/>
          </a:p>
          <a:p>
            <a:pPr>
              <a:lnSpc>
                <a:spcPct val="160000"/>
              </a:lnSpc>
            </a:pPr>
            <a:r>
              <a:rPr lang="en-US" sz="1400" noProof="1">
                <a:solidFill>
                  <a:srgbClr val="C9C4B4"/>
                </a:solidFill>
                <a:latin typeface="Arial"/>
                <a:ea typeface="Arial"/>
              </a:rPr>
              <a:t>Demo guide &amp; setup scripts accompany this deck.</a:t>
            </a:r>
            <a:endParaRPr lang="en-US" sz="1400" noProof="1"/>
          </a:p>
        </p:txBody>
      </p:sp>
      <p:sp>
        <p:nvSpPr>
          <p:cNvPr id="6" name="tick1"/>
          <p:cNvSpPr/>
          <p:nvPr/>
        </p:nvSpPr>
        <p:spPr>
          <a:xfrm>
            <a:off x="11023600" y="5461000"/>
            <a:ext cx="25400" cy="152400"/>
          </a:xfrm>
          <a:prstGeom prst="rect">
            <a:avLst/>
          </a:prstGeom>
          <a:solidFill>
            <a:srgbClr val="B08D3E"/>
          </a:solidFill>
          <a:ln>
            <a:noFill/>
          </a:ln>
        </p:spPr>
      </p:sp>
      <p:sp>
        <p:nvSpPr>
          <p:cNvPr id="7" name="tick2"/>
          <p:cNvSpPr/>
          <p:nvPr/>
        </p:nvSpPr>
        <p:spPr>
          <a:xfrm>
            <a:off x="11125200" y="5384800"/>
            <a:ext cx="25400" cy="228600"/>
          </a:xfrm>
          <a:prstGeom prst="rect">
            <a:avLst/>
          </a:prstGeom>
          <a:solidFill>
            <a:srgbClr val="B08D3E"/>
          </a:solidFill>
          <a:ln>
            <a:noFill/>
          </a:ln>
        </p:spPr>
      </p:sp>
      <p:sp>
        <p:nvSpPr>
          <p:cNvPr id="8" name="tick3"/>
          <p:cNvSpPr/>
          <p:nvPr/>
        </p:nvSpPr>
        <p:spPr>
          <a:xfrm>
            <a:off x="11226800" y="5461000"/>
            <a:ext cx="25400" cy="152400"/>
          </a:xfrm>
          <a:prstGeom prst="rect">
            <a:avLst/>
          </a:prstGeom>
          <a:solidFill>
            <a:srgbClr val="B08D3E"/>
          </a:solid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9</Slides>
</Properties>
</file>

<file path=docProps/core.xml><?xml version="1.0" encoding="utf-8"?>
<cp:coreProperties xmlns:dc="http://purl.org/dc/elements/1.1/" xmlns:cp="http://schemas.openxmlformats.org/package/2006/metadata/core-properties">
  <dc:title>replicate-metronome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